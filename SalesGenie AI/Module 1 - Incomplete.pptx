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7" roundtripDataSignature="AMtx7mggsz5FkQPnvYFOnDa8rpqyiD80D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7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7" name="Google Shape;8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2" name="Google Shape;9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8" name="Google Shape;9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f2efc1eada_0_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" name="Google Shape;104;g3f2efc1ead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f2efc1eada_0_1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" name="Google Shape;109;g3f2efc1eada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f2efc1eada_0_2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" name="Google Shape;114;g3f2efc1eada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f2efc1eada_0_3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" name="Google Shape;119;g3f2efc1eada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f2efc1eada_0_3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4" name="Google Shape;124;g3f2efc1eada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f2efc1eada_0_4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9" name="Google Shape;129;g3f2efc1eada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f2efc1eada_0_4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4" name="Google Shape;134;g3f2efc1eada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f2efc1eada_0_6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9" name="Google Shape;139;g3f2efc1eada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f2efc1eada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4" name="Google Shape;144;g3f2efc1eada_0_6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f2efc1eada_0_7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0" name="Google Shape;150;g3f2efc1eada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f2efc1eada_0_8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5" name="Google Shape;155;g3f2efc1eada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f2efc1eada_0_9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0" name="Google Shape;160;g3f2efc1eada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f2efc1eada_0_10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5" name="Google Shape;165;g3f2efc1eada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f2efc1eada_0_10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0" name="Google Shape;170;g3f2efc1eada_0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f2efc1eada_0_1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5" name="Google Shape;175;g3f2efc1eada_0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f2efc1eada_0_11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1" name="Google Shape;181;g3f2efc1eada_0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7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7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4" name="Google Shape;14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9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9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0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2" name="Google Shape;32;p10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3" name="Google Shape;33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1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1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0" name="Google Shape;40;p11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1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2" name="Google Shape;42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4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5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5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hyperlink" Target="mailto:rahul@abctraders.com" TargetMode="External"/><Relationship Id="rId4" Type="http://schemas.openxmlformats.org/officeDocument/2006/relationships/hyperlink" Target="mailto:priya@abctraders.com" TargetMode="Externa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SalesGenie AI – AI Sales Assistant &amp; Lead Intelligence Platform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"/>
          <p:cNvSpPr txBox="1"/>
          <p:nvPr>
            <p:ph idx="1" type="body"/>
          </p:nvPr>
        </p:nvSpPr>
        <p:spPr>
          <a:xfrm>
            <a:off x="457200" y="1295400"/>
            <a:ext cx="8229600" cy="4830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The platform gathers information from websites, CRM systems, emails, social media, and customer interactions to generate actionable insights.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rtl="0" algn="just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It can automatically score leads, recommend the best prospects, personalize email responses, schedule follow-ups, predict customer buying behavior, and provide real-time sales recommendations.</a:t>
            </a:r>
            <a:endParaRPr/>
          </a:p>
          <a:p>
            <a:pPr indent="-1397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Key Features</a:t>
            </a:r>
            <a:endParaRPr/>
          </a:p>
        </p:txBody>
      </p:sp>
      <p:sp>
        <p:nvSpPr>
          <p:cNvPr id="95" name="Google Shape;95;p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en-US"/>
              <a:t>Lead Identification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en-US"/>
              <a:t>Lead Scoring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en-US"/>
              <a:t>Customer Profiling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en-US"/>
              <a:t>Email &amp; Chat Automation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en-US"/>
              <a:t>Sales Forecasting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en-US"/>
              <a:t>Meeting Scheduling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en-US"/>
              <a:t>CRM Integration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en-US"/>
              <a:t>Real-Time Analytics</a:t>
            </a:r>
            <a:endParaRPr/>
          </a:p>
          <a:p>
            <a:pPr indent="-1397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1400"/>
              </a:spcBef>
              <a:spcAft>
                <a:spcPts val="1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Real-Time Example</a:t>
            </a:r>
            <a:endParaRPr/>
          </a:p>
        </p:txBody>
      </p:sp>
      <p:sp>
        <p:nvSpPr>
          <p:cNvPr id="101" name="Google Shape;101;p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50">
                <a:latin typeface="Times New Roman"/>
                <a:ea typeface="Times New Roman"/>
                <a:cs typeface="Times New Roman"/>
                <a:sym typeface="Times New Roman"/>
              </a:rPr>
              <a:t>Scenario</a:t>
            </a:r>
            <a:endParaRPr b="1" sz="20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900">
                <a:latin typeface="Times New Roman"/>
                <a:ea typeface="Times New Roman"/>
                <a:cs typeface="Times New Roman"/>
                <a:sym typeface="Times New Roman"/>
              </a:rPr>
              <a:t>A software company sells cloud-based accounting software to small businesses.</a:t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50">
                <a:latin typeface="Times New Roman"/>
                <a:ea typeface="Times New Roman"/>
                <a:cs typeface="Times New Roman"/>
                <a:sym typeface="Times New Roman"/>
              </a:rPr>
              <a:t>Step 1: Lead Discovery</a:t>
            </a:r>
            <a:endParaRPr b="1" sz="20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900">
                <a:latin typeface="Times New Roman"/>
                <a:ea typeface="Times New Roman"/>
                <a:cs typeface="Times New Roman"/>
                <a:sym typeface="Times New Roman"/>
              </a:rPr>
              <a:t>The AI platform scans business directories, LinkedIn, company websites, and online forms to identify businesses that may need accounting software.</a:t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900">
                <a:latin typeface="Times New Roman"/>
                <a:ea typeface="Times New Roman"/>
                <a:cs typeface="Times New Roman"/>
                <a:sym typeface="Times New Roman"/>
              </a:rPr>
              <a:t>Example Lead</a:t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rtl="0" algn="just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lang="en-US" sz="1900">
                <a:latin typeface="Times New Roman"/>
                <a:ea typeface="Times New Roman"/>
                <a:cs typeface="Times New Roman"/>
                <a:sym typeface="Times New Roman"/>
              </a:rPr>
              <a:t>Company: ABC Traders </a:t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lang="en-US" sz="1900">
                <a:latin typeface="Times New Roman"/>
                <a:ea typeface="Times New Roman"/>
                <a:cs typeface="Times New Roman"/>
                <a:sym typeface="Times New Roman"/>
              </a:rPr>
              <a:t>Industry: Retail </a:t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lang="en-US" sz="1900">
                <a:latin typeface="Times New Roman"/>
                <a:ea typeface="Times New Roman"/>
                <a:cs typeface="Times New Roman"/>
                <a:sym typeface="Times New Roman"/>
              </a:rPr>
              <a:t>Employees: 60 </a:t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lang="en-US" sz="1900">
                <a:latin typeface="Times New Roman"/>
                <a:ea typeface="Times New Roman"/>
                <a:cs typeface="Times New Roman"/>
                <a:sym typeface="Times New Roman"/>
              </a:rPr>
              <a:t>Location: Chennai </a:t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rtl="0" algn="just"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buSzPts val="1900"/>
              <a:buFont typeface="Times New Roman"/>
              <a:buChar char="●"/>
            </a:pPr>
            <a:r>
              <a:rPr lang="en-US" sz="1900">
                <a:latin typeface="Times New Roman"/>
                <a:ea typeface="Times New Roman"/>
                <a:cs typeface="Times New Roman"/>
                <a:sym typeface="Times New Roman"/>
              </a:rPr>
              <a:t>Annual Revenue: ₹15 Crore </a:t>
            </a:r>
            <a:endParaRPr sz="39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f2efc1eada_0_0"/>
          <p:cNvSpPr txBox="1"/>
          <p:nvPr>
            <p:ph idx="1" type="body"/>
          </p:nvPr>
        </p:nvSpPr>
        <p:spPr>
          <a:xfrm>
            <a:off x="457200" y="703375"/>
            <a:ext cx="8229600" cy="542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850">
                <a:latin typeface="Times New Roman"/>
                <a:ea typeface="Times New Roman"/>
                <a:cs typeface="Times New Roman"/>
                <a:sym typeface="Times New Roman"/>
              </a:rPr>
              <a:t>Step 2: Lead Intelligence</a:t>
            </a:r>
            <a:endParaRPr b="1" sz="28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1800"/>
              <a:buNone/>
            </a:pPr>
            <a:r>
              <a:rPr lang="en-US" sz="2700">
                <a:latin typeface="Times New Roman"/>
                <a:ea typeface="Times New Roman"/>
                <a:cs typeface="Times New Roman"/>
                <a:sym typeface="Times New Roman"/>
              </a:rPr>
              <a:t>The AI analyzes available information and generates insights:</a:t>
            </a:r>
            <a:endParaRPr sz="2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1800"/>
              <a:buNone/>
            </a:pPr>
            <a:r>
              <a:rPr b="1" lang="en-US" sz="2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Parameter			Result</a:t>
            </a:r>
            <a:endParaRPr b="1" sz="27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2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Company Size		Medium</a:t>
            </a:r>
            <a:endParaRPr sz="27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2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Technology Used		Excel-based accounting</a:t>
            </a:r>
            <a:endParaRPr sz="27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2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Hiring Activity		Hiring accountants</a:t>
            </a:r>
            <a:endParaRPr sz="27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2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Website Visits		6 visits in last week</a:t>
            </a:r>
            <a:endParaRPr sz="27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2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Email Opens			5 out of 6 emails opened</a:t>
            </a:r>
            <a:endParaRPr sz="47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f2efc1eada_0_18"/>
          <p:cNvSpPr txBox="1"/>
          <p:nvPr>
            <p:ph idx="1" type="body"/>
          </p:nvPr>
        </p:nvSpPr>
        <p:spPr>
          <a:xfrm>
            <a:off x="457200" y="498225"/>
            <a:ext cx="8229600" cy="562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/>
          </a:bodyPr>
          <a:lstStyle/>
          <a:p>
            <a:pPr indent="0" lvl="0" marL="0" rtl="0" algn="just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37752"/>
              <a:buFont typeface="Arial"/>
              <a:buNone/>
            </a:pPr>
            <a:r>
              <a:rPr b="1" lang="en-US" sz="3150">
                <a:latin typeface="Times New Roman"/>
                <a:ea typeface="Times New Roman"/>
                <a:cs typeface="Times New Roman"/>
                <a:sym typeface="Times New Roman"/>
              </a:rPr>
              <a:t>Step 3: AI Lead Score</a:t>
            </a:r>
            <a:endParaRPr b="1" sz="31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39640"/>
              <a:buFont typeface="Arial"/>
              <a:buNone/>
            </a:pPr>
            <a:r>
              <a:rPr lang="en-US" sz="3000">
                <a:latin typeface="Times New Roman"/>
                <a:ea typeface="Times New Roman"/>
                <a:cs typeface="Times New Roman"/>
                <a:sym typeface="Times New Roman"/>
              </a:rPr>
              <a:t>The platform calculates the probability of conversion.</a:t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ct val="64865"/>
              <a:buNone/>
            </a:pPr>
            <a:r>
              <a:rPr b="1"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Factor						Score</a:t>
            </a:r>
            <a:endParaRPr b="1" sz="3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64865"/>
              <a:buNone/>
            </a:pP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Company Fit					25/25</a:t>
            </a:r>
            <a:endParaRPr sz="3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64865"/>
              <a:buNone/>
            </a:pP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Engagement						30/30</a:t>
            </a:r>
            <a:endParaRPr sz="3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64865"/>
              <a:buNone/>
            </a:pP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Budget						20/20</a:t>
            </a:r>
            <a:endParaRPr sz="3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64865"/>
              <a:buNone/>
            </a:pP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Decision Maker Interaction			20/20</a:t>
            </a:r>
            <a:endParaRPr sz="3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64865"/>
              <a:buNone/>
            </a:pP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Buying Intent					5/5</a:t>
            </a:r>
            <a:endParaRPr sz="3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9896"/>
              <a:buNone/>
            </a:pPr>
            <a:r>
              <a:t/>
            </a:r>
            <a:endParaRPr sz="39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400"/>
              </a:spcBef>
              <a:spcAft>
                <a:spcPts val="1400"/>
              </a:spcAft>
              <a:buSzPct val="92664"/>
              <a:buNone/>
            </a:pPr>
            <a:r>
              <a:rPr b="1" lang="en-US" sz="2100">
                <a:latin typeface="Times New Roman"/>
                <a:ea typeface="Times New Roman"/>
                <a:cs typeface="Times New Roman"/>
                <a:sym typeface="Times New Roman"/>
              </a:rPr>
              <a:t>Final Lead Score = 100/100 (Hot Lead)</a:t>
            </a:r>
            <a:endParaRPr sz="3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f2efc1eada_0_28"/>
          <p:cNvSpPr txBox="1"/>
          <p:nvPr>
            <p:ph idx="1" type="body"/>
          </p:nvPr>
        </p:nvSpPr>
        <p:spPr>
          <a:xfrm>
            <a:off x="457200" y="615450"/>
            <a:ext cx="8229600" cy="551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250">
                <a:latin typeface="Times New Roman"/>
                <a:ea typeface="Times New Roman"/>
                <a:cs typeface="Times New Roman"/>
                <a:sym typeface="Times New Roman"/>
              </a:rPr>
              <a:t>Step 4: AI Recommendation</a:t>
            </a:r>
            <a:endParaRPr b="1" sz="32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100">
                <a:latin typeface="Times New Roman"/>
                <a:ea typeface="Times New Roman"/>
                <a:cs typeface="Times New Roman"/>
                <a:sym typeface="Times New Roman"/>
              </a:rPr>
              <a:t>The AI assistant suggests:</a:t>
            </a:r>
            <a:endParaRPr sz="3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25450" lvl="0" marL="457200" rtl="0" algn="just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3100"/>
              <a:buFont typeface="Times New Roman"/>
              <a:buChar char="●"/>
            </a:pPr>
            <a:r>
              <a:rPr lang="en-US" sz="3100">
                <a:latin typeface="Times New Roman"/>
                <a:ea typeface="Times New Roman"/>
                <a:cs typeface="Times New Roman"/>
                <a:sym typeface="Times New Roman"/>
              </a:rPr>
              <a:t>Contact the Finance Manager today. </a:t>
            </a:r>
            <a:endParaRPr sz="3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2545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Font typeface="Times New Roman"/>
              <a:buChar char="●"/>
            </a:pPr>
            <a:r>
              <a:rPr lang="en-US" sz="3100">
                <a:latin typeface="Times New Roman"/>
                <a:ea typeface="Times New Roman"/>
                <a:cs typeface="Times New Roman"/>
                <a:sym typeface="Times New Roman"/>
              </a:rPr>
              <a:t>Offer a free 14-day product trial. </a:t>
            </a:r>
            <a:endParaRPr sz="3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2545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Font typeface="Times New Roman"/>
              <a:buChar char="●"/>
            </a:pPr>
            <a:r>
              <a:rPr lang="en-US" sz="3100">
                <a:latin typeface="Times New Roman"/>
                <a:ea typeface="Times New Roman"/>
                <a:cs typeface="Times New Roman"/>
                <a:sym typeface="Times New Roman"/>
              </a:rPr>
              <a:t>Highlight GST compliance and automated invoice generation. </a:t>
            </a:r>
            <a:endParaRPr sz="3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25450" lvl="0" marL="457200" rtl="0" algn="just"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buSzPts val="3100"/>
              <a:buFont typeface="Times New Roman"/>
              <a:buChar char="●"/>
            </a:pPr>
            <a:r>
              <a:rPr lang="en-US" sz="3100">
                <a:latin typeface="Times New Roman"/>
                <a:ea typeface="Times New Roman"/>
                <a:cs typeface="Times New Roman"/>
                <a:sym typeface="Times New Roman"/>
              </a:rPr>
              <a:t>Schedule a live demo within 24 hours. 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f2efc1eada_0_33"/>
          <p:cNvSpPr txBox="1"/>
          <p:nvPr>
            <p:ph idx="1" type="body"/>
          </p:nvPr>
        </p:nvSpPr>
        <p:spPr>
          <a:xfrm>
            <a:off x="457200" y="674075"/>
            <a:ext cx="8229600" cy="545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0" lvl="0" marL="0" rtl="0" algn="just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46635"/>
              <a:buFont typeface="Arial"/>
              <a:buNone/>
            </a:pPr>
            <a:r>
              <a:rPr b="1" lang="en-US" sz="2550">
                <a:latin typeface="Times New Roman"/>
                <a:ea typeface="Times New Roman"/>
                <a:cs typeface="Times New Roman"/>
                <a:sym typeface="Times New Roman"/>
              </a:rPr>
              <a:t>Step 5: Automated Personalized Email</a:t>
            </a:r>
            <a:endParaRPr b="1" sz="25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49550"/>
              <a:buFont typeface="Arial"/>
              <a:buNone/>
            </a:pP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Subject: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Simplify Your Accounting with AI-Powered Software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49550"/>
              <a:buFont typeface="Arial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Dear Mr. Kumar,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49550"/>
              <a:buFont typeface="Arial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I noticed that your company is expanding and may benefit from a modern accounting solution. Our AI-powered platform helps businesses automate GST filing, invoice generation, and financial reporting.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49550"/>
              <a:buFont typeface="Arial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Would you be available for a 20-minute product demonstration this week?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49550"/>
              <a:buFont typeface="Arial"/>
              <a:buNone/>
            </a:pPr>
            <a:r>
              <a:t/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49550"/>
              <a:buFont typeface="Arial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Best Regards,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49550"/>
              <a:buFont typeface="Arial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Sales Team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ct val="60811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f2efc1eada_0_38"/>
          <p:cNvSpPr txBox="1"/>
          <p:nvPr>
            <p:ph idx="1" type="body"/>
          </p:nvPr>
        </p:nvSpPr>
        <p:spPr>
          <a:xfrm>
            <a:off x="457200" y="611375"/>
            <a:ext cx="8229600" cy="551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1800"/>
              <a:buNone/>
            </a:pPr>
            <a:r>
              <a:rPr b="1" lang="en-US" sz="2450">
                <a:latin typeface="Times New Roman"/>
                <a:ea typeface="Times New Roman"/>
                <a:cs typeface="Times New Roman"/>
                <a:sym typeface="Times New Roman"/>
              </a:rPr>
              <a:t>Step 6: Sales Outcome</a:t>
            </a:r>
            <a:endParaRPr b="1" sz="24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24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1800"/>
              <a:buNone/>
            </a:pPr>
            <a:r>
              <a:rPr b="1" lang="en-US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Before AI						After AI</a:t>
            </a:r>
            <a:endParaRPr b="1" sz="23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Manual lead search		AI automatically identifies leads</a:t>
            </a:r>
            <a:endParaRPr sz="23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Generic emails			Personalized emails</a:t>
            </a:r>
            <a:endParaRPr sz="23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Equal attention to all leads	Priority given to high-value leads</a:t>
            </a:r>
            <a:endParaRPr sz="23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Low conversion rate		Higher conversion rate</a:t>
            </a:r>
            <a:endParaRPr sz="23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Time-consuming follow-ups	</a:t>
            </a:r>
            <a:r>
              <a:rPr lang="en-US" sz="1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Automated reminders and follow-ups</a:t>
            </a:r>
            <a:endParaRPr sz="19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400"/>
              </a:spcBef>
              <a:spcAft>
                <a:spcPts val="1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35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f2efc1eada_0_43"/>
          <p:cNvSpPr txBox="1"/>
          <p:nvPr>
            <p:ph idx="1" type="body"/>
          </p:nvPr>
        </p:nvSpPr>
        <p:spPr>
          <a:xfrm>
            <a:off x="457200" y="630125"/>
            <a:ext cx="8229600" cy="54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800">
                <a:latin typeface="Times New Roman"/>
                <a:ea typeface="Times New Roman"/>
                <a:cs typeface="Times New Roman"/>
                <a:sym typeface="Times New Roman"/>
              </a:rPr>
              <a:t>Benefits</a:t>
            </a:r>
            <a:endParaRPr b="1" sz="3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93700" lvl="0" marL="457200" rtl="0" algn="just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600"/>
              <a:buFont typeface="Times New Roman"/>
              <a:buChar char="●"/>
            </a:pPr>
            <a:r>
              <a:rPr lang="en-US" sz="2600">
                <a:latin typeface="Times New Roman"/>
                <a:ea typeface="Times New Roman"/>
                <a:cs typeface="Times New Roman"/>
                <a:sym typeface="Times New Roman"/>
              </a:rPr>
              <a:t>Increases sales productivity. </a:t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937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Times New Roman"/>
              <a:buChar char="●"/>
            </a:pPr>
            <a:r>
              <a:rPr lang="en-US" sz="2600">
                <a:latin typeface="Times New Roman"/>
                <a:ea typeface="Times New Roman"/>
                <a:cs typeface="Times New Roman"/>
                <a:sym typeface="Times New Roman"/>
              </a:rPr>
              <a:t>Improves lead conversion rates. </a:t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937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Times New Roman"/>
              <a:buChar char="●"/>
            </a:pPr>
            <a:r>
              <a:rPr lang="en-US" sz="2600">
                <a:latin typeface="Times New Roman"/>
                <a:ea typeface="Times New Roman"/>
                <a:cs typeface="Times New Roman"/>
                <a:sym typeface="Times New Roman"/>
              </a:rPr>
              <a:t>Reduces manual work for sales teams. </a:t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937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Times New Roman"/>
              <a:buChar char="●"/>
            </a:pPr>
            <a:r>
              <a:rPr lang="en-US" sz="2600">
                <a:latin typeface="Times New Roman"/>
                <a:ea typeface="Times New Roman"/>
                <a:cs typeface="Times New Roman"/>
                <a:sym typeface="Times New Roman"/>
              </a:rPr>
              <a:t>Provides data-driven decision-making. </a:t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937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Times New Roman"/>
              <a:buChar char="●"/>
            </a:pPr>
            <a:r>
              <a:rPr lang="en-US" sz="2600">
                <a:latin typeface="Times New Roman"/>
                <a:ea typeface="Times New Roman"/>
                <a:cs typeface="Times New Roman"/>
                <a:sym typeface="Times New Roman"/>
              </a:rPr>
              <a:t>Enhances customer engagement through personalized communication. </a:t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937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Times New Roman"/>
              <a:buChar char="●"/>
            </a:pPr>
            <a:r>
              <a:rPr lang="en-US" sz="2600">
                <a:latin typeface="Times New Roman"/>
                <a:ea typeface="Times New Roman"/>
                <a:cs typeface="Times New Roman"/>
                <a:sym typeface="Times New Roman"/>
              </a:rPr>
              <a:t>Predicts customer buying intent more accurately. </a:t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937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Times New Roman"/>
              <a:buChar char="●"/>
            </a:pPr>
            <a:r>
              <a:rPr lang="en-US" sz="2600">
                <a:latin typeface="Times New Roman"/>
                <a:ea typeface="Times New Roman"/>
                <a:cs typeface="Times New Roman"/>
                <a:sym typeface="Times New Roman"/>
              </a:rPr>
              <a:t>Saves time by automating repetitive sales tasks. </a:t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f2efc1eada_0_48"/>
          <p:cNvSpPr txBox="1"/>
          <p:nvPr>
            <p:ph idx="1" type="body"/>
          </p:nvPr>
        </p:nvSpPr>
        <p:spPr>
          <a:xfrm>
            <a:off x="457200" y="600800"/>
            <a:ext cx="8229600" cy="55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000">
                <a:latin typeface="Times New Roman"/>
                <a:ea typeface="Times New Roman"/>
                <a:cs typeface="Times New Roman"/>
                <a:sym typeface="Times New Roman"/>
              </a:rPr>
              <a:t>Real-World Examples</a:t>
            </a:r>
            <a:endParaRPr b="1" sz="3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Many organizations use AI-powered sales and lead intelligence platforms, including: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just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400"/>
              <a:buFont typeface="Times New Roman"/>
              <a:buChar char="●"/>
            </a:pP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Salesforce Einstein AI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just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400"/>
              <a:buFont typeface="Times New Roman"/>
              <a:buChar char="●"/>
            </a:pP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HubSpot AI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Char char="●"/>
            </a:pP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Zoho Zia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buSzPts val="2400"/>
              <a:buFont typeface="Times New Roman"/>
              <a:buChar char="●"/>
            </a:pP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Microsoft Dynamics 365 Sales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f2efc1eada_0_68"/>
          <p:cNvSpPr txBox="1"/>
          <p:nvPr>
            <p:ph idx="1" type="body"/>
          </p:nvPr>
        </p:nvSpPr>
        <p:spPr>
          <a:xfrm>
            <a:off x="457200" y="205150"/>
            <a:ext cx="8229600" cy="59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34072"/>
              <a:buFont typeface="Arial"/>
              <a:buNone/>
            </a:pPr>
            <a:r>
              <a:rPr b="1" lang="en-US" sz="3229">
                <a:latin typeface="Times New Roman"/>
                <a:ea typeface="Times New Roman"/>
                <a:cs typeface="Times New Roman"/>
                <a:sym typeface="Times New Roman"/>
              </a:rPr>
              <a:t>Step 1: Lead Registration</a:t>
            </a:r>
            <a:endParaRPr b="1" sz="3229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ct val="88345"/>
              <a:buNone/>
            </a:pPr>
            <a:r>
              <a:rPr lang="en-US" sz="2629">
                <a:latin typeface="Times New Roman"/>
                <a:ea typeface="Times New Roman"/>
                <a:cs typeface="Times New Roman"/>
                <a:sym typeface="Times New Roman"/>
              </a:rPr>
              <a:t>A new lead enters the system through various sources such as:</a:t>
            </a:r>
            <a:endParaRPr sz="2629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7985" lvl="0" marL="45720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ct val="100000"/>
              <a:buFont typeface="Times New Roman"/>
              <a:buChar char="●"/>
            </a:pPr>
            <a:r>
              <a:rPr lang="en-US" sz="2629">
                <a:latin typeface="Times New Roman"/>
                <a:ea typeface="Times New Roman"/>
                <a:cs typeface="Times New Roman"/>
                <a:sym typeface="Times New Roman"/>
              </a:rPr>
              <a:t>Company website contact form </a:t>
            </a:r>
            <a:endParaRPr sz="2629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7985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Times New Roman"/>
              <a:buChar char="●"/>
            </a:pPr>
            <a:r>
              <a:rPr lang="en-US" sz="2629">
                <a:latin typeface="Times New Roman"/>
                <a:ea typeface="Times New Roman"/>
                <a:cs typeface="Times New Roman"/>
                <a:sym typeface="Times New Roman"/>
              </a:rPr>
              <a:t>Social media advertisements </a:t>
            </a:r>
            <a:endParaRPr sz="2629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7985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Times New Roman"/>
              <a:buChar char="●"/>
            </a:pPr>
            <a:r>
              <a:rPr lang="en-US" sz="2629">
                <a:latin typeface="Times New Roman"/>
                <a:ea typeface="Times New Roman"/>
                <a:cs typeface="Times New Roman"/>
                <a:sym typeface="Times New Roman"/>
              </a:rPr>
              <a:t>Email campaigns </a:t>
            </a:r>
            <a:endParaRPr sz="2629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7985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Times New Roman"/>
              <a:buChar char="●"/>
            </a:pPr>
            <a:r>
              <a:rPr lang="en-US" sz="2629">
                <a:latin typeface="Times New Roman"/>
                <a:ea typeface="Times New Roman"/>
                <a:cs typeface="Times New Roman"/>
                <a:sym typeface="Times New Roman"/>
              </a:rPr>
              <a:t>LinkedIn </a:t>
            </a:r>
            <a:endParaRPr sz="2629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7985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Times New Roman"/>
              <a:buChar char="●"/>
            </a:pPr>
            <a:r>
              <a:rPr lang="en-US" sz="2629">
                <a:latin typeface="Times New Roman"/>
                <a:ea typeface="Times New Roman"/>
                <a:cs typeface="Times New Roman"/>
                <a:sym typeface="Times New Roman"/>
              </a:rPr>
              <a:t>Trade shows or exhibitions </a:t>
            </a:r>
            <a:endParaRPr sz="2629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7985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Times New Roman"/>
              <a:buChar char="●"/>
            </a:pPr>
            <a:r>
              <a:rPr lang="en-US" sz="2629">
                <a:latin typeface="Times New Roman"/>
                <a:ea typeface="Times New Roman"/>
                <a:cs typeface="Times New Roman"/>
                <a:sym typeface="Times New Roman"/>
              </a:rPr>
              <a:t>Sales representative manual entry </a:t>
            </a:r>
            <a:endParaRPr sz="2629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ct val="83576"/>
              <a:buNone/>
            </a:pPr>
            <a:r>
              <a:rPr b="1" lang="en-US" sz="2779">
                <a:latin typeface="Times New Roman"/>
                <a:ea typeface="Times New Roman"/>
                <a:cs typeface="Times New Roman"/>
                <a:sym typeface="Times New Roman"/>
              </a:rPr>
              <a:t>Example</a:t>
            </a:r>
            <a:endParaRPr b="1" sz="2779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ct val="88345"/>
              <a:buNone/>
            </a:pPr>
            <a:r>
              <a:rPr b="1" lang="en-US" sz="262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Field					Value</a:t>
            </a:r>
            <a:endParaRPr b="1" sz="2629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88345"/>
              <a:buNone/>
            </a:pPr>
            <a:r>
              <a:rPr lang="en-US" sz="262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Lead ID					L001</a:t>
            </a:r>
            <a:endParaRPr sz="2629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88345"/>
              <a:buNone/>
            </a:pPr>
            <a:r>
              <a:rPr lang="en-US" sz="262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Company Name				ABC Traders</a:t>
            </a:r>
            <a:endParaRPr sz="2629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88345"/>
              <a:buNone/>
            </a:pPr>
            <a:r>
              <a:rPr lang="en-US" sz="262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Contact Person				Rahul Kumar</a:t>
            </a:r>
            <a:endParaRPr sz="2629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88345"/>
              <a:buNone/>
            </a:pPr>
            <a:r>
              <a:rPr lang="en-US" sz="262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Email					rahul@abctraders.com</a:t>
            </a:r>
            <a:endParaRPr sz="2629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88345"/>
              <a:buNone/>
            </a:pPr>
            <a:r>
              <a:rPr lang="en-US" sz="262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Phone					+91-9876543210</a:t>
            </a:r>
            <a:endParaRPr sz="2629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88345"/>
              <a:buNone/>
            </a:pPr>
            <a:r>
              <a:rPr lang="en-US" sz="262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Industry					Retail</a:t>
            </a:r>
            <a:endParaRPr sz="2629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88345"/>
              <a:buNone/>
            </a:pPr>
            <a:r>
              <a:rPr lang="en-US" sz="262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Source					Website</a:t>
            </a:r>
            <a:endParaRPr sz="2629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1400"/>
              </a:spcAft>
              <a:buSzPct val="83697"/>
              <a:buNone/>
            </a:pPr>
            <a:r>
              <a:rPr b="1" lang="en-US" sz="2775">
                <a:latin typeface="Times New Roman"/>
                <a:ea typeface="Times New Roman"/>
                <a:cs typeface="Times New Roman"/>
                <a:sym typeface="Times New Roman"/>
              </a:rPr>
              <a:t>Output:</a:t>
            </a:r>
            <a:r>
              <a:rPr lang="en-US" sz="2775">
                <a:latin typeface="Times New Roman"/>
                <a:ea typeface="Times New Roman"/>
                <a:cs typeface="Times New Roman"/>
                <a:sym typeface="Times New Roman"/>
              </a:rPr>
              <a:t> A new lead record is created in the prospect database.</a:t>
            </a:r>
            <a:endParaRPr sz="2775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f2efc1eada_0_6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Lead Management &amp; Prospect Database  - Module 1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7" name="Google Shape;147;g3f2efc1eada_0_63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Create and manage prospect and customer records.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Store company profiles, contact details, and engagement history.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Track lead lifecycle and sales stages.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397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f2efc1eada_0_73"/>
          <p:cNvSpPr txBox="1"/>
          <p:nvPr>
            <p:ph idx="1" type="body"/>
          </p:nvPr>
        </p:nvSpPr>
        <p:spPr>
          <a:xfrm>
            <a:off x="457200" y="542200"/>
            <a:ext cx="8229600" cy="55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800">
                <a:latin typeface="Times New Roman"/>
                <a:ea typeface="Times New Roman"/>
                <a:cs typeface="Times New Roman"/>
                <a:sym typeface="Times New Roman"/>
              </a:rPr>
              <a:t>Step 2: Company Profile Creation</a:t>
            </a:r>
            <a:endParaRPr b="1"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The AI platform stores detailed company information.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1800"/>
              <a:buNone/>
            </a:pPr>
            <a:r>
              <a:rPr b="1" lang="en-US" sz="1600">
                <a:latin typeface="Times New Roman"/>
                <a:ea typeface="Times New Roman"/>
                <a:cs typeface="Times New Roman"/>
                <a:sym typeface="Times New Roman"/>
              </a:rPr>
              <a:t>Information Stored</a:t>
            </a:r>
            <a:endParaRPr b="1"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1200"/>
              <a:buFont typeface="Times New Roman"/>
              <a:buChar char="●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Company name 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Times New Roman"/>
              <a:buChar char="●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Industry 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Times New Roman"/>
              <a:buChar char="●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Business size 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Times New Roman"/>
              <a:buChar char="●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Annual revenue 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Times New Roman"/>
              <a:buChar char="●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Location 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Times New Roman"/>
              <a:buChar char="●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Number of employees 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Times New Roman"/>
              <a:buChar char="●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Website 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Times New Roman"/>
              <a:buChar char="●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Products/Services 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1800"/>
              <a:buNone/>
            </a:pPr>
            <a:r>
              <a:rPr b="1" lang="en-US" sz="1600">
                <a:latin typeface="Times New Roman"/>
                <a:ea typeface="Times New Roman"/>
                <a:cs typeface="Times New Roman"/>
                <a:sym typeface="Times New Roman"/>
              </a:rPr>
              <a:t>Example</a:t>
            </a:r>
            <a:endParaRPr b="1"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1800"/>
              <a:buNone/>
            </a:pPr>
            <a:r>
              <a:rPr b="1" lang="en-US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Company				ABC Traders</a:t>
            </a:r>
            <a:endParaRPr b="1" sz="16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Industry				Retail</a:t>
            </a:r>
            <a:endParaRPr sz="16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Employees				60</a:t>
            </a:r>
            <a:endParaRPr sz="16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Revenue				15 Crore</a:t>
            </a:r>
            <a:endParaRPr sz="16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City				Chennai</a:t>
            </a:r>
            <a:endParaRPr sz="16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Website				www.abctraders.com</a:t>
            </a:r>
            <a:endParaRPr sz="16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1800"/>
              <a:buNone/>
            </a:pPr>
            <a:r>
              <a:rPr b="1" lang="en-US" sz="1600">
                <a:latin typeface="Times New Roman"/>
                <a:ea typeface="Times New Roman"/>
                <a:cs typeface="Times New Roman"/>
                <a:sym typeface="Times New Roman"/>
              </a:rPr>
              <a:t>Output:</a:t>
            </a: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 Complete company profile available for future analysis.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13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1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35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f2efc1eada_0_88"/>
          <p:cNvSpPr txBox="1"/>
          <p:nvPr>
            <p:ph idx="1" type="body"/>
          </p:nvPr>
        </p:nvSpPr>
        <p:spPr>
          <a:xfrm>
            <a:off x="457200" y="600800"/>
            <a:ext cx="8229600" cy="55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Step 3: Contact Management</a:t>
            </a:r>
            <a:endParaRPr b="1"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The platform records all important contacts within the company.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1800"/>
              <a:buNone/>
            </a:pPr>
            <a:r>
              <a:rPr b="1" lang="en-US" sz="1950">
                <a:latin typeface="Times New Roman"/>
                <a:ea typeface="Times New Roman"/>
                <a:cs typeface="Times New Roman"/>
                <a:sym typeface="Times New Roman"/>
              </a:rPr>
              <a:t>Example</a:t>
            </a:r>
            <a:endParaRPr b="1" sz="19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1800"/>
              <a:buNone/>
            </a:pPr>
            <a:r>
              <a:rPr b="1"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Name				Position			Email			Phone</a:t>
            </a:r>
            <a:endParaRPr b="1"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Rahul Kumar			Finance Manager	</a:t>
            </a:r>
            <a:r>
              <a:rPr lang="en-US" sz="18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/>
              </a:rPr>
              <a:t>rahul@abctraders.com</a:t>
            </a:r>
            <a:r>
              <a:rPr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+91-9876543210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Priya Sharma			IT Manager		</a:t>
            </a:r>
            <a:r>
              <a:rPr lang="en-US" sz="18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/>
              </a:rPr>
              <a:t>priya@abctraders.com</a:t>
            </a:r>
            <a:r>
              <a:rPr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+91-9876543200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1800"/>
              <a:buNone/>
            </a:pPr>
            <a:r>
              <a:rPr b="1" lang="en-US" sz="2200">
                <a:latin typeface="Times New Roman"/>
                <a:ea typeface="Times New Roman"/>
                <a:cs typeface="Times New Roman"/>
                <a:sym typeface="Times New Roman"/>
              </a:rPr>
              <a:t>Output:</a:t>
            </a: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 Multiple contacts can be linked to one company.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3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f2efc1eada_0_94"/>
          <p:cNvSpPr txBox="1"/>
          <p:nvPr>
            <p:ph idx="1" type="body"/>
          </p:nvPr>
        </p:nvSpPr>
        <p:spPr>
          <a:xfrm>
            <a:off x="457200" y="718050"/>
            <a:ext cx="8229600" cy="54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rPr b="1" lang="en-US" sz="2030">
                <a:latin typeface="Times New Roman"/>
                <a:ea typeface="Times New Roman"/>
                <a:cs typeface="Times New Roman"/>
                <a:sym typeface="Times New Roman"/>
              </a:rPr>
              <a:t>Step 4: Engagement History</a:t>
            </a:r>
            <a:endParaRPr b="1" sz="203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rPr lang="en-US" sz="1520">
                <a:latin typeface="Times New Roman"/>
                <a:ea typeface="Times New Roman"/>
                <a:cs typeface="Times New Roman"/>
                <a:sym typeface="Times New Roman"/>
              </a:rPr>
              <a:t>Every customer interaction is automatically stored.</a:t>
            </a:r>
            <a:endParaRPr sz="15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rPr b="1" lang="en-US" sz="1648">
                <a:latin typeface="Times New Roman"/>
                <a:ea typeface="Times New Roman"/>
                <a:cs typeface="Times New Roman"/>
                <a:sym typeface="Times New Roman"/>
              </a:rPr>
              <a:t>Activities Recorded</a:t>
            </a:r>
            <a:endParaRPr b="1" sz="1648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5120" lvl="0" marL="45720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SzPts val="1520"/>
              <a:buFont typeface="Times New Roman"/>
              <a:buChar char="●"/>
            </a:pPr>
            <a:r>
              <a:rPr lang="en-US" sz="1520">
                <a:latin typeface="Times New Roman"/>
                <a:ea typeface="Times New Roman"/>
                <a:cs typeface="Times New Roman"/>
                <a:sym typeface="Times New Roman"/>
              </a:rPr>
              <a:t>Phone calls </a:t>
            </a:r>
            <a:endParaRPr sz="15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512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20"/>
              <a:buFont typeface="Times New Roman"/>
              <a:buChar char="●"/>
            </a:pPr>
            <a:r>
              <a:rPr lang="en-US" sz="1520">
                <a:latin typeface="Times New Roman"/>
                <a:ea typeface="Times New Roman"/>
                <a:cs typeface="Times New Roman"/>
                <a:sym typeface="Times New Roman"/>
              </a:rPr>
              <a:t>Emails sent </a:t>
            </a:r>
            <a:endParaRPr sz="15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512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20"/>
              <a:buFont typeface="Times New Roman"/>
              <a:buChar char="●"/>
            </a:pPr>
            <a:r>
              <a:rPr lang="en-US" sz="1520">
                <a:latin typeface="Times New Roman"/>
                <a:ea typeface="Times New Roman"/>
                <a:cs typeface="Times New Roman"/>
                <a:sym typeface="Times New Roman"/>
              </a:rPr>
              <a:t>Emails opened </a:t>
            </a:r>
            <a:endParaRPr sz="15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512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20"/>
              <a:buFont typeface="Times New Roman"/>
              <a:buChar char="●"/>
            </a:pPr>
            <a:r>
              <a:rPr lang="en-US" sz="1520">
                <a:latin typeface="Times New Roman"/>
                <a:ea typeface="Times New Roman"/>
                <a:cs typeface="Times New Roman"/>
                <a:sym typeface="Times New Roman"/>
              </a:rPr>
              <a:t>Website visits </a:t>
            </a:r>
            <a:endParaRPr sz="15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512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20"/>
              <a:buFont typeface="Times New Roman"/>
              <a:buChar char="●"/>
            </a:pPr>
            <a:r>
              <a:rPr lang="en-US" sz="1520">
                <a:latin typeface="Times New Roman"/>
                <a:ea typeface="Times New Roman"/>
                <a:cs typeface="Times New Roman"/>
                <a:sym typeface="Times New Roman"/>
              </a:rPr>
              <a:t>Product demo requests </a:t>
            </a:r>
            <a:endParaRPr sz="15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512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20"/>
              <a:buFont typeface="Times New Roman"/>
              <a:buChar char="●"/>
            </a:pPr>
            <a:r>
              <a:rPr lang="en-US" sz="1520">
                <a:latin typeface="Times New Roman"/>
                <a:ea typeface="Times New Roman"/>
                <a:cs typeface="Times New Roman"/>
                <a:sym typeface="Times New Roman"/>
              </a:rPr>
              <a:t>Meetings </a:t>
            </a:r>
            <a:endParaRPr sz="15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512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20"/>
              <a:buFont typeface="Times New Roman"/>
              <a:buChar char="●"/>
            </a:pPr>
            <a:r>
              <a:rPr lang="en-US" sz="1520">
                <a:latin typeface="Times New Roman"/>
                <a:ea typeface="Times New Roman"/>
                <a:cs typeface="Times New Roman"/>
                <a:sym typeface="Times New Roman"/>
              </a:rPr>
              <a:t>Chatbot conversations </a:t>
            </a:r>
            <a:endParaRPr sz="15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SzPts val="935"/>
              <a:buNone/>
            </a:pPr>
            <a:r>
              <a:rPr b="1" lang="en-US" sz="1648">
                <a:latin typeface="Times New Roman"/>
                <a:ea typeface="Times New Roman"/>
                <a:cs typeface="Times New Roman"/>
                <a:sym typeface="Times New Roman"/>
              </a:rPr>
              <a:t>Example</a:t>
            </a:r>
            <a:endParaRPr b="1" sz="1648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SzPts val="935"/>
              <a:buNone/>
            </a:pPr>
            <a:r>
              <a:rPr b="1" lang="en-US" sz="152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Date	Activity		Status</a:t>
            </a:r>
            <a:endParaRPr b="1" sz="152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-US" sz="152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 June	Website Visit	Completed</a:t>
            </a:r>
            <a:endParaRPr sz="152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-US" sz="152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11 June	Email Sent		Delivered</a:t>
            </a:r>
            <a:endParaRPr sz="152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-US" sz="152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12 June	Email Opened	Yes</a:t>
            </a:r>
            <a:endParaRPr sz="152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-US" sz="152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13 June	Product Demo	Completed</a:t>
            </a:r>
            <a:endParaRPr sz="152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-US" sz="152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14 June	Follow-up Call	Pending</a:t>
            </a:r>
            <a:endParaRPr sz="152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t/>
            </a:r>
            <a:endParaRPr sz="192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600">
                <a:latin typeface="Times New Roman"/>
                <a:ea typeface="Times New Roman"/>
                <a:cs typeface="Times New Roman"/>
                <a:sym typeface="Times New Roman"/>
              </a:rPr>
              <a:t>Output:</a:t>
            </a: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 Complete interaction history is maintained.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SzPts val="935"/>
              <a:buNone/>
            </a:pPr>
            <a:r>
              <a:t/>
            </a:r>
            <a:endParaRPr sz="152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935"/>
              <a:buNone/>
            </a:pPr>
            <a:r>
              <a:t/>
            </a:r>
            <a:endParaRPr sz="272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f2efc1eada_0_100"/>
          <p:cNvSpPr txBox="1"/>
          <p:nvPr>
            <p:ph idx="1" type="body"/>
          </p:nvPr>
        </p:nvSpPr>
        <p:spPr>
          <a:xfrm>
            <a:off x="457200" y="337050"/>
            <a:ext cx="8229600" cy="57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51704"/>
              <a:buFont typeface="Arial"/>
              <a:buNone/>
            </a:pPr>
            <a:r>
              <a:rPr b="1" lang="en-US" sz="2300">
                <a:latin typeface="Times New Roman"/>
                <a:ea typeface="Times New Roman"/>
                <a:cs typeface="Times New Roman"/>
                <a:sym typeface="Times New Roman"/>
              </a:rPr>
              <a:t>Step 5: AI Lead Analysis</a:t>
            </a:r>
            <a:endParaRPr b="1" sz="2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69952"/>
              <a:buFont typeface="Arial"/>
              <a:buNone/>
            </a:pPr>
            <a:r>
              <a:rPr lang="en-US" sz="1700">
                <a:latin typeface="Times New Roman"/>
                <a:ea typeface="Times New Roman"/>
                <a:cs typeface="Times New Roman"/>
                <a:sym typeface="Times New Roman"/>
              </a:rPr>
              <a:t>The AI engine analyzes customer behavior using collected data.</a:t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64280"/>
              <a:buFont typeface="Arial"/>
              <a:buNone/>
            </a:pPr>
            <a:r>
              <a:rPr b="1" lang="en-US" sz="1850">
                <a:latin typeface="Times New Roman"/>
                <a:ea typeface="Times New Roman"/>
                <a:cs typeface="Times New Roman"/>
                <a:sym typeface="Times New Roman"/>
              </a:rPr>
              <a:t>AI Checks</a:t>
            </a:r>
            <a:endParaRPr b="1" sz="18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45720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ct val="108108"/>
              <a:buFont typeface="Times New Roman"/>
              <a:buChar char="●"/>
            </a:pPr>
            <a:r>
              <a:rPr lang="en-US" sz="1700">
                <a:latin typeface="Times New Roman"/>
                <a:ea typeface="Times New Roman"/>
                <a:cs typeface="Times New Roman"/>
                <a:sym typeface="Times New Roman"/>
              </a:rPr>
              <a:t>Number of website visits </a:t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8108"/>
              <a:buFont typeface="Times New Roman"/>
              <a:buChar char="●"/>
            </a:pPr>
            <a:r>
              <a:rPr lang="en-US" sz="1700">
                <a:latin typeface="Times New Roman"/>
                <a:ea typeface="Times New Roman"/>
                <a:cs typeface="Times New Roman"/>
                <a:sym typeface="Times New Roman"/>
              </a:rPr>
              <a:t>Email open rate </a:t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8108"/>
              <a:buFont typeface="Times New Roman"/>
              <a:buChar char="●"/>
            </a:pPr>
            <a:r>
              <a:rPr lang="en-US" sz="1700">
                <a:latin typeface="Times New Roman"/>
                <a:ea typeface="Times New Roman"/>
                <a:cs typeface="Times New Roman"/>
                <a:sym typeface="Times New Roman"/>
              </a:rPr>
              <a:t>Product pages viewed </a:t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8108"/>
              <a:buFont typeface="Times New Roman"/>
              <a:buChar char="●"/>
            </a:pPr>
            <a:r>
              <a:rPr lang="en-US" sz="1700">
                <a:latin typeface="Times New Roman"/>
                <a:ea typeface="Times New Roman"/>
                <a:cs typeface="Times New Roman"/>
                <a:sym typeface="Times New Roman"/>
              </a:rPr>
              <a:t>Demo requests </a:t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8108"/>
              <a:buFont typeface="Times New Roman"/>
              <a:buChar char="●"/>
            </a:pPr>
            <a:r>
              <a:rPr lang="en-US" sz="1700">
                <a:latin typeface="Times New Roman"/>
                <a:ea typeface="Times New Roman"/>
                <a:cs typeface="Times New Roman"/>
                <a:sym typeface="Times New Roman"/>
              </a:rPr>
              <a:t>Previous purchases </a:t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8108"/>
              <a:buFont typeface="Times New Roman"/>
              <a:buChar char="●"/>
            </a:pPr>
            <a:r>
              <a:rPr lang="en-US" sz="1700">
                <a:latin typeface="Times New Roman"/>
                <a:ea typeface="Times New Roman"/>
                <a:cs typeface="Times New Roman"/>
                <a:sym typeface="Times New Roman"/>
              </a:rPr>
              <a:t>Industry match </a:t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8108"/>
              <a:buFont typeface="Times New Roman"/>
              <a:buChar char="●"/>
            </a:pPr>
            <a:r>
              <a:rPr lang="en-US" sz="1700">
                <a:latin typeface="Times New Roman"/>
                <a:ea typeface="Times New Roman"/>
                <a:cs typeface="Times New Roman"/>
                <a:sym typeface="Times New Roman"/>
              </a:rPr>
              <a:t>Company size </a:t>
            </a:r>
            <a:endParaRPr sz="2408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ct val="94555"/>
              <a:buNone/>
            </a:pPr>
            <a:r>
              <a:rPr b="1" lang="en-US" sz="2058">
                <a:latin typeface="Times New Roman"/>
                <a:ea typeface="Times New Roman"/>
                <a:cs typeface="Times New Roman"/>
                <a:sym typeface="Times New Roman"/>
              </a:rPr>
              <a:t>Example</a:t>
            </a:r>
            <a:endParaRPr b="1" sz="2058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ct val="101989"/>
              <a:buNone/>
            </a:pPr>
            <a:r>
              <a:rPr b="1" lang="en-US" sz="190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Parameter			Result</a:t>
            </a:r>
            <a:endParaRPr b="1" sz="1908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1989"/>
              <a:buNone/>
            </a:pPr>
            <a:r>
              <a:rPr lang="en-US" sz="190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Website Visits			8</a:t>
            </a:r>
            <a:endParaRPr sz="1908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1989"/>
              <a:buNone/>
            </a:pPr>
            <a:r>
              <a:rPr lang="en-US" sz="190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Email Opens			6</a:t>
            </a:r>
            <a:endParaRPr sz="1908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1989"/>
              <a:buNone/>
            </a:pPr>
            <a:r>
              <a:rPr lang="en-US" sz="190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Demo Request			Yes</a:t>
            </a:r>
            <a:endParaRPr sz="1908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1989"/>
              <a:buNone/>
            </a:pPr>
            <a:r>
              <a:rPr lang="en-US" sz="190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Buying Intent			High</a:t>
            </a:r>
            <a:endParaRPr sz="1908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1400"/>
              </a:spcAft>
              <a:buSzPct val="84606"/>
              <a:buNone/>
            </a:pPr>
            <a:r>
              <a:rPr b="1" lang="en-US" sz="2300">
                <a:latin typeface="Times New Roman"/>
                <a:ea typeface="Times New Roman"/>
                <a:cs typeface="Times New Roman"/>
                <a:sym typeface="Times New Roman"/>
              </a:rPr>
              <a:t>Output:</a:t>
            </a:r>
            <a:r>
              <a:rPr lang="en-US" sz="2300">
                <a:latin typeface="Times New Roman"/>
                <a:ea typeface="Times New Roman"/>
                <a:cs typeface="Times New Roman"/>
                <a:sym typeface="Times New Roman"/>
              </a:rPr>
              <a:t> AI identifies highly interested prospects.</a:t>
            </a:r>
            <a:endParaRPr sz="43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f2efc1eada_0_106"/>
          <p:cNvSpPr txBox="1"/>
          <p:nvPr>
            <p:ph idx="1" type="body"/>
          </p:nvPr>
        </p:nvSpPr>
        <p:spPr>
          <a:xfrm>
            <a:off x="457200" y="234450"/>
            <a:ext cx="8229600" cy="58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44000"/>
              <a:buFont typeface="Arial"/>
              <a:buNone/>
            </a:pPr>
            <a:r>
              <a:rPr b="1" lang="en-US" sz="2500">
                <a:latin typeface="Times New Roman"/>
                <a:ea typeface="Times New Roman"/>
                <a:cs typeface="Times New Roman"/>
                <a:sym typeface="Times New Roman"/>
              </a:rPr>
              <a:t>Step 6: Lead Scoring</a:t>
            </a:r>
            <a:endParaRPr b="1" sz="2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57895"/>
              <a:buFont typeface="Arial"/>
              <a:buNone/>
            </a:pPr>
            <a:r>
              <a:rPr lang="en-US" sz="1900">
                <a:latin typeface="Times New Roman"/>
                <a:ea typeface="Times New Roman"/>
                <a:cs typeface="Times New Roman"/>
                <a:sym typeface="Times New Roman"/>
              </a:rPr>
              <a:t>The AI assigns a score based on the likelihood of conversion.</a:t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53659"/>
              <a:buFont typeface="Arial"/>
              <a:buNone/>
            </a:pPr>
            <a:r>
              <a:rPr b="1" lang="en-US" sz="2050">
                <a:latin typeface="Times New Roman"/>
                <a:ea typeface="Times New Roman"/>
                <a:cs typeface="Times New Roman"/>
                <a:sym typeface="Times New Roman"/>
              </a:rPr>
              <a:t>Example Formula</a:t>
            </a:r>
            <a:endParaRPr b="1" sz="20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57895"/>
              <a:buFont typeface="Arial"/>
              <a:buNone/>
            </a:pPr>
            <a:r>
              <a:rPr lang="en-US" sz="1900">
                <a:latin typeface="Times New Roman"/>
                <a:ea typeface="Times New Roman"/>
                <a:cs typeface="Times New Roman"/>
                <a:sym typeface="Times New Roman"/>
              </a:rPr>
              <a:t>Lead Score =</a:t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0201" lvl="0" marL="45720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ct val="100000"/>
              <a:buFont typeface="Times New Roman"/>
              <a:buChar char="●"/>
            </a:pPr>
            <a:r>
              <a:rPr lang="en-US" sz="1900">
                <a:latin typeface="Times New Roman"/>
                <a:ea typeface="Times New Roman"/>
                <a:cs typeface="Times New Roman"/>
                <a:sym typeface="Times New Roman"/>
              </a:rPr>
              <a:t>Company Fit = 30 </a:t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0201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Times New Roman"/>
              <a:buChar char="●"/>
            </a:pPr>
            <a:r>
              <a:rPr lang="en-US" sz="1900">
                <a:latin typeface="Times New Roman"/>
                <a:ea typeface="Times New Roman"/>
                <a:cs typeface="Times New Roman"/>
                <a:sym typeface="Times New Roman"/>
              </a:rPr>
              <a:t>Customer Engagement = 30 </a:t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0201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Times New Roman"/>
              <a:buChar char="●"/>
            </a:pPr>
            <a:r>
              <a:rPr lang="en-US" sz="1900">
                <a:latin typeface="Times New Roman"/>
                <a:ea typeface="Times New Roman"/>
                <a:cs typeface="Times New Roman"/>
                <a:sym typeface="Times New Roman"/>
              </a:rPr>
              <a:t>Budget = 20 </a:t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0201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Times New Roman"/>
              <a:buChar char="●"/>
            </a:pPr>
            <a:r>
              <a:rPr lang="en-US" sz="1900">
                <a:latin typeface="Times New Roman"/>
                <a:ea typeface="Times New Roman"/>
                <a:cs typeface="Times New Roman"/>
                <a:sym typeface="Times New Roman"/>
              </a:rPr>
              <a:t>Decision Maker Activity = 10 </a:t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0201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Times New Roman"/>
              <a:buChar char="●"/>
            </a:pPr>
            <a:r>
              <a:rPr lang="en-US" sz="1900">
                <a:latin typeface="Times New Roman"/>
                <a:ea typeface="Times New Roman"/>
                <a:cs typeface="Times New Roman"/>
                <a:sym typeface="Times New Roman"/>
              </a:rPr>
              <a:t>Buying Intent = 10 </a:t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57895"/>
              <a:buFont typeface="Arial"/>
              <a:buNone/>
            </a:pPr>
            <a:r>
              <a:rPr b="1" lang="en-US" sz="1900">
                <a:latin typeface="Times New Roman"/>
                <a:ea typeface="Times New Roman"/>
                <a:cs typeface="Times New Roman"/>
                <a:sym typeface="Times New Roman"/>
              </a:rPr>
              <a:t>Total Score = 100</a:t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ct val="114467"/>
              <a:buNone/>
            </a:pPr>
            <a:r>
              <a:rPr b="1" lang="en-US" sz="1850">
                <a:latin typeface="Times New Roman"/>
                <a:ea typeface="Times New Roman"/>
                <a:cs typeface="Times New Roman"/>
                <a:sym typeface="Times New Roman"/>
              </a:rPr>
              <a:t>Classification</a:t>
            </a:r>
            <a:endParaRPr b="1" sz="18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ct val="82592"/>
              <a:buNone/>
            </a:pPr>
            <a:r>
              <a:rPr b="1" lang="en-US" sz="2564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Score			Category</a:t>
            </a:r>
            <a:endParaRPr b="1" sz="2564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82592"/>
              <a:buNone/>
            </a:pPr>
            <a:r>
              <a:rPr lang="en-US" sz="2564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81–100			Hot Lead</a:t>
            </a:r>
            <a:endParaRPr sz="2564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82592"/>
              <a:buNone/>
            </a:pPr>
            <a:r>
              <a:rPr lang="en-US" sz="2564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61–80			Warm Lead</a:t>
            </a:r>
            <a:endParaRPr sz="2564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82592"/>
              <a:buNone/>
            </a:pPr>
            <a:r>
              <a:rPr lang="en-US" sz="2564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41–60			Cold Lead</a:t>
            </a:r>
            <a:endParaRPr sz="2564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82592"/>
              <a:buNone/>
            </a:pPr>
            <a:r>
              <a:rPr lang="en-US" sz="2564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0–40			Low Priority</a:t>
            </a:r>
            <a:endParaRPr sz="2564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1400"/>
              </a:spcAft>
              <a:buClr>
                <a:schemeClr val="dk1"/>
              </a:buClr>
              <a:buSzPct val="53907"/>
              <a:buFont typeface="Arial"/>
              <a:buNone/>
            </a:pPr>
            <a:r>
              <a:rPr b="1" lang="en-US" sz="2041">
                <a:latin typeface="Times New Roman"/>
                <a:ea typeface="Times New Roman"/>
                <a:cs typeface="Times New Roman"/>
                <a:sym typeface="Times New Roman"/>
              </a:rPr>
              <a:t>Output:</a:t>
            </a:r>
            <a:r>
              <a:rPr lang="en-US" sz="2041">
                <a:latin typeface="Times New Roman"/>
                <a:ea typeface="Times New Roman"/>
                <a:cs typeface="Times New Roman"/>
                <a:sym typeface="Times New Roman"/>
              </a:rPr>
              <a:t> Sales team focuses first on Hot Leads.</a:t>
            </a:r>
            <a:endParaRPr b="1" sz="269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f2efc1eada_0_112"/>
          <p:cNvSpPr txBox="1"/>
          <p:nvPr>
            <p:ph idx="1" type="body"/>
          </p:nvPr>
        </p:nvSpPr>
        <p:spPr>
          <a:xfrm>
            <a:off x="457200" y="615450"/>
            <a:ext cx="8229600" cy="551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Step 7: Sales Stage Tracking</a:t>
            </a:r>
            <a:endParaRPr b="1"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Each lead moves through predefined sales stages.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950">
                <a:latin typeface="Times New Roman"/>
                <a:ea typeface="Times New Roman"/>
                <a:cs typeface="Times New Roman"/>
                <a:sym typeface="Times New Roman"/>
              </a:rPr>
              <a:t>Sales Lifecycle</a:t>
            </a:r>
            <a:endParaRPr b="1" sz="19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pic>
        <p:nvPicPr>
          <p:cNvPr id="178" name="Google Shape;178;g3f2efc1eada_0_1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6000" y="2169600"/>
            <a:ext cx="4572001" cy="39565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f2efc1eada_0_118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1800"/>
              <a:buNone/>
            </a:pPr>
            <a:r>
              <a:rPr b="1" lang="en-US" sz="2150">
                <a:latin typeface="Times New Roman"/>
                <a:ea typeface="Times New Roman"/>
                <a:cs typeface="Times New Roman"/>
                <a:sym typeface="Times New Roman"/>
              </a:rPr>
              <a:t>Example</a:t>
            </a:r>
            <a:endParaRPr b="1" sz="21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1800"/>
              <a:buNone/>
            </a:pPr>
            <a:r>
              <a:rPr b="1"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Lead ID		Current Stage</a:t>
            </a:r>
            <a:endParaRPr b="1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L001		Product Demo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3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</p:txBody>
      </p:sp>
      <p:pic>
        <p:nvPicPr>
          <p:cNvPr id="189" name="Google Shape;189;p4"/>
          <p:cNvPicPr preferRelativeResize="0"/>
          <p:nvPr/>
        </p:nvPicPr>
        <p:blipFill rotWithShape="1">
          <a:blip r:embed="rId3">
            <a:alphaModFix/>
          </a:blip>
          <a:srcRect b="30181" l="12500" r="12500" t="21943"/>
          <a:stretch/>
        </p:blipFill>
        <p:spPr>
          <a:xfrm>
            <a:off x="221950" y="1"/>
            <a:ext cx="8708976" cy="65428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2026-07-01T06:21:38Z</dcterms:created>
  <dc:creator>EXAM</dc:creator>
</cp:coreProperties>
</file>