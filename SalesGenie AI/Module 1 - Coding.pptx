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h7rxRWVNNqc0q6x+PXMNRWykTU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2efc1ead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2efc1ea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2efc1eada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f2efc1ead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2efc1eada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f2efc1ead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2efc1eada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f2efc1ead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2efc1eada_0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f2efc1ead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2efc1eada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2efc1ead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2efc1eada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2efc1ead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2efc1ead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f2efc1eada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2efc1eada_0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f2efc1ead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2efc1eada_0_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2efc1ead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2efc1eada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f2efc1ead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efc1eada_0_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f2efc1ead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2efc1eada_0_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f2efc1ead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2efc1eada_0_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2efc1ead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2efc1eada_0_1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f2efc1ead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2efc1eada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f2efc1ead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rahul@abctraders.com" TargetMode="External"/><Relationship Id="rId4" Type="http://schemas.openxmlformats.org/officeDocument/2006/relationships/hyperlink" Target="mailto:priya@abctraders.co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SalesGenie AI – AI Sales Assistant &amp; Lead Intelligence Platform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idx="1" type="body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platform gathers information from websites, CRM systems, emails, social media, and customer interactions to generate actionable insights.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It can automatically score leads, recommend the best prospects, personalize email responses, schedule follow-ups, predict customer buying behavior, and provide real-time sales recommendations.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Key Features</a:t>
            </a:r>
            <a:endParaRPr/>
          </a:p>
        </p:txBody>
      </p:sp>
      <p:sp>
        <p:nvSpPr>
          <p:cNvPr id="95" name="Google Shape;95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Lead Identification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Lead Scoring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Customer Profiling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Email &amp; Chat Automation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Sales Forecasting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Meeting Scheduling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CRM Integration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Real-Time Analytics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Real-Time Example</a:t>
            </a:r>
            <a:endParaRPr/>
          </a:p>
        </p:txBody>
      </p:sp>
      <p:sp>
        <p:nvSpPr>
          <p:cNvPr id="101" name="Google Shape;101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50">
                <a:latin typeface="Times New Roman"/>
                <a:ea typeface="Times New Roman"/>
                <a:cs typeface="Times New Roman"/>
                <a:sym typeface="Times New Roman"/>
              </a:rPr>
              <a:t>Scenario</a:t>
            </a:r>
            <a:endParaRPr b="1"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A software company sells cloud-based accounting software to small businesses.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50">
                <a:latin typeface="Times New Roman"/>
                <a:ea typeface="Times New Roman"/>
                <a:cs typeface="Times New Roman"/>
                <a:sym typeface="Times New Roman"/>
              </a:rPr>
              <a:t>Step 1: Lead Discovery</a:t>
            </a:r>
            <a:endParaRPr b="1"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The AI platform scans business directories, LinkedIn, company websites, and online forms to identify businesses that may need accounting software.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Example Lead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Company: ABC Traders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Industry: Retail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Employees: 60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Location: Chennai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Annual Revenue: ₹15 Crore </a:t>
            </a:r>
            <a:endParaRPr sz="3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2efc1eada_0_0"/>
          <p:cNvSpPr txBox="1"/>
          <p:nvPr>
            <p:ph idx="1" type="body"/>
          </p:nvPr>
        </p:nvSpPr>
        <p:spPr>
          <a:xfrm>
            <a:off x="457200" y="703375"/>
            <a:ext cx="8229600" cy="54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50">
                <a:latin typeface="Times New Roman"/>
                <a:ea typeface="Times New Roman"/>
                <a:cs typeface="Times New Roman"/>
                <a:sym typeface="Times New Roman"/>
              </a:rPr>
              <a:t>Step 2: Lead Intelligence</a:t>
            </a:r>
            <a:endParaRPr b="1" sz="2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The AI analyzes available information and generates insights: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			Result</a:t>
            </a:r>
            <a:endParaRPr b="1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Size		Medium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Used		Excel-based accounting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Hiring Activity		Hiring accountants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Visits		6 visits in last week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Opens			5 out of 6 emails opened</a:t>
            </a:r>
            <a:endParaRPr sz="4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2efc1eada_0_18"/>
          <p:cNvSpPr txBox="1"/>
          <p:nvPr>
            <p:ph idx="1" type="body"/>
          </p:nvPr>
        </p:nvSpPr>
        <p:spPr>
          <a:xfrm>
            <a:off x="457200" y="498225"/>
            <a:ext cx="8229600" cy="56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7752"/>
              <a:buFont typeface="Arial"/>
              <a:buNone/>
            </a:pPr>
            <a:r>
              <a:rPr b="1" lang="en-US" sz="3150">
                <a:latin typeface="Times New Roman"/>
                <a:ea typeface="Times New Roman"/>
                <a:cs typeface="Times New Roman"/>
                <a:sym typeface="Times New Roman"/>
              </a:rPr>
              <a:t>Step 3: AI Lead Score</a:t>
            </a:r>
            <a:endParaRPr b="1" sz="3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9640"/>
              <a:buFont typeface="Arial"/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The platform calculates the probability of conversion.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64865"/>
              <a:buNone/>
            </a:pPr>
            <a:r>
              <a:rPr b="1"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						Score</a:t>
            </a:r>
            <a:endParaRPr b="1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Fit					25/25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Engagement						30/30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Budget						20/20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Maker Interaction			20/20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Buying Intent					5/5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9896"/>
              <a:buNone/>
            </a:pPr>
            <a:r>
              <a:t/>
            </a:r>
            <a:endParaRPr sz="3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SzPct val="92664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Final Lead Score = 100/100 (Hot Lead)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2efc1eada_0_28"/>
          <p:cNvSpPr txBox="1"/>
          <p:nvPr>
            <p:ph idx="1" type="body"/>
          </p:nvPr>
        </p:nvSpPr>
        <p:spPr>
          <a:xfrm>
            <a:off x="457200" y="615450"/>
            <a:ext cx="8229600" cy="55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50">
                <a:latin typeface="Times New Roman"/>
                <a:ea typeface="Times New Roman"/>
                <a:cs typeface="Times New Roman"/>
                <a:sym typeface="Times New Roman"/>
              </a:rPr>
              <a:t>Step 4: AI Recommendation</a:t>
            </a:r>
            <a:endParaRPr b="1" sz="3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The AI assistant suggests: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Contact the Finance Manager today.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Offer a free 14-day product trial.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Highlight GST compliance and automated invoice generation.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Schedule a live demo within 24 hours.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2efc1eada_0_33"/>
          <p:cNvSpPr txBox="1"/>
          <p:nvPr>
            <p:ph idx="1" type="body"/>
          </p:nvPr>
        </p:nvSpPr>
        <p:spPr>
          <a:xfrm>
            <a:off x="457200" y="674075"/>
            <a:ext cx="8229600" cy="54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6635"/>
              <a:buFont typeface="Arial"/>
              <a:buNone/>
            </a:pPr>
            <a:r>
              <a:rPr b="1" lang="en-US" sz="2550">
                <a:latin typeface="Times New Roman"/>
                <a:ea typeface="Times New Roman"/>
                <a:cs typeface="Times New Roman"/>
                <a:sym typeface="Times New Roman"/>
              </a:rPr>
              <a:t>Step 5: Automated Personalized Email</a:t>
            </a:r>
            <a:endParaRPr b="1"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Subject: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Simplify Your Accounting with AI-Powered Software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Dear Mr. Kumar,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 noticed that your company is expanding and may benefit from a modern accounting solution. Our AI-powered platform helps businesses automate GST filing, invoice generation, and financial reporting.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Would you be available for a 20-minute product demonstration this week?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Best Regards,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Sales Team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608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2efc1eada_0_38"/>
          <p:cNvSpPr txBox="1"/>
          <p:nvPr>
            <p:ph idx="1" type="body"/>
          </p:nvPr>
        </p:nvSpPr>
        <p:spPr>
          <a:xfrm>
            <a:off x="457200" y="611375"/>
            <a:ext cx="8229600" cy="55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450">
                <a:latin typeface="Times New Roman"/>
                <a:ea typeface="Times New Roman"/>
                <a:cs typeface="Times New Roman"/>
                <a:sym typeface="Times New Roman"/>
              </a:rPr>
              <a:t>Step 6: Sales Outcome</a:t>
            </a:r>
            <a:endParaRPr b="1" sz="2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AI						After AI</a:t>
            </a:r>
            <a:endParaRPr b="1"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lead search		AI automatically identifies leads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emails			Personalized emails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 attention to all leads	Priority given to high-value leads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conversion rate		Higher conversion rate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Time-consuming follow-ups	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reminders and follow-ups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2efc1eada_0_43"/>
          <p:cNvSpPr txBox="1"/>
          <p:nvPr>
            <p:ph idx="1" type="body"/>
          </p:nvPr>
        </p:nvSpPr>
        <p:spPr>
          <a:xfrm>
            <a:off x="457200" y="630125"/>
            <a:ext cx="8229600" cy="54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800"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endParaRPr b="1"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Increases sales productivity.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Improves lead conversion rates.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Reduces manual work for sales teams.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Provides data-driven decision-making.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Enhances customer engagement through personalized communication.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Predicts customer buying intent more accurately.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Saves time by automating repetitive sales tasks.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2efc1eada_0_48"/>
          <p:cNvSpPr txBox="1"/>
          <p:nvPr>
            <p:ph idx="1" type="body"/>
          </p:nvPr>
        </p:nvSpPr>
        <p:spPr>
          <a:xfrm>
            <a:off x="457200" y="600800"/>
            <a:ext cx="8229600" cy="5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Real-World Examples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Many organizations use AI-powered sales and lead intelligence platforms, including: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Salesforce Einstein AI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HubSpot AI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Zoho Zia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Microsoft Dynamics 365 Sales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2efc1eada_0_63"/>
          <p:cNvSpPr txBox="1"/>
          <p:nvPr>
            <p:ph type="title"/>
          </p:nvPr>
        </p:nvSpPr>
        <p:spPr>
          <a:xfrm>
            <a:off x="457200" y="210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Lead Management &amp; Prospect Database  - Module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g3f2efc1eada_0_6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Create and manage prospect and customer records.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Store company profiles, contact details, and engagement history.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Track lead lifecycle and sales stages.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2efc1eada_0_68"/>
          <p:cNvSpPr txBox="1"/>
          <p:nvPr>
            <p:ph idx="1" type="body"/>
          </p:nvPr>
        </p:nvSpPr>
        <p:spPr>
          <a:xfrm>
            <a:off x="457200" y="205150"/>
            <a:ext cx="8229600" cy="5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4072"/>
              <a:buFont typeface="Arial"/>
              <a:buNone/>
            </a:pPr>
            <a:r>
              <a:rPr b="1" lang="en-US" sz="3229">
                <a:latin typeface="Times New Roman"/>
                <a:ea typeface="Times New Roman"/>
                <a:cs typeface="Times New Roman"/>
                <a:sym typeface="Times New Roman"/>
              </a:rPr>
              <a:t>Step 1: Lead Registration</a:t>
            </a:r>
            <a:endParaRPr b="1" sz="32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A new lead enters the system through various sources such as: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Company website contact form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Social media advertisements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Email campaigns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LinkedIn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Trade shows or exhibitions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Sales representative manual entry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3576"/>
              <a:buNone/>
            </a:pPr>
            <a:r>
              <a:rPr b="1" lang="en-US" sz="2779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277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8345"/>
              <a:buNone/>
            </a:pPr>
            <a:r>
              <a:rPr b="1"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					Value</a:t>
            </a:r>
            <a:endParaRPr b="1"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 ID					L001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Name				ABC Traders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 Person				Rahul Kumar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					rahul@abctraders.com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					+91-9876543210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					Retail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					Website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SzPct val="83697"/>
              <a:buNone/>
            </a:pPr>
            <a:r>
              <a:rPr b="1" lang="en-US" sz="2775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775">
                <a:latin typeface="Times New Roman"/>
                <a:ea typeface="Times New Roman"/>
                <a:cs typeface="Times New Roman"/>
                <a:sym typeface="Times New Roman"/>
              </a:rPr>
              <a:t> A new lead record is created in the prospect database.</a:t>
            </a:r>
            <a:endParaRPr sz="277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efc1eada_0_73"/>
          <p:cNvSpPr txBox="1"/>
          <p:nvPr>
            <p:ph idx="1" type="body"/>
          </p:nvPr>
        </p:nvSpPr>
        <p:spPr>
          <a:xfrm>
            <a:off x="457200" y="542200"/>
            <a:ext cx="8229600" cy="5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Step 2: Company Profile Creation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AI platform stores detailed company information.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Information Stored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Company name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Industry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Business size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Annual revenue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Location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Number of employees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Website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Products/Services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				ABC Traders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				Retail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Employees				60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				15 Crore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City				Chennai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				www.abctraders.com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Complete company profile available for future analysis.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2efc1eada_0_88"/>
          <p:cNvSpPr txBox="1"/>
          <p:nvPr>
            <p:ph idx="1" type="body"/>
          </p:nvPr>
        </p:nvSpPr>
        <p:spPr>
          <a:xfrm>
            <a:off x="457200" y="600800"/>
            <a:ext cx="8229600" cy="5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 3: Contact Management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platform records all important contacts within the company.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95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				Position			Email			Phone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Rahul Kumar			Finance Manager	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rahul@abctraders.com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+91-9876543210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Priya Sharma			IT Manager		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priya@abctraders.com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+91-9876543200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Multiple contacts can be linked to one company.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2efc1eada_0_94"/>
          <p:cNvSpPr txBox="1"/>
          <p:nvPr>
            <p:ph idx="1" type="body"/>
          </p:nvPr>
        </p:nvSpPr>
        <p:spPr>
          <a:xfrm>
            <a:off x="457200" y="718050"/>
            <a:ext cx="8229600" cy="54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2030">
                <a:latin typeface="Times New Roman"/>
                <a:ea typeface="Times New Roman"/>
                <a:cs typeface="Times New Roman"/>
                <a:sym typeface="Times New Roman"/>
              </a:rPr>
              <a:t>Step 4: Engagement History</a:t>
            </a:r>
            <a:endParaRPr b="1" sz="20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Every customer interaction is automatically stored.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1648">
                <a:latin typeface="Times New Roman"/>
                <a:ea typeface="Times New Roman"/>
                <a:cs typeface="Times New Roman"/>
                <a:sym typeface="Times New Roman"/>
              </a:rPr>
              <a:t>Activities Recorded</a:t>
            </a:r>
            <a:endParaRPr b="1" sz="164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Phone calls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Emails sent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Emails opened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Website visits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Product demo requests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Meetings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Chatbot conversations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-US" sz="1648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164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	Activity		Status</a:t>
            </a:r>
            <a:endParaRPr b="1"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June	Website Visit	Completed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June	Email Sent		Delivered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June	Email Opened	Yes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June	Product Demo	Completed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June	Follow-up Call	Pending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9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Complete interaction history is maintained.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72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2efc1eada_0_100"/>
          <p:cNvSpPr txBox="1"/>
          <p:nvPr>
            <p:ph idx="1" type="body"/>
          </p:nvPr>
        </p:nvSpPr>
        <p:spPr>
          <a:xfrm>
            <a:off x="457200" y="337050"/>
            <a:ext cx="8229600" cy="57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1704"/>
              <a:buFont typeface="Arial"/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Step 5: AI Lead Analysis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9952"/>
              <a:buFont typeface="Arial"/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The AI engine analyzes customer behavior using collected data.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4280"/>
              <a:buFont typeface="Arial"/>
              <a:buNone/>
            </a:pPr>
            <a:r>
              <a:rPr b="1" lang="en-US" sz="1850">
                <a:latin typeface="Times New Roman"/>
                <a:ea typeface="Times New Roman"/>
                <a:cs typeface="Times New Roman"/>
                <a:sym typeface="Times New Roman"/>
              </a:rPr>
              <a:t>AI Checks</a:t>
            </a:r>
            <a:endParaRPr b="1"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Number of website visits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Email open rate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Product pages viewed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Demo requests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Previous purchases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Industry match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Company size </a:t>
            </a:r>
            <a:endParaRPr sz="240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94555"/>
              <a:buNone/>
            </a:pPr>
            <a:r>
              <a:rPr b="1" lang="en-US" sz="2058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1989"/>
              <a:buNone/>
            </a:pPr>
            <a:r>
              <a:rPr b="1"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			Result</a:t>
            </a:r>
            <a:endParaRPr b="1"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989"/>
              <a:buNone/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Visits			8</a:t>
            </a:r>
            <a:endParaRPr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989"/>
              <a:buNone/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Opens			6</a:t>
            </a:r>
            <a:endParaRPr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989"/>
              <a:buNone/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 Request			Yes</a:t>
            </a:r>
            <a:endParaRPr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989"/>
              <a:buNone/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Buying Intent			High</a:t>
            </a:r>
            <a:endParaRPr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SzPct val="84606"/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AI identifies highly interested prospects.</a:t>
            </a:r>
            <a:endParaRPr sz="4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2efc1eada_0_106"/>
          <p:cNvSpPr txBox="1"/>
          <p:nvPr>
            <p:ph idx="1" type="body"/>
          </p:nvPr>
        </p:nvSpPr>
        <p:spPr>
          <a:xfrm>
            <a:off x="457200" y="234450"/>
            <a:ext cx="8229600" cy="5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Step 6: Lead Scoring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The AI assigns a score based on the likelihood of conversion.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n-US" sz="2050">
                <a:latin typeface="Times New Roman"/>
                <a:ea typeface="Times New Roman"/>
                <a:cs typeface="Times New Roman"/>
                <a:sym typeface="Times New Roman"/>
              </a:rPr>
              <a:t>Example Formula</a:t>
            </a:r>
            <a:endParaRPr b="1"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Lead Score =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Company Fit = 30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Customer Engagement = 30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Budget = 20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Decision Maker Activity = 10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Buying Intent = 10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Total Score = 100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14467"/>
              <a:buNone/>
            </a:pPr>
            <a:r>
              <a:rPr b="1" lang="en-US" sz="1850">
                <a:latin typeface="Times New Roman"/>
                <a:ea typeface="Times New Roman"/>
                <a:cs typeface="Times New Roman"/>
                <a:sym typeface="Times New Roman"/>
              </a:rPr>
              <a:t>Classification</a:t>
            </a:r>
            <a:endParaRPr b="1"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2592"/>
              <a:buNone/>
            </a:pPr>
            <a:r>
              <a:rPr b="1"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			Category</a:t>
            </a:r>
            <a:endParaRPr b="1"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92"/>
              <a:buNone/>
            </a:pPr>
            <a:r>
              <a:rPr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81–100			Hot Lead</a:t>
            </a:r>
            <a:endParaRPr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92"/>
              <a:buNone/>
            </a:pPr>
            <a:r>
              <a:rPr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61–80			Warm Lead</a:t>
            </a:r>
            <a:endParaRPr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92"/>
              <a:buNone/>
            </a:pPr>
            <a:r>
              <a:rPr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41–60			Cold Lead</a:t>
            </a:r>
            <a:endParaRPr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92"/>
              <a:buNone/>
            </a:pPr>
            <a:r>
              <a:rPr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0–40			Low Priority</a:t>
            </a:r>
            <a:endParaRPr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ct val="53907"/>
              <a:buFont typeface="Arial"/>
              <a:buNone/>
            </a:pPr>
            <a:r>
              <a:rPr b="1" lang="en-US" sz="204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041">
                <a:latin typeface="Times New Roman"/>
                <a:ea typeface="Times New Roman"/>
                <a:cs typeface="Times New Roman"/>
                <a:sym typeface="Times New Roman"/>
              </a:rPr>
              <a:t> Sales team focuses first on Hot Leads.</a:t>
            </a:r>
            <a:endParaRPr b="1" sz="269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2efc1eada_0_1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15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2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 ID		Current Stage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L001		Product Demo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2efc1eada_0_112"/>
          <p:cNvSpPr txBox="1"/>
          <p:nvPr>
            <p:ph idx="1" type="body"/>
          </p:nvPr>
        </p:nvSpPr>
        <p:spPr>
          <a:xfrm>
            <a:off x="457200" y="615450"/>
            <a:ext cx="8229600" cy="55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 7: Sales Stage Tracking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Each lead moves through predefined sales stages.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50">
                <a:latin typeface="Times New Roman"/>
                <a:ea typeface="Times New Roman"/>
                <a:cs typeface="Times New Roman"/>
                <a:sym typeface="Times New Roman"/>
              </a:rPr>
              <a:t>Sales Lifecycle</a:t>
            </a:r>
            <a:endParaRPr b="1"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3" name="Google Shape;183;g3f2efc1eada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2169600"/>
            <a:ext cx="4572001" cy="3956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9" name="Google Shape;189;p4"/>
          <p:cNvPicPr preferRelativeResize="0"/>
          <p:nvPr/>
        </p:nvPicPr>
        <p:blipFill rotWithShape="1">
          <a:blip r:embed="rId3">
            <a:alphaModFix/>
          </a:blip>
          <a:srcRect b="30181" l="12500" r="12500" t="21943"/>
          <a:stretch/>
        </p:blipFill>
        <p:spPr>
          <a:xfrm>
            <a:off x="221942" y="550416"/>
            <a:ext cx="8708993" cy="5992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Project Structure</a:t>
            </a:r>
            <a:endParaRPr/>
          </a:p>
        </p:txBody>
      </p:sp>
      <p:sp>
        <p:nvSpPr>
          <p:cNvPr id="195" name="Google Shape;19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AI_Sales_Intelligence/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│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├── app.py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├── database.py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├── sales.db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│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├── templates/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│      index.html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│      add_lead.html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│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├── static/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│      style.css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│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└── requirements.txt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Step 1: Install Required Packages</a:t>
            </a:r>
            <a:endParaRPr/>
          </a:p>
        </p:txBody>
      </p:sp>
      <p:sp>
        <p:nvSpPr>
          <p:cNvPr id="201" name="Google Shape;20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pip install flask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>
            <p:ph type="title"/>
          </p:nvPr>
        </p:nvSpPr>
        <p:spPr>
          <a:xfrm>
            <a:off x="457200" y="132203"/>
            <a:ext cx="8229600" cy="473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500"/>
              <a:buNone/>
            </a:pPr>
            <a:r>
              <a:rPr b="1" lang="en-US" sz="3200"/>
              <a:t>Step 2: Create Database (database.py)</a:t>
            </a:r>
            <a:endParaRPr b="1" sz="3200"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253388" y="848299"/>
            <a:ext cx="8433412" cy="6009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import sqlite3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conn = sqlite3.connect("sales.db")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cursor = conn.cursor()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cursor.execute("""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CREATE TABLE IF NOT EXISTS leads(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id INTEGER PRIMARY KEY AUTOINCREMENT,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company TEXT,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contact TEXT,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designation TEXT,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industry TEXT,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employees TEXT,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revenue TEXT,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location TEXT,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funding TEXT,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technology TEXT,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score INTEGER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""")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conn.commit()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conn.close()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print("Database Created Successfully")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Run: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python database.py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/>
          <p:nvPr>
            <p:ph type="title"/>
          </p:nvPr>
        </p:nvSpPr>
        <p:spPr>
          <a:xfrm>
            <a:off x="457200" y="132202"/>
            <a:ext cx="8229600" cy="605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3200"/>
              <a:t>Step 3: Flask Backend (app.py)</a:t>
            </a:r>
            <a:endParaRPr b="1" sz="3200"/>
          </a:p>
        </p:txBody>
      </p:sp>
      <p:sp>
        <p:nvSpPr>
          <p:cNvPr id="218" name="Google Shape;218;p22"/>
          <p:cNvSpPr txBox="1"/>
          <p:nvPr>
            <p:ph idx="1" type="body"/>
          </p:nvPr>
        </p:nvSpPr>
        <p:spPr>
          <a:xfrm>
            <a:off x="457200" y="936434"/>
            <a:ext cx="8229600" cy="5189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rPr lang="en-US"/>
              <a:t>from flask import Flask, render_template, request, redirect</a:t>
            </a:r>
            <a:br>
              <a:rPr lang="en-US"/>
            </a:br>
            <a:r>
              <a:rPr lang="en-US"/>
              <a:t>import sqlite3</a:t>
            </a:r>
            <a:br>
              <a:rPr lang="en-US"/>
            </a:br>
            <a:br>
              <a:rPr lang="en-US"/>
            </a:br>
            <a:r>
              <a:rPr lang="en-US"/>
              <a:t>app = Flask(__name__)</a:t>
            </a:r>
            <a:br>
              <a:rPr lang="en-US"/>
            </a:br>
            <a:br>
              <a:rPr lang="en-US"/>
            </a:br>
            <a:r>
              <a:rPr lang="en-US"/>
              <a:t>DATABASE = "sales.db"</a:t>
            </a: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def get_db():</a:t>
            </a:r>
            <a:br>
              <a:rPr lang="en-US"/>
            </a:br>
            <a:r>
              <a:rPr lang="en-US"/>
              <a:t>conn = sqlite3.connect(DATABASE)</a:t>
            </a:r>
            <a:br>
              <a:rPr lang="en-US"/>
            </a:br>
            <a:r>
              <a:rPr lang="en-US"/>
              <a:t>conn.row_factory = sqlite3.Row</a:t>
            </a:r>
            <a:br>
              <a:rPr lang="en-US"/>
            </a:br>
            <a:r>
              <a:rPr lang="en-US"/>
              <a:t>return conn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>
            <p:ph idx="1" type="body"/>
          </p:nvPr>
        </p:nvSpPr>
        <p:spPr>
          <a:xfrm>
            <a:off x="457200" y="308472"/>
            <a:ext cx="8229600" cy="5817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1"/>
              <a:buNone/>
            </a:pPr>
            <a:r>
              <a:rPr lang="en-US"/>
              <a:t>@app.route("/")</a:t>
            </a:r>
            <a:br>
              <a:rPr lang="en-US"/>
            </a:br>
            <a:r>
              <a:rPr lang="en-US"/>
              <a:t>def home():</a:t>
            </a:r>
            <a:br>
              <a:rPr lang="en-US"/>
            </a:br>
            <a:br>
              <a:rPr lang="en-US"/>
            </a:br>
            <a:r>
              <a:rPr lang="en-US"/>
              <a:t>conn = get_db()</a:t>
            </a:r>
            <a:br>
              <a:rPr lang="en-US"/>
            </a:br>
            <a:br>
              <a:rPr lang="en-US"/>
            </a:br>
            <a:r>
              <a:rPr lang="en-US"/>
              <a:t>leads = conn.execute("SELECT * FROM leads").fetchall()</a:t>
            </a:r>
            <a:br>
              <a:rPr lang="en-US"/>
            </a:br>
            <a:br>
              <a:rPr lang="en-US"/>
            </a:br>
            <a:r>
              <a:rPr lang="en-US"/>
              <a:t>selected = None</a:t>
            </a:r>
            <a:br>
              <a:rPr lang="en-US"/>
            </a:br>
            <a:br>
              <a:rPr lang="en-US"/>
            </a:br>
            <a:r>
              <a:rPr lang="en-US"/>
              <a:t>if len(leads) &gt; 0:</a:t>
            </a:r>
            <a:br>
              <a:rPr lang="en-US"/>
            </a:br>
            <a:r>
              <a:rPr lang="en-US"/>
              <a:t>selected = leads[0]</a:t>
            </a:r>
            <a:br>
              <a:rPr lang="en-US"/>
            </a:br>
            <a:br>
              <a:rPr lang="en-US"/>
            </a:br>
            <a:r>
              <a:rPr lang="en-US"/>
              <a:t>conn.close()</a:t>
            </a:r>
            <a:br>
              <a:rPr lang="en-US"/>
            </a:br>
            <a:br>
              <a:rPr lang="en-US"/>
            </a:br>
            <a:r>
              <a:rPr lang="en-US"/>
              <a:t>return render_template("index.html",</a:t>
            </a:r>
            <a:br>
              <a:rPr lang="en-US"/>
            </a:br>
            <a:r>
              <a:rPr lang="en-US"/>
              <a:t>leads=leads,</a:t>
            </a:r>
            <a:br>
              <a:rPr lang="en-US"/>
            </a:br>
            <a:r>
              <a:rPr lang="en-US"/>
              <a:t>selected=selected)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/>
          <p:nvPr>
            <p:ph idx="1" type="body"/>
          </p:nvPr>
        </p:nvSpPr>
        <p:spPr>
          <a:xfrm>
            <a:off x="457200" y="859316"/>
            <a:ext cx="8229600" cy="5266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rPr lang="en-US"/>
              <a:t>@app.route("/add", methods=["GET", "POST"])</a:t>
            </a:r>
            <a:br>
              <a:rPr lang="en-US"/>
            </a:br>
            <a:r>
              <a:rPr lang="en-US"/>
              <a:t>def add():</a:t>
            </a:r>
            <a:br>
              <a:rPr lang="en-US"/>
            </a:br>
            <a:br>
              <a:rPr lang="en-US"/>
            </a:br>
            <a:r>
              <a:rPr lang="en-US"/>
              <a:t>if request.method == "POST":</a:t>
            </a:r>
            <a:br>
              <a:rPr lang="en-US"/>
            </a:br>
            <a:br>
              <a:rPr lang="en-US"/>
            </a:br>
            <a:r>
              <a:rPr lang="en-US"/>
              <a:t>conn = get_db()</a:t>
            </a:r>
            <a:br>
              <a:rPr lang="en-US"/>
            </a:br>
            <a:br>
              <a:rPr lang="en-US"/>
            </a:br>
            <a:r>
              <a:rPr lang="en-US"/>
              <a:t>conn.execute("""</a:t>
            </a:r>
            <a:br>
              <a:rPr lang="en-US"/>
            </a:br>
            <a:br>
              <a:rPr lang="en-US"/>
            </a:br>
            <a:r>
              <a:rPr lang="en-US"/>
              <a:t>INSERT INTO leads</a:t>
            </a:r>
            <a:br>
              <a:rPr lang="en-US"/>
            </a:br>
            <a:r>
              <a:rPr lang="en-US"/>
              <a:t>(company,contact,designation,industry,</a:t>
            </a:r>
            <a:br>
              <a:rPr lang="en-US"/>
            </a:br>
            <a:r>
              <a:rPr lang="en-US"/>
              <a:t>employees,revenue,location,funding,</a:t>
            </a:r>
            <a:br>
              <a:rPr lang="en-US"/>
            </a:br>
            <a:r>
              <a:rPr lang="en-US"/>
              <a:t>technology,score)</a:t>
            </a:r>
            <a:br>
              <a:rPr lang="en-US"/>
            </a:br>
            <a:br>
              <a:rPr lang="en-US"/>
            </a:br>
            <a:r>
              <a:rPr lang="en-US"/>
              <a:t>VALUES(?,?,?,?,?,?,?,?,?,?)</a:t>
            </a:r>
            <a:br>
              <a:rPr lang="en-US"/>
            </a:br>
            <a:br>
              <a:rPr lang="en-US"/>
            </a:br>
            <a:r>
              <a:rPr lang="en-US"/>
              <a:t>""",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idx="1" type="body"/>
          </p:nvPr>
        </p:nvSpPr>
        <p:spPr>
          <a:xfrm>
            <a:off x="457200" y="440676"/>
            <a:ext cx="8229600" cy="5960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request.form["company"],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request.form["contact"],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request.form["designation"],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request.form["industry"],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request.form["employees"],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request.form["revenue"],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request.form["location"],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request.form["funding"],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request.form["technology"],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request.form["score"]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))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conn.commit()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conn.close()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return redirect("/")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return render_template("add_lead.html")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if __name__ == "__main__":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app.run(debug=True)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 txBox="1"/>
          <p:nvPr>
            <p:ph type="title"/>
          </p:nvPr>
        </p:nvSpPr>
        <p:spPr>
          <a:xfrm>
            <a:off x="457200" y="176270"/>
            <a:ext cx="8229600" cy="572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Step 4: Add Lead Page (templates/add_lead.html)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6"/>
          <p:cNvSpPr txBox="1"/>
          <p:nvPr>
            <p:ph idx="1" type="body"/>
          </p:nvPr>
        </p:nvSpPr>
        <p:spPr>
          <a:xfrm>
            <a:off x="457200" y="870334"/>
            <a:ext cx="8229600" cy="5255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t/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t/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t/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&lt;title&gt;Add Lead&lt;/title&gt;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t/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t/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t/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&lt;h2&gt;Add New Lead&lt;/h2&gt;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t/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&lt;form method="POST"&gt;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t/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Company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t/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&lt;input type="text" name="company"&gt;&lt;br&gt;&lt;br&gt;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t/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Contact Person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t/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8571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&lt;input type="text" name="contact"&gt;&lt;br&gt;&lt;br&gt;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4062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>
            <p:ph idx="1" type="body"/>
          </p:nvPr>
        </p:nvSpPr>
        <p:spPr>
          <a:xfrm>
            <a:off x="457200" y="319490"/>
            <a:ext cx="8229600" cy="6224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rPr lang="en-US" sz="5600">
                <a:latin typeface="Times New Roman"/>
                <a:ea typeface="Times New Roman"/>
                <a:cs typeface="Times New Roman"/>
                <a:sym typeface="Times New Roman"/>
              </a:rPr>
              <a:t>Designation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t/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rPr lang="en-US" sz="5600">
                <a:latin typeface="Times New Roman"/>
                <a:ea typeface="Times New Roman"/>
                <a:cs typeface="Times New Roman"/>
                <a:sym typeface="Times New Roman"/>
              </a:rPr>
              <a:t>&lt;input type="text" name="designation"&gt;&lt;br&gt;&lt;br&gt;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t/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rPr lang="en-US" sz="5600">
                <a:latin typeface="Times New Roman"/>
                <a:ea typeface="Times New Roman"/>
                <a:cs typeface="Times New Roman"/>
                <a:sym typeface="Times New Roman"/>
              </a:rPr>
              <a:t>Industry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t/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rPr lang="en-US" sz="5600">
                <a:latin typeface="Times New Roman"/>
                <a:ea typeface="Times New Roman"/>
                <a:cs typeface="Times New Roman"/>
                <a:sym typeface="Times New Roman"/>
              </a:rPr>
              <a:t>&lt;input type="text" name="industry"&gt;&lt;br&gt;&lt;br&gt;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t/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rPr lang="en-US" sz="5600">
                <a:latin typeface="Times New Roman"/>
                <a:ea typeface="Times New Roman"/>
                <a:cs typeface="Times New Roman"/>
                <a:sym typeface="Times New Roman"/>
              </a:rPr>
              <a:t>Employees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t/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rPr lang="en-US" sz="5600">
                <a:latin typeface="Times New Roman"/>
                <a:ea typeface="Times New Roman"/>
                <a:cs typeface="Times New Roman"/>
                <a:sym typeface="Times New Roman"/>
              </a:rPr>
              <a:t>&lt;input type="text" name="employees"&gt;&lt;br&gt;&lt;br&gt;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t/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rPr lang="en-US" sz="5600">
                <a:latin typeface="Times New Roman"/>
                <a:ea typeface="Times New Roman"/>
                <a:cs typeface="Times New Roman"/>
                <a:sym typeface="Times New Roman"/>
              </a:rPr>
              <a:t>Revenue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t/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rPr lang="en-US" sz="5600">
                <a:latin typeface="Times New Roman"/>
                <a:ea typeface="Times New Roman"/>
                <a:cs typeface="Times New Roman"/>
                <a:sym typeface="Times New Roman"/>
              </a:rPr>
              <a:t>&lt;input type="text" name="revenue"&gt;&lt;br&gt;&lt;br&gt;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t/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rPr lang="en-US" sz="5600">
                <a:latin typeface="Times New Roman"/>
                <a:ea typeface="Times New Roman"/>
                <a:cs typeface="Times New Roman"/>
                <a:sym typeface="Times New Roman"/>
              </a:rPr>
              <a:t>Location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t/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rPr lang="en-US" sz="5600">
                <a:latin typeface="Times New Roman"/>
                <a:ea typeface="Times New Roman"/>
                <a:cs typeface="Times New Roman"/>
                <a:sym typeface="Times New Roman"/>
              </a:rPr>
              <a:t>&lt;input type="text" name="location"&gt;&lt;br&gt;&lt;br&gt;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r>
              <a:t/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/>
          <p:nvPr>
            <p:ph idx="1" type="body"/>
          </p:nvPr>
        </p:nvSpPr>
        <p:spPr>
          <a:xfrm>
            <a:off x="457200" y="716096"/>
            <a:ext cx="8229600" cy="541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Funding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&lt;input type="text" name="funding"&gt;&lt;br&gt;&lt;br&gt;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&lt;input type="text" name="technology"&gt;&lt;br&gt;&lt;br&gt;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Qualification Score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&lt;input type="number" name="score"&gt;&lt;br&gt;&lt;br&gt;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&lt;input type="submit" value="Save"&gt;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&lt;/form&gt;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&lt;/html</a:t>
            </a:r>
            <a:r>
              <a:rPr lang="en-US"/>
              <a:t>&gt;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3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>
            <p:ph type="title"/>
          </p:nvPr>
        </p:nvSpPr>
        <p:spPr>
          <a:xfrm>
            <a:off x="457200" y="274638"/>
            <a:ext cx="8229600" cy="661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Step 5: Dashboard (templates/index.html)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9"/>
          <p:cNvSpPr txBox="1"/>
          <p:nvPr>
            <p:ph idx="1" type="body"/>
          </p:nvPr>
        </p:nvSpPr>
        <p:spPr>
          <a:xfrm>
            <a:off x="457200" y="1299990"/>
            <a:ext cx="8229600" cy="4826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2026-07-01T06:21:38Z</dcterms:created>
  <dc:creator>EXAM</dc:creator>
</cp:coreProperties>
</file>