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84" r:id="rId4"/>
    <p:sldId id="286" r:id="rId5"/>
    <p:sldId id="285" r:id="rId6"/>
    <p:sldId id="257" r:id="rId7"/>
    <p:sldId id="265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361" autoAdjust="0"/>
    <p:restoredTop sz="94660"/>
  </p:normalViewPr>
  <p:slideViewPr>
    <p:cSldViewPr snapToGrid="0">
      <p:cViewPr varScale="1">
        <p:scale>
          <a:sx n="80" d="100"/>
          <a:sy n="80" d="100"/>
        </p:scale>
        <p:origin x="-108" y="-5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EC79AF7-0DD1-AF49-8690-CF97EC14F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9BFC5B89-7734-0318-408D-D260DBE5A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FC44DE6-76B3-9D5C-5FC6-52A0D4A5F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8A97-E521-4BAD-A5A3-A3C00DE252A0}" type="datetimeFigureOut">
              <a:rPr lang="en-IN" smtClean="0"/>
              <a:pPr/>
              <a:t>01-01-2004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AA44078-1918-7400-52F6-2E4CAAE55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CCA408F-928F-BF93-DA70-E8F501ED9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07B-7AD4-40D2-929C-93CC33E331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715857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FD23FE4-9F29-8D23-DE54-C788466CA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195DE03-502C-1EA8-3993-D756ADE42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FF6E47E-67F3-FF36-EEE7-A1C681F84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8A97-E521-4BAD-A5A3-A3C00DE252A0}" type="datetimeFigureOut">
              <a:rPr lang="en-IN" smtClean="0"/>
              <a:pPr/>
              <a:t>01-01-2004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4FFE0DC-7D44-F541-D303-627F2A33E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16534C4-49A2-F72F-4628-2141D44AE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07B-7AD4-40D2-929C-93CC33E331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897126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1ED9584-5AD9-0E5E-CB83-D100C21E0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E4D0EB4-3D8A-70BD-D5B0-B1C026128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681CFE7-2B3D-A90F-6A42-517F0883D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8A97-E521-4BAD-A5A3-A3C00DE252A0}" type="datetimeFigureOut">
              <a:rPr lang="en-IN" smtClean="0"/>
              <a:pPr/>
              <a:t>01-01-2004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7A3AF6E-A039-7023-DFEC-43C2DBB24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5466027-D309-AE22-B6C1-D5951E2E2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07B-7AD4-40D2-929C-93CC33E331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666127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988056-84AF-FDA3-BFBA-24F653142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136B516-8955-AF65-9AA0-E0370E5F4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B13D525-DAAD-E823-DB55-78770418D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7324246-285D-84D3-51CB-26536EF38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8A97-E521-4BAD-A5A3-A3C00DE252A0}" type="datetimeFigureOut">
              <a:rPr lang="en-IN" smtClean="0"/>
              <a:pPr/>
              <a:t>01-01-2004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F69C792-1523-EA8A-8C51-4ABEF7648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B5C3F83-A8AB-1AC1-498A-68193FF9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07B-7AD4-40D2-929C-93CC33E331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050935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67569B-215F-F4FD-C1BA-5265F8054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F085331-B1FC-0A6B-D8C8-393194DC5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756527F-85FB-9E01-16B8-43BACA2FE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E5B0BCFA-DA02-356B-1E20-34675757F0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255B93CA-0EBD-EBDE-6FB2-E205EFCED1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4CEDA6DA-2337-9266-C61F-E61E85B4A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8A97-E521-4BAD-A5A3-A3C00DE252A0}" type="datetimeFigureOut">
              <a:rPr lang="en-IN" smtClean="0"/>
              <a:pPr/>
              <a:t>01-01-2004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C4DD5ED8-37B6-8B8C-C311-A9EB91E6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DFD39E7C-A7D7-1B2E-A384-91B3C6B7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07B-7AD4-40D2-929C-93CC33E331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117985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EC6F5DF-0218-7B92-7C8D-0D70708E9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36A877FC-CDA5-851B-A9D8-DFD098682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8A97-E521-4BAD-A5A3-A3C00DE252A0}" type="datetimeFigureOut">
              <a:rPr lang="en-IN" smtClean="0"/>
              <a:pPr/>
              <a:t>01-01-2004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41ABC632-7E3D-F73E-08D3-F41F6FBC6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F89EB5F-D48B-F60C-E9F7-9D8BFCF6F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07B-7AD4-40D2-929C-93CC33E331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935313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95E3FB1F-8A77-703E-A50F-289B572E0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8A97-E521-4BAD-A5A3-A3C00DE252A0}" type="datetimeFigureOut">
              <a:rPr lang="en-IN" smtClean="0"/>
              <a:pPr/>
              <a:t>01-01-2004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E38C1698-6B12-8B7E-43DD-160FED29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8382B33-71BB-90A6-87A1-0D41ADB49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07B-7AD4-40D2-929C-93CC33E331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986967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36B1876-5E7A-E781-9053-870A195ED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9AF5FBA-D265-EF2F-9173-8CBDE2491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61B0327-C96C-8B6E-02F3-39C91DB7B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C6327C6-BF99-B73B-4F5F-BCEF3E3BC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8A97-E521-4BAD-A5A3-A3C00DE252A0}" type="datetimeFigureOut">
              <a:rPr lang="en-IN" smtClean="0"/>
              <a:pPr/>
              <a:t>01-01-2004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82D2967-E00A-50D8-99CE-473DEC2B4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D65103D-CC15-4D9D-934E-3D105AC1A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07B-7AD4-40D2-929C-93CC33E331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087392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8A44076-DC31-F1A2-4A67-03A9594AE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42B942D-148D-6E69-9282-4EFF54B0DF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23926CF-9B92-B95D-CB4B-F87ACE3CF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4CA6107-121C-BD13-D764-BEC48B56E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8A97-E521-4BAD-A5A3-A3C00DE252A0}" type="datetimeFigureOut">
              <a:rPr lang="en-IN" smtClean="0"/>
              <a:pPr/>
              <a:t>01-01-2004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668A25D-D35D-9C3E-664E-B619FDEEE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0E5FBAA-D399-130A-1EF2-829CAEF8B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07B-7AD4-40D2-929C-93CC33E331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350729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C9B6F77-4701-C8A3-FABD-2DA8148F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B0A97D9-761C-2223-7F63-5FADE9F8A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2FA3518-CFE8-802D-D179-C4B36927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8A97-E521-4BAD-A5A3-A3C00DE252A0}" type="datetimeFigureOut">
              <a:rPr lang="en-IN" smtClean="0"/>
              <a:pPr/>
              <a:t>01-01-2004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14892E6-6E1C-B750-B134-383CD60D6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BA890BA-9638-9603-5A7C-78BCBE6D5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07B-7AD4-40D2-929C-93CC33E331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703474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C3F8FE9E-0F42-2E67-4DD2-AA5D5CB516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94E527C-41C1-73DF-B3A0-C0D1558C3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60D26D4-1AD7-B45F-7574-AF98A47D5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8A97-E521-4BAD-A5A3-A3C00DE252A0}" type="datetimeFigureOut">
              <a:rPr lang="en-IN" smtClean="0"/>
              <a:pPr/>
              <a:t>01-01-2004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0F5FDDB-0ABF-B153-434C-5A634348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7D2CE7A-99CA-1DB7-5D46-EA996301B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07B-7AD4-40D2-929C-93CC33E331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843316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54A084AA-D78C-6EBB-767D-9C26208FA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A642F19-D405-F9F8-FB06-5BBD299A3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C707EA3-77D0-04CD-562E-B3934DC7D4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F78A97-E521-4BAD-A5A3-A3C00DE252A0}" type="datetimeFigureOut">
              <a:rPr lang="en-IN" smtClean="0"/>
              <a:pPr/>
              <a:t>01-01-2004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E9FADD0-1E5D-4FF2-AA4D-5DD5F1E3C4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B0D9C7A-E3A6-B09A-1397-87AED7A385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AD407B-7AD4-40D2-929C-93CC33E331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683427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2566BD-817F-CC89-EB2B-7EB111D1C4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Matplotlib &amp; Seaborn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C6E81DD-6541-1FF8-66A3-B402B16DCC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r>
              <a:rPr lang="en-IN" sz="3600" dirty="0">
                <a:solidFill>
                  <a:srgbClr val="FF0000"/>
                </a:solidFill>
              </a:rPr>
              <a:t>Data Visualization in Python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15327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952D0CA-57AA-CC77-A807-203A9147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5642"/>
            <a:ext cx="10515600" cy="1531916"/>
          </a:xfrm>
        </p:spPr>
        <p:txBody>
          <a:bodyPr/>
          <a:lstStyle/>
          <a:p>
            <a:r>
              <a:rPr lang="en-US" dirty="0"/>
              <a:t>Data Visualization in Exploratory Data Analysis (EDA)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8EFAA7F-0FFB-D7D3-6A3A-F014A7F01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0067"/>
            <a:ext cx="10515600" cy="3657601"/>
          </a:xfrm>
        </p:spPr>
        <p:txBody>
          <a:bodyPr/>
          <a:lstStyle/>
          <a:p>
            <a:r>
              <a:rPr lang="en-US" dirty="0"/>
              <a:t>EDA is the first step in analyzing any dataset.</a:t>
            </a:r>
          </a:p>
          <a:p>
            <a:r>
              <a:rPr lang="en-US" dirty="0"/>
              <a:t>It helps you understand the structure, relationships, and patterns in the data.</a:t>
            </a:r>
          </a:p>
          <a:p>
            <a:r>
              <a:rPr lang="en-US" dirty="0"/>
              <a:t>It includes: Descriptive statistics (mean, median, std. deviation, etc.)Data visualization (graphs, plots, charts)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284400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7CA502E-0D48-A49F-53C6-B10A3C421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4390"/>
            <a:ext cx="10515600" cy="1156298"/>
          </a:xfrm>
        </p:spPr>
        <p:txBody>
          <a:bodyPr>
            <a:normAutofit/>
          </a:bodyPr>
          <a:lstStyle/>
          <a:p>
            <a:r>
              <a:rPr lang="en-US" b="1" dirty="0"/>
              <a:t>Role of Data Visualization in </a:t>
            </a:r>
            <a:r>
              <a:rPr lang="en-US" b="1" dirty="0" smtClean="0"/>
              <a:t>EDA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FA1FEA5-BFD2-4114-94E5-FCB757120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2555"/>
            <a:ext cx="10515600" cy="4134407"/>
          </a:xfrm>
        </p:spPr>
        <p:txBody>
          <a:bodyPr/>
          <a:lstStyle/>
          <a:p>
            <a:pPr>
              <a:buNone/>
            </a:pPr>
            <a:r>
              <a:rPr lang="en-US" dirty="0"/>
              <a:t>Visualization makes it easy to:</a:t>
            </a:r>
          </a:p>
          <a:p>
            <a:r>
              <a:rPr lang="en-US" dirty="0"/>
              <a:t>Detect </a:t>
            </a:r>
            <a:r>
              <a:rPr lang="en-US" b="1" dirty="0"/>
              <a:t>patterns and trends</a:t>
            </a:r>
            <a:endParaRPr lang="en-US" dirty="0"/>
          </a:p>
          <a:p>
            <a:r>
              <a:rPr lang="en-US" dirty="0"/>
              <a:t>Spot </a:t>
            </a:r>
            <a:r>
              <a:rPr lang="en-US" b="1" dirty="0"/>
              <a:t>outliers/anomalies</a:t>
            </a:r>
            <a:endParaRPr lang="en-US" dirty="0"/>
          </a:p>
          <a:p>
            <a:r>
              <a:rPr lang="en-US" dirty="0"/>
              <a:t>Understand </a:t>
            </a:r>
            <a:r>
              <a:rPr lang="en-US" b="1" dirty="0"/>
              <a:t>distributions</a:t>
            </a:r>
            <a:endParaRPr lang="en-US" dirty="0"/>
          </a:p>
          <a:p>
            <a:r>
              <a:rPr lang="en-US" dirty="0"/>
              <a:t>Compare variables (</a:t>
            </a:r>
            <a:r>
              <a:rPr lang="en-US" b="1" dirty="0"/>
              <a:t>correlations &amp; relationships</a:t>
            </a:r>
            <a:r>
              <a:rPr lang="en-US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801567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3FD16FF-57A7-63C0-C748-AF3E65E2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32"/>
            <a:ext cx="10704616" cy="59376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Common Visualization Techniques for EDA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C727FA7-A810-FFF5-C53B-1BF9B8DD2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8780"/>
            <a:ext cx="10515600" cy="566361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 smtClean="0">
                <a:solidFill>
                  <a:srgbClr val="FF0000"/>
                </a:solidFill>
              </a:rPr>
              <a:t>1</a:t>
            </a:r>
            <a:r>
              <a:rPr lang="en-IN" b="1" dirty="0">
                <a:solidFill>
                  <a:srgbClr val="FF0000"/>
                </a:solidFill>
              </a:rPr>
              <a:t>. Univariate Analysis (Single Variable)</a:t>
            </a:r>
          </a:p>
          <a:p>
            <a:r>
              <a:rPr lang="en-IN" b="1" dirty="0"/>
              <a:t>Histogram</a:t>
            </a:r>
            <a:r>
              <a:rPr lang="en-IN" dirty="0"/>
              <a:t> → Distribution of a numeric variable</a:t>
            </a:r>
          </a:p>
          <a:p>
            <a:r>
              <a:rPr lang="en-IN" b="1" dirty="0"/>
              <a:t>Boxplot</a:t>
            </a:r>
            <a:r>
              <a:rPr lang="en-IN" dirty="0"/>
              <a:t> → Spread, quartiles, outliers</a:t>
            </a:r>
          </a:p>
          <a:p>
            <a:r>
              <a:rPr lang="en-IN" b="1" dirty="0"/>
              <a:t>Bar chart</a:t>
            </a:r>
            <a:r>
              <a:rPr lang="en-IN" dirty="0"/>
              <a:t> → Frequency of categorical data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2. Bivariate Analysis (Two Variables)</a:t>
            </a:r>
          </a:p>
          <a:p>
            <a:r>
              <a:rPr lang="en-IN" b="1" dirty="0"/>
              <a:t>Scatter Plot</a:t>
            </a:r>
            <a:r>
              <a:rPr lang="en-IN" dirty="0"/>
              <a:t> → Relationship between two numerical variables</a:t>
            </a:r>
          </a:p>
          <a:p>
            <a:r>
              <a:rPr lang="en-IN" b="1" dirty="0"/>
              <a:t>Line Plot</a:t>
            </a:r>
            <a:r>
              <a:rPr lang="en-IN" dirty="0"/>
              <a:t> → Trends over time</a:t>
            </a:r>
          </a:p>
          <a:p>
            <a:r>
              <a:rPr lang="en-IN" b="1" dirty="0"/>
              <a:t>Grouped </a:t>
            </a:r>
            <a:r>
              <a:rPr lang="en-IN" b="1" dirty="0" err="1"/>
              <a:t>Barplot</a:t>
            </a:r>
            <a:r>
              <a:rPr lang="en-IN" dirty="0"/>
              <a:t> → Compare categories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3. Multivariate Analysis (Multiple Variables)</a:t>
            </a:r>
          </a:p>
          <a:p>
            <a:r>
              <a:rPr lang="en-IN" b="1" dirty="0" err="1"/>
              <a:t>Pairplot</a:t>
            </a:r>
            <a:r>
              <a:rPr lang="en-IN" b="1" dirty="0"/>
              <a:t> (Seaborn)</a:t>
            </a:r>
            <a:r>
              <a:rPr lang="en-IN" dirty="0"/>
              <a:t> → Relationship between multiple variables</a:t>
            </a:r>
          </a:p>
          <a:p>
            <a:r>
              <a:rPr lang="en-IN" b="1" dirty="0"/>
              <a:t>Heatmap</a:t>
            </a:r>
            <a:r>
              <a:rPr lang="en-IN" dirty="0"/>
              <a:t> → Correlation matrix</a:t>
            </a:r>
          </a:p>
          <a:p>
            <a:r>
              <a:rPr lang="en-IN" b="1" dirty="0"/>
              <a:t>Stacked </a:t>
            </a:r>
            <a:r>
              <a:rPr lang="en-IN" b="1" dirty="0" err="1"/>
              <a:t>Barplot</a:t>
            </a:r>
            <a:r>
              <a:rPr lang="en-IN" b="1" dirty="0"/>
              <a:t> / Multiple Line Plots</a:t>
            </a:r>
            <a:r>
              <a:rPr lang="en-IN" dirty="0"/>
              <a:t> → Compare across </a:t>
            </a:r>
            <a:r>
              <a:rPr lang="en-IN" dirty="0" smtClean="0"/>
              <a:t>groups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047590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D4748F-FEB5-3FD3-BA42-8FFA5E6E2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4390"/>
            <a:ext cx="10515600" cy="1156298"/>
          </a:xfrm>
        </p:spPr>
        <p:txBody>
          <a:bodyPr/>
          <a:lstStyle/>
          <a:p>
            <a:r>
              <a:rPr lang="en-US" b="1" dirty="0"/>
              <a:t>Key Insights You Can </a:t>
            </a:r>
            <a:r>
              <a:rPr lang="en-US" b="1" dirty="0" smtClean="0"/>
              <a:t>Get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23DA866-85AC-E740-2373-244B1D6CB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1309"/>
            <a:ext cx="10515600" cy="4015654"/>
          </a:xfrm>
        </p:spPr>
        <p:txBody>
          <a:bodyPr/>
          <a:lstStyle/>
          <a:p>
            <a:r>
              <a:rPr lang="en-US" b="1" dirty="0"/>
              <a:t>Distribution</a:t>
            </a:r>
            <a:r>
              <a:rPr lang="en-US" dirty="0"/>
              <a:t> → Is the data normal, skewed, or has outliers?</a:t>
            </a:r>
          </a:p>
          <a:p>
            <a:r>
              <a:rPr lang="en-US" b="1" dirty="0"/>
              <a:t>Relationships</a:t>
            </a:r>
            <a:r>
              <a:rPr lang="en-US" dirty="0"/>
              <a:t> → Are two variables correlated? (e.g., bill vs tip)</a:t>
            </a:r>
          </a:p>
          <a:p>
            <a:r>
              <a:rPr lang="en-US" b="1" dirty="0"/>
              <a:t>Categorical Comparisons</a:t>
            </a:r>
            <a:r>
              <a:rPr lang="en-US" dirty="0"/>
              <a:t> → Which group spends more?</a:t>
            </a:r>
          </a:p>
          <a:p>
            <a:r>
              <a:rPr lang="en-US" b="1" dirty="0"/>
              <a:t>Trends</a:t>
            </a:r>
            <a:r>
              <a:rPr lang="en-US" dirty="0"/>
              <a:t> → How values change with time or category.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421084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BABFC1D-08C0-BEE2-7006-2131B92D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Matplotlib</a:t>
            </a:r>
            <a:r>
              <a:rPr lang="en-US" dirty="0"/>
              <a:t> -</a:t>
            </a:r>
            <a:r>
              <a:rPr lang="en-US" b="1" dirty="0"/>
              <a:t>Introduction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A300CAE-F247-F5AA-95C0-A7FEE4346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Matplotlib</a:t>
            </a:r>
            <a:r>
              <a:rPr lang="en-US" dirty="0"/>
              <a:t> is a powerful </a:t>
            </a:r>
            <a:r>
              <a:rPr lang="en-US" b="1" dirty="0"/>
              <a:t>data visualization</a:t>
            </a:r>
            <a:r>
              <a:rPr lang="en-US" dirty="0"/>
              <a:t> library in Python.</a:t>
            </a:r>
          </a:p>
          <a:p>
            <a:r>
              <a:rPr lang="en-US" dirty="0"/>
              <a:t>It helps create </a:t>
            </a:r>
            <a:r>
              <a:rPr lang="en-US" b="1" dirty="0"/>
              <a:t>2D plots, charts, and figures</a:t>
            </a:r>
            <a:r>
              <a:rPr lang="en-US" dirty="0"/>
              <a:t>.</a:t>
            </a:r>
          </a:p>
          <a:p>
            <a:r>
              <a:rPr lang="en-US" dirty="0"/>
              <a:t>Works seamlessly with </a:t>
            </a:r>
            <a:r>
              <a:rPr lang="en-US" b="1" dirty="0"/>
              <a:t>NumPy</a:t>
            </a:r>
            <a:r>
              <a:rPr lang="en-US" dirty="0"/>
              <a:t> and </a:t>
            </a:r>
            <a:r>
              <a:rPr lang="en-US" b="1" dirty="0"/>
              <a:t>Pandas</a:t>
            </a:r>
            <a:r>
              <a:rPr lang="en-US" dirty="0"/>
              <a:t>.</a:t>
            </a:r>
          </a:p>
          <a:p>
            <a:r>
              <a:rPr lang="en-US" dirty="0"/>
              <a:t>The main module:</a:t>
            </a:r>
          </a:p>
          <a:p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975633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C1F7B4C-5AB8-67DB-8EC7-85588B2AF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029A55D-4FFB-3F83-24AF-1C4CAA8E3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Basic Plot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026C74B-1799-5990-7128-2B68D35AD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import </a:t>
            </a:r>
            <a:r>
              <a:rPr lang="en-IN" dirty="0" err="1"/>
              <a:t>matplotlib.pyplot</a:t>
            </a:r>
            <a:r>
              <a:rPr lang="en-IN" dirty="0"/>
              <a:t> as </a:t>
            </a:r>
            <a:r>
              <a:rPr lang="en-IN" dirty="0" err="1"/>
              <a:t>plt</a:t>
            </a:r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np</a:t>
            </a:r>
          </a:p>
          <a:p>
            <a:r>
              <a:rPr lang="en-IN" dirty="0"/>
              <a:t># Data</a:t>
            </a:r>
          </a:p>
          <a:p>
            <a:r>
              <a:rPr lang="en-IN" dirty="0"/>
              <a:t>x = </a:t>
            </a:r>
            <a:r>
              <a:rPr lang="en-IN" dirty="0" err="1"/>
              <a:t>np.array</a:t>
            </a:r>
            <a:r>
              <a:rPr lang="en-IN" dirty="0"/>
              <a:t>([1, 2, 3, 4, 5])</a:t>
            </a:r>
          </a:p>
          <a:p>
            <a:r>
              <a:rPr lang="en-IN" dirty="0"/>
              <a:t>y = x**2</a:t>
            </a:r>
          </a:p>
          <a:p>
            <a:r>
              <a:rPr lang="en-IN" dirty="0"/>
              <a:t># Simple Line Plot</a:t>
            </a:r>
          </a:p>
          <a:p>
            <a:r>
              <a:rPr lang="en-IN" dirty="0" err="1"/>
              <a:t>plt.plot</a:t>
            </a:r>
            <a:r>
              <a:rPr lang="en-IN" dirty="0"/>
              <a:t>(x, y)</a:t>
            </a:r>
          </a:p>
          <a:p>
            <a:r>
              <a:rPr lang="en-IN" dirty="0" err="1"/>
              <a:t>plt.title</a:t>
            </a:r>
            <a:r>
              <a:rPr lang="en-IN" dirty="0"/>
              <a:t>("Basic Line Plot")</a:t>
            </a:r>
          </a:p>
          <a:p>
            <a:r>
              <a:rPr lang="en-IN" dirty="0" err="1"/>
              <a:t>plt.xlabel</a:t>
            </a:r>
            <a:r>
              <a:rPr lang="en-IN" dirty="0"/>
              <a:t>("X-axis")</a:t>
            </a:r>
          </a:p>
          <a:p>
            <a:r>
              <a:rPr lang="en-IN" dirty="0" err="1"/>
              <a:t>plt.ylabel</a:t>
            </a:r>
            <a:r>
              <a:rPr lang="en-IN" dirty="0"/>
              <a:t>("Y-axis")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52743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74EA417-0D64-9138-6DC9-0C1D07061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2027B7A-A6F6-1424-6B5A-2989C8742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053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Multiple Lines in One Plot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AE996CA-4CCA-F624-5600-655F577A0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x = </a:t>
            </a:r>
            <a:r>
              <a:rPr lang="en-IN" dirty="0" err="1"/>
              <a:t>np.linspace</a:t>
            </a:r>
            <a:r>
              <a:rPr lang="en-IN" dirty="0"/>
              <a:t>(0, 10, 100)</a:t>
            </a:r>
          </a:p>
          <a:p>
            <a:r>
              <a:rPr lang="en-IN" dirty="0" err="1"/>
              <a:t>plt.plot</a:t>
            </a:r>
            <a:r>
              <a:rPr lang="en-IN" dirty="0"/>
              <a:t>(x, </a:t>
            </a:r>
            <a:r>
              <a:rPr lang="en-IN" dirty="0" err="1"/>
              <a:t>np.sin</a:t>
            </a:r>
            <a:r>
              <a:rPr lang="en-IN" dirty="0"/>
              <a:t>(x), label="Sine", </a:t>
            </a:r>
            <a:r>
              <a:rPr lang="en-IN" dirty="0" err="1"/>
              <a:t>color</a:t>
            </a:r>
            <a:r>
              <a:rPr lang="en-IN" dirty="0"/>
              <a:t>="blue")</a:t>
            </a:r>
          </a:p>
          <a:p>
            <a:r>
              <a:rPr lang="en-IN" dirty="0" err="1"/>
              <a:t>plt.plot</a:t>
            </a:r>
            <a:r>
              <a:rPr lang="en-IN" dirty="0"/>
              <a:t>(x, </a:t>
            </a:r>
            <a:r>
              <a:rPr lang="en-IN" dirty="0" err="1"/>
              <a:t>np.cos</a:t>
            </a:r>
            <a:r>
              <a:rPr lang="en-IN" dirty="0"/>
              <a:t>(x), label="Cosine", </a:t>
            </a:r>
            <a:r>
              <a:rPr lang="en-IN" dirty="0" err="1"/>
              <a:t>color</a:t>
            </a:r>
            <a:r>
              <a:rPr lang="en-IN" dirty="0"/>
              <a:t>="red")</a:t>
            </a:r>
          </a:p>
          <a:p>
            <a:r>
              <a:rPr lang="en-IN" dirty="0" err="1"/>
              <a:t>plt.title</a:t>
            </a:r>
            <a:r>
              <a:rPr lang="en-IN" dirty="0"/>
              <a:t>("Sine and Cosine Waves")</a:t>
            </a:r>
          </a:p>
          <a:p>
            <a:r>
              <a:rPr lang="en-IN" dirty="0" err="1"/>
              <a:t>plt.xlabel</a:t>
            </a:r>
            <a:r>
              <a:rPr lang="en-IN" dirty="0"/>
              <a:t>("X values")</a:t>
            </a:r>
          </a:p>
          <a:p>
            <a:r>
              <a:rPr lang="en-IN" dirty="0" err="1"/>
              <a:t>plt.ylabel</a:t>
            </a:r>
            <a:r>
              <a:rPr lang="en-IN" dirty="0"/>
              <a:t>("Y values")</a:t>
            </a:r>
          </a:p>
          <a:p>
            <a:r>
              <a:rPr lang="en-IN" dirty="0" err="1"/>
              <a:t>plt.legend</a:t>
            </a:r>
            <a:r>
              <a:rPr lang="en-IN" dirty="0"/>
              <a:t>()</a:t>
            </a:r>
          </a:p>
          <a:p>
            <a:r>
              <a:rPr lang="en-IN" dirty="0" err="1"/>
              <a:t>plt.grid</a:t>
            </a:r>
            <a:r>
              <a:rPr lang="en-IN" dirty="0"/>
              <a:t>(True)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="" xmlns:p14="http://schemas.microsoft.com/office/powerpoint/2010/main" val="4150381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8D969A6-3227-04BB-EDC4-E2639C086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26B18B1-DDEC-8E55-14F1-A59F5222F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Markers and Line Styles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99E2AAF-CE3F-3244-51D2-67D16ED4C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x = [1,2,3,4,5]</a:t>
            </a:r>
          </a:p>
          <a:p>
            <a:r>
              <a:rPr lang="en-IN" dirty="0"/>
              <a:t>y = [2,4,6,8,10]</a:t>
            </a:r>
          </a:p>
          <a:p>
            <a:r>
              <a:rPr lang="en-IN" dirty="0" err="1"/>
              <a:t>plt.plot</a:t>
            </a:r>
            <a:r>
              <a:rPr lang="en-IN" dirty="0"/>
              <a:t>(x, y, 'o--g', label="Dashed Green Line with Circles")  </a:t>
            </a:r>
          </a:p>
          <a:p>
            <a:r>
              <a:rPr lang="en-IN" dirty="0"/>
              <a:t># 'o' = marker, '--' = dashed line, 'g' = green</a:t>
            </a:r>
          </a:p>
          <a:p>
            <a:endParaRPr lang="en-IN" dirty="0"/>
          </a:p>
          <a:p>
            <a:r>
              <a:rPr lang="en-IN" dirty="0" err="1"/>
              <a:t>plt.title</a:t>
            </a:r>
            <a:r>
              <a:rPr lang="en-IN" dirty="0"/>
              <a:t>("Markers &amp; Styles Example")</a:t>
            </a:r>
          </a:p>
          <a:p>
            <a:r>
              <a:rPr lang="en-IN" dirty="0" err="1"/>
              <a:t>plt.legend</a:t>
            </a:r>
            <a:r>
              <a:rPr lang="en-IN" dirty="0"/>
              <a:t>()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182929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CC2980A-A587-E5E2-09CB-DA8904E03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42C3228-A38F-A90C-90D1-2322DEB00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Bar Chart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B894CAD-5C17-FC4D-CAEF-DB8D55DEA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subjects = ['Math', 'Science', 'English', 'History']</a:t>
            </a:r>
          </a:p>
          <a:p>
            <a:r>
              <a:rPr lang="en-IN" dirty="0"/>
              <a:t>marks = [90, 85, 78, 88]</a:t>
            </a:r>
          </a:p>
          <a:p>
            <a:endParaRPr lang="en-IN" dirty="0"/>
          </a:p>
          <a:p>
            <a:r>
              <a:rPr lang="en-IN" dirty="0" err="1"/>
              <a:t>plt.bar</a:t>
            </a:r>
            <a:r>
              <a:rPr lang="en-IN" dirty="0"/>
              <a:t>(subjects, marks, </a:t>
            </a:r>
            <a:r>
              <a:rPr lang="en-IN" dirty="0" err="1"/>
              <a:t>color</a:t>
            </a:r>
            <a:r>
              <a:rPr lang="en-IN" dirty="0"/>
              <a:t>='orange')</a:t>
            </a:r>
          </a:p>
          <a:p>
            <a:r>
              <a:rPr lang="en-IN" dirty="0" err="1"/>
              <a:t>plt.title</a:t>
            </a:r>
            <a:r>
              <a:rPr lang="en-IN" dirty="0"/>
              <a:t>("Bar Chart Example")</a:t>
            </a:r>
          </a:p>
          <a:p>
            <a:r>
              <a:rPr lang="en-IN" dirty="0" err="1"/>
              <a:t>plt.xlabel</a:t>
            </a:r>
            <a:r>
              <a:rPr lang="en-IN" dirty="0"/>
              <a:t>("Subjects")</a:t>
            </a:r>
          </a:p>
          <a:p>
            <a:r>
              <a:rPr lang="en-IN" dirty="0" err="1"/>
              <a:t>plt.ylabel</a:t>
            </a:r>
            <a:r>
              <a:rPr lang="en-IN" dirty="0"/>
              <a:t>("Marks")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="" xmlns:p14="http://schemas.microsoft.com/office/powerpoint/2010/main" val="1841738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B73E6BF-055D-6B72-D126-2DC19843A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022448B-836B-E80F-0A65-47915E249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Horizontal Bar Chart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083302D-6810-5599-ADFC-86D079570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plt.barh</a:t>
            </a:r>
            <a:r>
              <a:rPr lang="en-US" dirty="0"/>
              <a:t>(subjects, marks, color='purple')</a:t>
            </a:r>
          </a:p>
          <a:p>
            <a:r>
              <a:rPr lang="en-US" dirty="0" err="1"/>
              <a:t>plt.title</a:t>
            </a:r>
            <a:r>
              <a:rPr lang="en-US" dirty="0"/>
              <a:t>("Horizontal Bar Chart")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081786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F83C192-EE5C-626C-4730-E6CBEB992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A916D4D-AB41-C390-9593-29E3FA3D9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Scatter Plot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245BFC6-5C4D-B2FB-F7C3-E2BF09022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x = </a:t>
            </a:r>
            <a:r>
              <a:rPr lang="en-IN" dirty="0" err="1"/>
              <a:t>np.random.rand</a:t>
            </a:r>
            <a:r>
              <a:rPr lang="en-IN" dirty="0"/>
              <a:t>(50)   # random values</a:t>
            </a:r>
          </a:p>
          <a:p>
            <a:r>
              <a:rPr lang="en-IN" dirty="0"/>
              <a:t>y = </a:t>
            </a:r>
            <a:r>
              <a:rPr lang="en-IN" dirty="0" err="1"/>
              <a:t>np.random.rand</a:t>
            </a:r>
            <a:r>
              <a:rPr lang="en-IN" dirty="0"/>
              <a:t>(50)</a:t>
            </a:r>
          </a:p>
          <a:p>
            <a:endParaRPr lang="en-IN" dirty="0"/>
          </a:p>
          <a:p>
            <a:r>
              <a:rPr lang="en-IN" dirty="0" err="1"/>
              <a:t>plt.scatter</a:t>
            </a:r>
            <a:r>
              <a:rPr lang="en-IN" dirty="0"/>
              <a:t>(x, y, </a:t>
            </a:r>
            <a:r>
              <a:rPr lang="en-IN" dirty="0" err="1"/>
              <a:t>color</a:t>
            </a:r>
            <a:r>
              <a:rPr lang="en-IN" dirty="0"/>
              <a:t>="red", marker="*")</a:t>
            </a:r>
          </a:p>
          <a:p>
            <a:r>
              <a:rPr lang="en-IN" dirty="0" err="1"/>
              <a:t>plt.title</a:t>
            </a:r>
            <a:r>
              <a:rPr lang="en-IN" dirty="0"/>
              <a:t>("Scatter Plot Example")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59531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EC47E0F-1AD3-7563-B364-00E1A1509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8577C11-418F-1AA6-0281-0B6936235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Histogram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E21A459-6F85-EDB5-4B29-6BB19BE81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= </a:t>
            </a:r>
            <a:r>
              <a:rPr lang="en-IN" dirty="0" err="1"/>
              <a:t>np.random.randn</a:t>
            </a:r>
            <a:r>
              <a:rPr lang="en-IN" dirty="0"/>
              <a:t>(1000)  # normally distributed data</a:t>
            </a:r>
          </a:p>
          <a:p>
            <a:endParaRPr lang="en-IN" dirty="0"/>
          </a:p>
          <a:p>
            <a:r>
              <a:rPr lang="en-IN" dirty="0" err="1"/>
              <a:t>plt.hist</a:t>
            </a:r>
            <a:r>
              <a:rPr lang="en-IN" dirty="0"/>
              <a:t>(data, bins=30, </a:t>
            </a:r>
            <a:r>
              <a:rPr lang="en-IN" dirty="0" err="1"/>
              <a:t>color</a:t>
            </a:r>
            <a:r>
              <a:rPr lang="en-IN" dirty="0"/>
              <a:t>='</a:t>
            </a:r>
            <a:r>
              <a:rPr lang="en-IN" dirty="0" err="1"/>
              <a:t>skyblue</a:t>
            </a:r>
            <a:r>
              <a:rPr lang="en-IN" dirty="0"/>
              <a:t>', </a:t>
            </a:r>
            <a:r>
              <a:rPr lang="en-IN" dirty="0" err="1"/>
              <a:t>edgecolor</a:t>
            </a:r>
            <a:r>
              <a:rPr lang="en-IN" dirty="0"/>
              <a:t>='black')</a:t>
            </a:r>
          </a:p>
          <a:p>
            <a:r>
              <a:rPr lang="en-IN" dirty="0" err="1"/>
              <a:t>plt.title</a:t>
            </a:r>
            <a:r>
              <a:rPr lang="en-IN" dirty="0"/>
              <a:t>("Histogram Example")</a:t>
            </a:r>
          </a:p>
          <a:p>
            <a:r>
              <a:rPr lang="en-IN" dirty="0" err="1"/>
              <a:t>plt.xlabel</a:t>
            </a:r>
            <a:r>
              <a:rPr lang="en-IN" dirty="0"/>
              <a:t>("Values")</a:t>
            </a:r>
          </a:p>
          <a:p>
            <a:r>
              <a:rPr lang="en-IN" dirty="0" err="1"/>
              <a:t>plt.ylabel</a:t>
            </a:r>
            <a:r>
              <a:rPr lang="en-IN" dirty="0"/>
              <a:t>("Frequency")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870237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61C466E-B6D9-968B-FEB7-9D17ED151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E66F383-2264-D939-6320-4265A1639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Pie Chart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4AA4B43-2C53-9DBF-5F5B-88FDF3F84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sizes = [30, 20, 25, 25]</a:t>
            </a:r>
          </a:p>
          <a:p>
            <a:r>
              <a:rPr lang="en-IN" dirty="0"/>
              <a:t>labels = ['Apples', 'Bananas', 'Cherries', 'Dates']</a:t>
            </a:r>
          </a:p>
          <a:p>
            <a:r>
              <a:rPr lang="en-IN" dirty="0" err="1"/>
              <a:t>colors</a:t>
            </a:r>
            <a:r>
              <a:rPr lang="en-IN" dirty="0"/>
              <a:t> = ['red', 'yellow', 'pink', 'brown']</a:t>
            </a:r>
          </a:p>
          <a:p>
            <a:endParaRPr lang="en-IN" dirty="0"/>
          </a:p>
          <a:p>
            <a:r>
              <a:rPr lang="en-IN" dirty="0" err="1"/>
              <a:t>plt.pie</a:t>
            </a:r>
            <a:r>
              <a:rPr lang="en-IN" dirty="0"/>
              <a:t>(sizes, labels=labels, </a:t>
            </a:r>
            <a:r>
              <a:rPr lang="en-IN" dirty="0" err="1"/>
              <a:t>colors</a:t>
            </a:r>
            <a:r>
              <a:rPr lang="en-IN" dirty="0"/>
              <a:t>=</a:t>
            </a:r>
            <a:r>
              <a:rPr lang="en-IN" dirty="0" err="1"/>
              <a:t>colors</a:t>
            </a:r>
            <a:r>
              <a:rPr lang="en-IN" dirty="0"/>
              <a:t>, </a:t>
            </a:r>
            <a:r>
              <a:rPr lang="en-IN" dirty="0" err="1"/>
              <a:t>autopct</a:t>
            </a:r>
            <a:r>
              <a:rPr lang="en-IN" dirty="0"/>
              <a:t>='%1.1f%%')</a:t>
            </a:r>
          </a:p>
          <a:p>
            <a:r>
              <a:rPr lang="en-IN" dirty="0" err="1"/>
              <a:t>plt.title</a:t>
            </a:r>
            <a:r>
              <a:rPr lang="en-IN" dirty="0"/>
              <a:t>("Pie Chart Example")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="" xmlns:p14="http://schemas.microsoft.com/office/powerpoint/2010/main" val="542377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6A5FC79-6F04-3B36-F2FA-D24906027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43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Subplots (Multiple Graphs)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94E8C2E-58B0-426D-5837-573ED413D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8774"/>
            <a:ext cx="10515600" cy="5743089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x = </a:t>
            </a:r>
            <a:r>
              <a:rPr lang="en-IN" dirty="0" err="1"/>
              <a:t>np.linspace</a:t>
            </a:r>
            <a:r>
              <a:rPr lang="en-IN" dirty="0"/>
              <a:t>(0, 10, 100</a:t>
            </a:r>
            <a:r>
              <a:rPr lang="en-IN" dirty="0" smtClean="0"/>
              <a:t>)</a:t>
            </a:r>
            <a:endParaRPr lang="en-IN" dirty="0"/>
          </a:p>
          <a:p>
            <a:r>
              <a:rPr lang="en-IN" dirty="0" err="1"/>
              <a:t>plt.subplot</a:t>
            </a:r>
            <a:r>
              <a:rPr lang="en-IN" dirty="0"/>
              <a:t>(2,2,1)   # 2 rows, 2 cols, position 1</a:t>
            </a:r>
          </a:p>
          <a:p>
            <a:r>
              <a:rPr lang="en-IN" dirty="0" err="1"/>
              <a:t>plt.plot</a:t>
            </a:r>
            <a:r>
              <a:rPr lang="en-IN" dirty="0"/>
              <a:t>(x, </a:t>
            </a:r>
            <a:r>
              <a:rPr lang="en-IN" dirty="0" err="1"/>
              <a:t>np.sin</a:t>
            </a:r>
            <a:r>
              <a:rPr lang="en-IN" dirty="0"/>
              <a:t>(x))</a:t>
            </a:r>
          </a:p>
          <a:p>
            <a:r>
              <a:rPr lang="en-IN" dirty="0" err="1"/>
              <a:t>plt.title</a:t>
            </a:r>
            <a:r>
              <a:rPr lang="en-IN" dirty="0"/>
              <a:t>("Sine")</a:t>
            </a:r>
          </a:p>
          <a:p>
            <a:endParaRPr lang="en-IN" dirty="0"/>
          </a:p>
          <a:p>
            <a:r>
              <a:rPr lang="en-IN" dirty="0" err="1"/>
              <a:t>plt.subplot</a:t>
            </a:r>
            <a:r>
              <a:rPr lang="en-IN" dirty="0"/>
              <a:t>(2,2,2)</a:t>
            </a:r>
          </a:p>
          <a:p>
            <a:r>
              <a:rPr lang="en-IN" dirty="0" err="1"/>
              <a:t>plt.plot</a:t>
            </a:r>
            <a:r>
              <a:rPr lang="en-IN" dirty="0"/>
              <a:t>(x, </a:t>
            </a:r>
            <a:r>
              <a:rPr lang="en-IN" dirty="0" err="1"/>
              <a:t>np.cos</a:t>
            </a:r>
            <a:r>
              <a:rPr lang="en-IN" dirty="0"/>
              <a:t>(x))</a:t>
            </a:r>
          </a:p>
          <a:p>
            <a:r>
              <a:rPr lang="en-IN" dirty="0" err="1"/>
              <a:t>plt.title</a:t>
            </a:r>
            <a:r>
              <a:rPr lang="en-IN" dirty="0"/>
              <a:t>("Cosine")</a:t>
            </a:r>
          </a:p>
          <a:p>
            <a:endParaRPr lang="en-IN" dirty="0"/>
          </a:p>
          <a:p>
            <a:r>
              <a:rPr lang="en-IN" dirty="0" err="1"/>
              <a:t>plt.subplot</a:t>
            </a:r>
            <a:r>
              <a:rPr lang="en-IN" dirty="0"/>
              <a:t>(2,2,3)</a:t>
            </a:r>
          </a:p>
          <a:p>
            <a:r>
              <a:rPr lang="en-IN" dirty="0" err="1"/>
              <a:t>plt.plot</a:t>
            </a:r>
            <a:r>
              <a:rPr lang="en-IN" dirty="0"/>
              <a:t>(x, </a:t>
            </a:r>
            <a:r>
              <a:rPr lang="en-IN" dirty="0" err="1"/>
              <a:t>np.tan</a:t>
            </a:r>
            <a:r>
              <a:rPr lang="en-IN" dirty="0"/>
              <a:t>(x))</a:t>
            </a:r>
          </a:p>
          <a:p>
            <a:r>
              <a:rPr lang="en-IN" dirty="0" err="1"/>
              <a:t>plt.title</a:t>
            </a:r>
            <a:r>
              <a:rPr lang="en-IN" dirty="0"/>
              <a:t>("Tangent")</a:t>
            </a:r>
          </a:p>
          <a:p>
            <a:endParaRPr lang="en-IN" dirty="0"/>
          </a:p>
          <a:p>
            <a:r>
              <a:rPr lang="en-IN" dirty="0" err="1"/>
              <a:t>plt.subplot</a:t>
            </a:r>
            <a:r>
              <a:rPr lang="en-IN" dirty="0"/>
              <a:t>(2,2,4)</a:t>
            </a:r>
          </a:p>
          <a:p>
            <a:r>
              <a:rPr lang="en-IN" dirty="0" err="1"/>
              <a:t>plt.plot</a:t>
            </a:r>
            <a:r>
              <a:rPr lang="en-IN" dirty="0"/>
              <a:t>(x, </a:t>
            </a:r>
            <a:r>
              <a:rPr lang="en-IN" dirty="0" err="1"/>
              <a:t>np.exp</a:t>
            </a:r>
            <a:r>
              <a:rPr lang="en-IN" dirty="0"/>
              <a:t>(-x))</a:t>
            </a:r>
          </a:p>
          <a:p>
            <a:r>
              <a:rPr lang="en-IN" dirty="0" err="1"/>
              <a:t>plt.title</a:t>
            </a:r>
            <a:r>
              <a:rPr lang="en-IN" dirty="0"/>
              <a:t>("Exponential Decay")</a:t>
            </a:r>
          </a:p>
          <a:p>
            <a:endParaRPr lang="en-IN" dirty="0"/>
          </a:p>
          <a:p>
            <a:r>
              <a:rPr lang="en-IN" dirty="0" err="1"/>
              <a:t>plt.tight_layout</a:t>
            </a:r>
            <a:r>
              <a:rPr lang="en-IN" dirty="0"/>
              <a:t>()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031895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F51716B-C232-DC3B-D2D5-052A8C4A3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5DC5FD2-C583-4DBA-B024-40D1D2A69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Customizing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1BAA309-57B9-9A32-D8E6-BDC101A5C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x = </a:t>
            </a:r>
            <a:r>
              <a:rPr lang="en-IN" dirty="0" err="1"/>
              <a:t>np.linspace</a:t>
            </a:r>
            <a:r>
              <a:rPr lang="en-IN" dirty="0"/>
              <a:t>(0, 5, 100)</a:t>
            </a:r>
          </a:p>
          <a:p>
            <a:r>
              <a:rPr lang="en-IN" dirty="0"/>
              <a:t>y = x**2</a:t>
            </a:r>
          </a:p>
          <a:p>
            <a:endParaRPr lang="en-IN" dirty="0"/>
          </a:p>
          <a:p>
            <a:r>
              <a:rPr lang="en-IN" dirty="0" err="1"/>
              <a:t>plt.plot</a:t>
            </a:r>
            <a:r>
              <a:rPr lang="en-IN" dirty="0"/>
              <a:t>(x, y, </a:t>
            </a:r>
            <a:r>
              <a:rPr lang="en-IN" dirty="0" err="1"/>
              <a:t>color</a:t>
            </a:r>
            <a:r>
              <a:rPr lang="en-IN" dirty="0"/>
              <a:t>="blue", linewidth=2, </a:t>
            </a:r>
            <a:r>
              <a:rPr lang="en-IN" dirty="0" err="1"/>
              <a:t>linestyle</a:t>
            </a:r>
            <a:r>
              <a:rPr lang="en-IN" dirty="0"/>
              <a:t>="--", marker="o", </a:t>
            </a:r>
            <a:r>
              <a:rPr lang="en-IN" dirty="0" err="1"/>
              <a:t>markersize</a:t>
            </a:r>
            <a:r>
              <a:rPr lang="en-IN" dirty="0"/>
              <a:t>=6)</a:t>
            </a:r>
          </a:p>
          <a:p>
            <a:endParaRPr lang="en-IN" dirty="0"/>
          </a:p>
          <a:p>
            <a:r>
              <a:rPr lang="en-IN" dirty="0" err="1"/>
              <a:t>plt.title</a:t>
            </a:r>
            <a:r>
              <a:rPr lang="en-IN" dirty="0"/>
              <a:t>("Customized Plot", </a:t>
            </a:r>
            <a:r>
              <a:rPr lang="en-IN" dirty="0" err="1"/>
              <a:t>fontsize</a:t>
            </a:r>
            <a:r>
              <a:rPr lang="en-IN" dirty="0"/>
              <a:t>=15, </a:t>
            </a:r>
            <a:r>
              <a:rPr lang="en-IN" dirty="0" err="1"/>
              <a:t>color</a:t>
            </a:r>
            <a:r>
              <a:rPr lang="en-IN" dirty="0"/>
              <a:t>="red")</a:t>
            </a:r>
          </a:p>
          <a:p>
            <a:r>
              <a:rPr lang="en-IN" dirty="0" err="1"/>
              <a:t>plt.xlabel</a:t>
            </a:r>
            <a:r>
              <a:rPr lang="en-IN" dirty="0"/>
              <a:t>("X axis", </a:t>
            </a:r>
            <a:r>
              <a:rPr lang="en-IN" dirty="0" err="1"/>
              <a:t>fontsize</a:t>
            </a:r>
            <a:r>
              <a:rPr lang="en-IN" dirty="0"/>
              <a:t>=12)</a:t>
            </a:r>
          </a:p>
          <a:p>
            <a:r>
              <a:rPr lang="en-IN" dirty="0" err="1"/>
              <a:t>plt.ylabel</a:t>
            </a:r>
            <a:r>
              <a:rPr lang="en-IN" dirty="0"/>
              <a:t>("Y axis", </a:t>
            </a:r>
            <a:r>
              <a:rPr lang="en-IN" dirty="0" err="1"/>
              <a:t>fontsize</a:t>
            </a:r>
            <a:r>
              <a:rPr lang="en-IN" dirty="0"/>
              <a:t>=12)</a:t>
            </a:r>
          </a:p>
          <a:p>
            <a:r>
              <a:rPr lang="en-IN" dirty="0" err="1"/>
              <a:t>plt.grid</a:t>
            </a:r>
            <a:r>
              <a:rPr lang="en-IN" dirty="0"/>
              <a:t>(True, </a:t>
            </a:r>
            <a:r>
              <a:rPr lang="en-IN" dirty="0" err="1"/>
              <a:t>linestyle</a:t>
            </a:r>
            <a:r>
              <a:rPr lang="en-IN" dirty="0"/>
              <a:t>=":")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93993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3490B18-4993-E9B1-6E23-F2120E659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3A69F68-6973-8189-1B9A-41246A1F7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014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Integration with Pandas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5E56F85-209B-1333-CEC3-0A2271C3C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3481"/>
            <a:ext cx="10515600" cy="5453482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import pandas as pd</a:t>
            </a:r>
          </a:p>
          <a:p>
            <a:endParaRPr lang="en-IN" dirty="0"/>
          </a:p>
          <a:p>
            <a:r>
              <a:rPr lang="en-IN" dirty="0"/>
              <a:t>data = {</a:t>
            </a:r>
          </a:p>
          <a:p>
            <a:r>
              <a:rPr lang="en-IN" dirty="0"/>
              <a:t>    "Year": [2018, 2019, 2020, 2021, 2022],</a:t>
            </a:r>
          </a:p>
          <a:p>
            <a:r>
              <a:rPr lang="en-IN" dirty="0"/>
              <a:t>    "Sales": [250, 300, 400, 350, 500]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pd.DataFrame</a:t>
            </a:r>
            <a:r>
              <a:rPr lang="en-IN" dirty="0"/>
              <a:t>(data)</a:t>
            </a:r>
          </a:p>
          <a:p>
            <a:endParaRPr lang="en-IN" dirty="0"/>
          </a:p>
          <a:p>
            <a:r>
              <a:rPr lang="en-IN" dirty="0" err="1"/>
              <a:t>plt.plot</a:t>
            </a:r>
            <a:r>
              <a:rPr lang="en-IN" dirty="0"/>
              <a:t>(</a:t>
            </a:r>
            <a:r>
              <a:rPr lang="en-IN" dirty="0" err="1"/>
              <a:t>df</a:t>
            </a:r>
            <a:r>
              <a:rPr lang="en-IN" dirty="0"/>
              <a:t>["Year"], </a:t>
            </a:r>
            <a:r>
              <a:rPr lang="en-IN" dirty="0" err="1"/>
              <a:t>df</a:t>
            </a:r>
            <a:r>
              <a:rPr lang="en-IN" dirty="0"/>
              <a:t>["Sales"], marker="o")</a:t>
            </a:r>
          </a:p>
          <a:p>
            <a:r>
              <a:rPr lang="en-IN" dirty="0" err="1"/>
              <a:t>plt.title</a:t>
            </a:r>
            <a:r>
              <a:rPr lang="en-IN" dirty="0"/>
              <a:t>("Company Sales Over Years")</a:t>
            </a:r>
          </a:p>
          <a:p>
            <a:r>
              <a:rPr lang="en-IN" dirty="0" err="1"/>
              <a:t>plt.xlabel</a:t>
            </a:r>
            <a:r>
              <a:rPr lang="en-IN" dirty="0"/>
              <a:t>("Year")</a:t>
            </a:r>
          </a:p>
          <a:p>
            <a:r>
              <a:rPr lang="en-IN" dirty="0" err="1"/>
              <a:t>plt.ylabel</a:t>
            </a:r>
            <a:r>
              <a:rPr lang="en-IN" dirty="0"/>
              <a:t>("Sales")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030700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BEE3BC8-F14A-7317-B3F4-58C358DE3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33B30C-62DD-EC79-80C9-F0E126034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Seaborn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26E9FDE-C724-F2DB-723C-A74826FC6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built on top of </a:t>
            </a:r>
            <a:r>
              <a:rPr lang="en-US" b="1" dirty="0"/>
              <a:t>Matplotlib</a:t>
            </a:r>
            <a:r>
              <a:rPr lang="en-US" dirty="0"/>
              <a:t>, but provides a </a:t>
            </a:r>
            <a:r>
              <a:rPr lang="en-US" b="1" dirty="0"/>
              <a:t>higher-level API</a:t>
            </a:r>
            <a:r>
              <a:rPr lang="en-US" dirty="0"/>
              <a:t> with attractive default styles and built-in dataset support.</a:t>
            </a:r>
          </a:p>
          <a:p>
            <a:r>
              <a:rPr lang="en-IN" dirty="0"/>
              <a:t>Seaborn = Statistical data visualization library in Python.</a:t>
            </a:r>
          </a:p>
          <a:p>
            <a:r>
              <a:rPr lang="en-IN" dirty="0"/>
              <a:t>Built on </a:t>
            </a:r>
            <a:r>
              <a:rPr lang="en-IN" b="1" dirty="0"/>
              <a:t>Matplotlib</a:t>
            </a:r>
            <a:r>
              <a:rPr lang="en-IN" dirty="0"/>
              <a:t> and integrated with </a:t>
            </a:r>
            <a:r>
              <a:rPr lang="en-IN" b="1" dirty="0"/>
              <a:t>Pandas</a:t>
            </a:r>
            <a:r>
              <a:rPr lang="en-IN" dirty="0"/>
              <a:t>.</a:t>
            </a:r>
          </a:p>
          <a:p>
            <a:r>
              <a:rPr lang="en-IN" dirty="0"/>
              <a:t>Provides </a:t>
            </a:r>
            <a:r>
              <a:rPr lang="en-IN" b="1" dirty="0"/>
              <a:t>beautiful plots with minimal code</a:t>
            </a:r>
            <a:r>
              <a:rPr lang="en-IN" dirty="0"/>
              <a:t>.</a:t>
            </a:r>
          </a:p>
          <a:p>
            <a:r>
              <a:rPr lang="en-IN" dirty="0"/>
              <a:t>Import-------import seaborn as </a:t>
            </a:r>
            <a:r>
              <a:rPr lang="en-IN" dirty="0" err="1"/>
              <a:t>sns</a:t>
            </a:r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matplotlib.pyplot</a:t>
            </a:r>
            <a:r>
              <a:rPr lang="en-IN" dirty="0"/>
              <a:t> as </a:t>
            </a:r>
            <a:r>
              <a:rPr lang="en-IN" dirty="0" err="1"/>
              <a:t>plt</a:t>
            </a:r>
            <a:endParaRPr lang="en-IN" dirty="0"/>
          </a:p>
          <a:p>
            <a:r>
              <a:rPr lang="en-IN" dirty="0"/>
              <a:t>Seaborn comes with </a:t>
            </a:r>
            <a:r>
              <a:rPr lang="en-IN" b="1" dirty="0"/>
              <a:t>built-in datasets</a:t>
            </a:r>
            <a:r>
              <a:rPr lang="en-IN" dirty="0"/>
              <a:t> (like tips, iris, penguins).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615089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A610998-8DAD-54C5-842D-0EABC4EEA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E6A2907-911F-5812-A6AF-6DC7A8E58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Basic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253BF47-384A-3BF4-C91C-4FAF50F59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import seaborn as </a:t>
            </a:r>
            <a:r>
              <a:rPr lang="en-IN" dirty="0" err="1"/>
              <a:t>sns</a:t>
            </a:r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matplotlib.pyplot</a:t>
            </a:r>
            <a:r>
              <a:rPr lang="en-IN" dirty="0"/>
              <a:t> as </a:t>
            </a:r>
            <a:r>
              <a:rPr lang="en-IN" dirty="0" err="1"/>
              <a:t>plt</a:t>
            </a:r>
            <a:endParaRPr lang="en-IN" dirty="0"/>
          </a:p>
          <a:p>
            <a:endParaRPr lang="en-IN" dirty="0"/>
          </a:p>
          <a:p>
            <a:r>
              <a:rPr lang="en-IN" dirty="0"/>
              <a:t># Load example dataset</a:t>
            </a:r>
          </a:p>
          <a:p>
            <a:r>
              <a:rPr lang="en-IN" dirty="0"/>
              <a:t>tips = </a:t>
            </a:r>
            <a:r>
              <a:rPr lang="en-IN" dirty="0" err="1"/>
              <a:t>sns.load_dataset</a:t>
            </a:r>
            <a:r>
              <a:rPr lang="en-IN" dirty="0"/>
              <a:t>("tips")</a:t>
            </a:r>
          </a:p>
          <a:p>
            <a:endParaRPr lang="en-IN" dirty="0"/>
          </a:p>
          <a:p>
            <a:r>
              <a:rPr lang="en-IN" dirty="0"/>
              <a:t># Scatter plot</a:t>
            </a:r>
          </a:p>
          <a:p>
            <a:r>
              <a:rPr lang="en-IN" dirty="0" err="1"/>
              <a:t>sns.scatterplot</a:t>
            </a:r>
            <a:r>
              <a:rPr lang="en-IN" dirty="0"/>
              <a:t>(x="</a:t>
            </a:r>
            <a:r>
              <a:rPr lang="en-IN" dirty="0" err="1"/>
              <a:t>total_bill</a:t>
            </a:r>
            <a:r>
              <a:rPr lang="en-IN" dirty="0"/>
              <a:t>", y="tip", data=tips)</a:t>
            </a:r>
          </a:p>
          <a:p>
            <a:r>
              <a:rPr lang="en-IN" dirty="0" err="1"/>
              <a:t>plt.title</a:t>
            </a:r>
            <a:r>
              <a:rPr lang="en-IN" dirty="0"/>
              <a:t>("Scatter Plot of Tips Dataset")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673080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8477F42-02B4-180C-7354-BE19807EC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04B830-D686-BBC0-4698-2094B87E3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Distribution Plot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EEB16CB-89A4-8F71-E535-4CA1789E7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Histogram + KDE (Kernel Density Estimation)</a:t>
            </a:r>
          </a:p>
          <a:p>
            <a:r>
              <a:rPr lang="en-IN" dirty="0" err="1"/>
              <a:t>sns.histplot</a:t>
            </a:r>
            <a:r>
              <a:rPr lang="en-IN" dirty="0"/>
              <a:t>(tips["</a:t>
            </a:r>
            <a:r>
              <a:rPr lang="en-IN" dirty="0" err="1"/>
              <a:t>total_bill</a:t>
            </a:r>
            <a:r>
              <a:rPr lang="en-IN" dirty="0"/>
              <a:t>"], bins=20, </a:t>
            </a:r>
            <a:r>
              <a:rPr lang="en-IN" dirty="0" err="1"/>
              <a:t>kde</a:t>
            </a:r>
            <a:r>
              <a:rPr lang="en-IN" dirty="0"/>
              <a:t>=True, </a:t>
            </a:r>
            <a:r>
              <a:rPr lang="en-IN" dirty="0" err="1"/>
              <a:t>color</a:t>
            </a:r>
            <a:r>
              <a:rPr lang="en-IN" dirty="0"/>
              <a:t>="</a:t>
            </a:r>
            <a:r>
              <a:rPr lang="en-IN" dirty="0" err="1"/>
              <a:t>skyblue</a:t>
            </a:r>
            <a:r>
              <a:rPr lang="en-IN" dirty="0"/>
              <a:t>")</a:t>
            </a:r>
          </a:p>
          <a:p>
            <a:r>
              <a:rPr lang="en-IN" dirty="0" err="1"/>
              <a:t>plt.title</a:t>
            </a:r>
            <a:r>
              <a:rPr lang="en-IN" dirty="0"/>
              <a:t>("Distribution of Total Bill")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831914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E3081E4-EB55-EC32-D49C-93F955E2D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8670B15-D696-A1A2-538A-869D0161A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Box Plot (for Outliers)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DDD054E-C115-1646-7C86-66CA3EC23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sns.boxplot</a:t>
            </a:r>
            <a:r>
              <a:rPr lang="en-US" dirty="0"/>
              <a:t>(x="day", y="</a:t>
            </a:r>
            <a:r>
              <a:rPr lang="en-US" dirty="0" err="1"/>
              <a:t>total_bill</a:t>
            </a:r>
            <a:r>
              <a:rPr lang="en-US" dirty="0"/>
              <a:t>", data=tips, palette="Set2")</a:t>
            </a:r>
          </a:p>
          <a:p>
            <a:r>
              <a:rPr lang="en-US" dirty="0" err="1"/>
              <a:t>plt.title</a:t>
            </a:r>
            <a:r>
              <a:rPr lang="en-US" dirty="0"/>
              <a:t>("Boxplot: Total Bill by Day")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972282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F1F0137-0D75-6FE7-A9A2-15EC6F99F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9F7A61-33B5-B670-302D-14F183D55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Violin Plot (Shape of Distribution)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958256D-81DB-F97C-CBCF-D24195D77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sns.violinplot</a:t>
            </a:r>
            <a:r>
              <a:rPr lang="en-US" dirty="0"/>
              <a:t>(x="day", y="</a:t>
            </a:r>
            <a:r>
              <a:rPr lang="en-US" dirty="0" err="1"/>
              <a:t>total_bill</a:t>
            </a:r>
            <a:r>
              <a:rPr lang="en-US" dirty="0"/>
              <a:t>", data=tips, palette="muted")</a:t>
            </a:r>
          </a:p>
          <a:p>
            <a:r>
              <a:rPr lang="en-US" dirty="0" err="1"/>
              <a:t>plt.title</a:t>
            </a:r>
            <a:r>
              <a:rPr lang="en-US" dirty="0"/>
              <a:t>("Violin Plot Example")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083308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97BC795-10F0-C0C8-752B-9CF802868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4F29BB-0B26-D91C-9D5B-154AC57C7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Bar Plot (Categorical Data)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59D3FC-5D1E-EB56-8F8C-26007EBB4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sns.barplot</a:t>
            </a:r>
            <a:r>
              <a:rPr lang="en-US" dirty="0"/>
              <a:t>(x="day", y="</a:t>
            </a:r>
            <a:r>
              <a:rPr lang="en-US" dirty="0" err="1"/>
              <a:t>total_bill</a:t>
            </a:r>
            <a:r>
              <a:rPr lang="en-US" dirty="0"/>
              <a:t>", data=tips, estimator=sum, ci=None, color="orange")</a:t>
            </a:r>
          </a:p>
          <a:p>
            <a:r>
              <a:rPr lang="en-US" dirty="0" err="1"/>
              <a:t>plt.title</a:t>
            </a:r>
            <a:r>
              <a:rPr lang="en-US" dirty="0"/>
              <a:t>("Total Bill by Day (Sum)")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68361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BBB9269-8F53-331A-CD60-983485BBF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8E6E0C-8EFC-4F92-43CF-01C2E583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Count Plot (Counts Categories)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DECB445-CB14-104F-2FCC-C27A917B0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sns.countplot</a:t>
            </a:r>
            <a:r>
              <a:rPr lang="en-US" dirty="0"/>
              <a:t>(x="day", data=tips, palette="</a:t>
            </a:r>
            <a:r>
              <a:rPr lang="en-US" dirty="0" err="1"/>
              <a:t>coolwarm</a:t>
            </a:r>
            <a:r>
              <a:rPr lang="en-US" dirty="0"/>
              <a:t>")</a:t>
            </a:r>
          </a:p>
          <a:p>
            <a:r>
              <a:rPr lang="en-US" dirty="0" err="1"/>
              <a:t>plt.title</a:t>
            </a:r>
            <a:r>
              <a:rPr lang="en-US" dirty="0"/>
              <a:t>("Count of Customers by Day")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899560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5A1F73E-5F2B-0345-3E24-DDB043809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B9C5094-42ED-A71C-4E82-6992AA95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Pair Plot (Multi-variable Relationships)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2A61EA1-E1C2-27AE-9539-6A337F7F8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sns.pairplot</a:t>
            </a:r>
            <a:r>
              <a:rPr lang="en-IN" dirty="0"/>
              <a:t>(tips, hue="sex")</a:t>
            </a:r>
          </a:p>
          <a:p>
            <a:r>
              <a:rPr lang="en-IN" dirty="0" err="1"/>
              <a:t>plt.suptitle</a:t>
            </a:r>
            <a:r>
              <a:rPr lang="en-IN" dirty="0"/>
              <a:t>("Pair Plot Example", y=1.02)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096792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4CC0684-6B85-D4E7-C843-32222D0FE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2C2943C-F3CC-12EE-8E89-33A7D86B0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Heatmap (Correlation Matrix)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78811F9-F8AA-2897-10F0-84162E2AB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corr</a:t>
            </a:r>
            <a:r>
              <a:rPr lang="en-IN" dirty="0"/>
              <a:t> = </a:t>
            </a:r>
            <a:r>
              <a:rPr lang="en-IN" dirty="0" err="1"/>
              <a:t>tips.corr</a:t>
            </a:r>
            <a:r>
              <a:rPr lang="en-IN" dirty="0"/>
              <a:t>(</a:t>
            </a:r>
            <a:r>
              <a:rPr lang="en-IN" dirty="0" err="1"/>
              <a:t>numeric_only</a:t>
            </a:r>
            <a:r>
              <a:rPr lang="en-IN" dirty="0"/>
              <a:t>=True)</a:t>
            </a:r>
          </a:p>
          <a:p>
            <a:r>
              <a:rPr lang="en-IN" dirty="0" err="1"/>
              <a:t>sns.heatmap</a:t>
            </a:r>
            <a:r>
              <a:rPr lang="en-IN" dirty="0"/>
              <a:t>(</a:t>
            </a:r>
            <a:r>
              <a:rPr lang="en-IN" dirty="0" err="1"/>
              <a:t>corr</a:t>
            </a:r>
            <a:r>
              <a:rPr lang="en-IN" dirty="0"/>
              <a:t>, </a:t>
            </a:r>
            <a:r>
              <a:rPr lang="en-IN" dirty="0" err="1"/>
              <a:t>annot</a:t>
            </a:r>
            <a:r>
              <a:rPr lang="en-IN" dirty="0"/>
              <a:t>=True, </a:t>
            </a:r>
            <a:r>
              <a:rPr lang="en-IN" dirty="0" err="1"/>
              <a:t>cmap</a:t>
            </a:r>
            <a:r>
              <a:rPr lang="en-IN" dirty="0"/>
              <a:t>="</a:t>
            </a:r>
            <a:r>
              <a:rPr lang="en-IN" dirty="0" err="1"/>
              <a:t>coolwarm</a:t>
            </a:r>
            <a:r>
              <a:rPr lang="en-IN" dirty="0"/>
              <a:t>", linewidths=0.5)</a:t>
            </a:r>
          </a:p>
          <a:p>
            <a:r>
              <a:rPr lang="en-IN" dirty="0" err="1"/>
              <a:t>plt.title</a:t>
            </a:r>
            <a:r>
              <a:rPr lang="en-IN" dirty="0"/>
              <a:t>("Correlation Heatmap")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1885840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8890745-962B-4570-B7DC-460657ACA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52B7F3-6FB7-51BE-E812-DEC8F1361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Regression Plot (Trend Line)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0337CD6-6C5F-A64A-94B0-9F819D6FE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sns.regplot</a:t>
            </a:r>
            <a:r>
              <a:rPr lang="en-US" dirty="0"/>
              <a:t>(x="</a:t>
            </a:r>
            <a:r>
              <a:rPr lang="en-US" dirty="0" err="1"/>
              <a:t>total_bill</a:t>
            </a:r>
            <a:r>
              <a:rPr lang="en-US" dirty="0"/>
              <a:t>", y="tip", data=tips, color="green")</a:t>
            </a:r>
          </a:p>
          <a:p>
            <a:r>
              <a:rPr lang="en-US" dirty="0" err="1"/>
              <a:t>plt.title</a:t>
            </a:r>
            <a:r>
              <a:rPr lang="en-US" dirty="0"/>
              <a:t>("Regression Line Example")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7734687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2919538-A2C2-440E-BB65-A153FAB2B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Style Customization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583C389-BD77-34DF-4635-1D6151599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sns.set_style</a:t>
            </a:r>
            <a:r>
              <a:rPr lang="en-IN" dirty="0"/>
              <a:t>("</a:t>
            </a:r>
            <a:r>
              <a:rPr lang="en-IN" dirty="0" err="1"/>
              <a:t>darkgrid</a:t>
            </a:r>
            <a:r>
              <a:rPr lang="en-IN" dirty="0"/>
              <a:t>")   # styles: </a:t>
            </a:r>
            <a:r>
              <a:rPr lang="en-IN" dirty="0" err="1"/>
              <a:t>darkgrid</a:t>
            </a:r>
            <a:r>
              <a:rPr lang="en-IN" dirty="0"/>
              <a:t>, </a:t>
            </a:r>
            <a:r>
              <a:rPr lang="en-IN" dirty="0" err="1"/>
              <a:t>whitegrid</a:t>
            </a:r>
            <a:r>
              <a:rPr lang="en-IN" dirty="0"/>
              <a:t>, dark, white, ticks</a:t>
            </a:r>
          </a:p>
          <a:p>
            <a:r>
              <a:rPr lang="en-IN" dirty="0" err="1"/>
              <a:t>sns.set_palette</a:t>
            </a:r>
            <a:r>
              <a:rPr lang="en-IN" dirty="0"/>
              <a:t>("pastel")</a:t>
            </a:r>
          </a:p>
          <a:p>
            <a:endParaRPr lang="en-IN" dirty="0"/>
          </a:p>
          <a:p>
            <a:r>
              <a:rPr lang="en-IN" dirty="0" err="1"/>
              <a:t>sns.scatterplot</a:t>
            </a:r>
            <a:r>
              <a:rPr lang="en-IN" dirty="0"/>
              <a:t>(x="</a:t>
            </a:r>
            <a:r>
              <a:rPr lang="en-IN" dirty="0" err="1"/>
              <a:t>total_bill</a:t>
            </a:r>
            <a:r>
              <a:rPr lang="en-IN" dirty="0"/>
              <a:t>", y="tip", data=tips, hue="day", style="time")</a:t>
            </a:r>
          </a:p>
          <a:p>
            <a:r>
              <a:rPr lang="en-IN" dirty="0" err="1"/>
              <a:t>plt.title</a:t>
            </a:r>
            <a:r>
              <a:rPr lang="en-IN" dirty="0"/>
              <a:t>("Customized Seaborn Plot")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4048953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B40EF4B-7489-96DA-C411-C40EAA98D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FC4579C-6BA4-8276-8BC4-C04D604B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Seaborn with Pandas </a:t>
            </a:r>
            <a:r>
              <a:rPr lang="en-IN" b="1" dirty="0" err="1"/>
              <a:t>DataFrame</a:t>
            </a:r>
            <a:r>
              <a:rPr lang="en-IN" b="1" dirty="0"/>
              <a:t/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A15D85E-7264-E7C3-1DDE-111DA495E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4980"/>
            <a:ext cx="10515600" cy="5627077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import pandas as pd</a:t>
            </a:r>
          </a:p>
          <a:p>
            <a:endParaRPr lang="en-IN" dirty="0"/>
          </a:p>
          <a:p>
            <a:r>
              <a:rPr lang="en-IN" dirty="0"/>
              <a:t>data = {</a:t>
            </a:r>
          </a:p>
          <a:p>
            <a:r>
              <a:rPr lang="en-IN" dirty="0"/>
              <a:t>    "Year": [2018, 2019, 2020, 2021, 2022],</a:t>
            </a:r>
          </a:p>
          <a:p>
            <a:r>
              <a:rPr lang="en-IN" dirty="0"/>
              <a:t>    "Sales": [250, 300, 400, 350, 500],</a:t>
            </a:r>
          </a:p>
          <a:p>
            <a:r>
              <a:rPr lang="en-IN" dirty="0"/>
              <a:t>    "Profit": [50, 70, 90, 80, 120]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pd.DataFrame</a:t>
            </a:r>
            <a:r>
              <a:rPr lang="en-IN" dirty="0"/>
              <a:t>(data)</a:t>
            </a:r>
          </a:p>
          <a:p>
            <a:endParaRPr lang="en-IN" dirty="0"/>
          </a:p>
          <a:p>
            <a:r>
              <a:rPr lang="en-IN" dirty="0" err="1"/>
              <a:t>sns.lineplot</a:t>
            </a:r>
            <a:r>
              <a:rPr lang="en-IN" dirty="0"/>
              <a:t>(x="Year", y="Sales", data=</a:t>
            </a:r>
            <a:r>
              <a:rPr lang="en-IN" dirty="0" err="1"/>
              <a:t>df</a:t>
            </a:r>
            <a:r>
              <a:rPr lang="en-IN" dirty="0"/>
              <a:t>, marker="o", label="Sales")</a:t>
            </a:r>
          </a:p>
          <a:p>
            <a:r>
              <a:rPr lang="en-IN" dirty="0" err="1"/>
              <a:t>sns.lineplot</a:t>
            </a:r>
            <a:r>
              <a:rPr lang="en-IN" dirty="0"/>
              <a:t>(x="Year", y="Profit", data=</a:t>
            </a:r>
            <a:r>
              <a:rPr lang="en-IN" dirty="0" err="1"/>
              <a:t>df</a:t>
            </a:r>
            <a:r>
              <a:rPr lang="en-IN" dirty="0"/>
              <a:t>, marker="s", label="Profit")</a:t>
            </a:r>
          </a:p>
          <a:p>
            <a:endParaRPr lang="en-IN" dirty="0"/>
          </a:p>
          <a:p>
            <a:r>
              <a:rPr lang="en-IN" dirty="0" err="1"/>
              <a:t>plt.title</a:t>
            </a:r>
            <a:r>
              <a:rPr lang="en-IN" dirty="0"/>
              <a:t>("Sales &amp; Profit over Years")</a:t>
            </a:r>
          </a:p>
          <a:p>
            <a:r>
              <a:rPr lang="en-IN" dirty="0" err="1"/>
              <a:t>plt.legend</a:t>
            </a:r>
            <a:r>
              <a:rPr lang="en-IN" dirty="0"/>
              <a:t>()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395682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B15A685-A09A-24BF-EA30-027DA69A5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7C17169-F03E-9251-B5C8-C6232A681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CAC6F51-23DA-17C4-4AD1-5EF5BDD90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Seaborn</a:t>
            </a:r>
            <a:r>
              <a:rPr lang="en-IN" dirty="0"/>
              <a:t> makes plots easier &amp; prettier compared to Matplotlib.</a:t>
            </a:r>
          </a:p>
          <a:p>
            <a:r>
              <a:rPr lang="en-IN" dirty="0"/>
              <a:t>Important plots:</a:t>
            </a:r>
          </a:p>
          <a:p>
            <a:pPr lvl="1"/>
            <a:r>
              <a:rPr lang="en-IN" dirty="0"/>
              <a:t>scatterplot, </a:t>
            </a:r>
            <a:r>
              <a:rPr lang="en-IN" dirty="0" err="1"/>
              <a:t>histplot</a:t>
            </a:r>
            <a:r>
              <a:rPr lang="en-IN" dirty="0"/>
              <a:t>, boxplot, </a:t>
            </a:r>
            <a:r>
              <a:rPr lang="en-IN" dirty="0" err="1"/>
              <a:t>violinplot</a:t>
            </a:r>
            <a:r>
              <a:rPr lang="en-IN" dirty="0"/>
              <a:t>, </a:t>
            </a:r>
            <a:r>
              <a:rPr lang="en-IN" dirty="0" err="1"/>
              <a:t>barplot</a:t>
            </a:r>
            <a:r>
              <a:rPr lang="en-IN" dirty="0"/>
              <a:t>, </a:t>
            </a:r>
            <a:r>
              <a:rPr lang="en-IN" dirty="0" err="1"/>
              <a:t>countplot</a:t>
            </a:r>
            <a:endParaRPr lang="en-IN" dirty="0"/>
          </a:p>
          <a:p>
            <a:pPr lvl="1"/>
            <a:r>
              <a:rPr lang="en-IN" dirty="0" err="1"/>
              <a:t>pairplot</a:t>
            </a:r>
            <a:r>
              <a:rPr lang="en-IN" dirty="0"/>
              <a:t>, heatmap, </a:t>
            </a:r>
            <a:r>
              <a:rPr lang="en-IN" dirty="0" err="1"/>
              <a:t>regplot</a:t>
            </a:r>
            <a:r>
              <a:rPr lang="en-IN" dirty="0"/>
              <a:t>, </a:t>
            </a:r>
            <a:r>
              <a:rPr lang="en-IN" dirty="0" err="1"/>
              <a:t>lineplot</a:t>
            </a:r>
            <a:endParaRPr lang="en-IN" dirty="0"/>
          </a:p>
          <a:p>
            <a:r>
              <a:rPr lang="en-IN" dirty="0"/>
              <a:t>Integrated with </a:t>
            </a:r>
            <a:r>
              <a:rPr lang="en-IN" b="1" dirty="0"/>
              <a:t>Pandas </a:t>
            </a:r>
            <a:r>
              <a:rPr lang="en-IN" b="1" dirty="0" err="1"/>
              <a:t>DataFrames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655553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1374</Words>
  <Application>Microsoft Office PowerPoint</Application>
  <PresentationFormat>Custom</PresentationFormat>
  <Paragraphs>236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Matplotlib &amp; Seaborn </vt:lpstr>
      <vt:lpstr>Data Visualization in Exploratory Data Analysis (EDA)</vt:lpstr>
      <vt:lpstr>Role of Data Visualization in EDA</vt:lpstr>
      <vt:lpstr>Common Visualization Techniques for EDA</vt:lpstr>
      <vt:lpstr>Key Insights You Can Get</vt:lpstr>
      <vt:lpstr>Matplotlib -Introduction </vt:lpstr>
      <vt:lpstr>Basic Plot </vt:lpstr>
      <vt:lpstr>Multiple Lines in One Plot </vt:lpstr>
      <vt:lpstr>Markers and Line Styles </vt:lpstr>
      <vt:lpstr>Bar Chart </vt:lpstr>
      <vt:lpstr>Horizontal Bar Chart </vt:lpstr>
      <vt:lpstr>Scatter Plot </vt:lpstr>
      <vt:lpstr>Histogram </vt:lpstr>
      <vt:lpstr>Pie Chart </vt:lpstr>
      <vt:lpstr>Subplots (Multiple Graphs) </vt:lpstr>
      <vt:lpstr>Customizing Plots</vt:lpstr>
      <vt:lpstr>Integration with Pandas </vt:lpstr>
      <vt:lpstr>Seaborn </vt:lpstr>
      <vt:lpstr>Basic Example</vt:lpstr>
      <vt:lpstr>Distribution Plot </vt:lpstr>
      <vt:lpstr>Box Plot (for Outliers) </vt:lpstr>
      <vt:lpstr>Violin Plot (Shape of Distribution) </vt:lpstr>
      <vt:lpstr>Bar Plot (Categorical Data) </vt:lpstr>
      <vt:lpstr>Count Plot (Counts Categories) </vt:lpstr>
      <vt:lpstr>Pair Plot (Multi-variable Relationships) </vt:lpstr>
      <vt:lpstr>Heatmap (Correlation Matrix) </vt:lpstr>
      <vt:lpstr>Regression Plot (Trend Line) </vt:lpstr>
      <vt:lpstr>Style Customization </vt:lpstr>
      <vt:lpstr>Seaborn with Pandas DataFrame </vt:lpstr>
      <vt:lpstr>Summary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Matplotlib &amp; Seaborn </dc:title>
  <dc:creator>Mr.K.Arun Kumar</dc:creator>
  <cp:lastModifiedBy>kanakaraj</cp:lastModifiedBy>
  <cp:revision>14</cp:revision>
  <dcterms:created xsi:type="dcterms:W3CDTF">2025-09-30T13:12:04Z</dcterms:created>
  <dcterms:modified xsi:type="dcterms:W3CDTF">2003-12-31T23:16:04Z</dcterms:modified>
</cp:coreProperties>
</file>