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1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52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12DB1-FDF6-4BD0-9AB7-912FF2A78CCB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6C8F4-DC06-432D-96C5-3EE71FEF899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Milestone - 2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Milestone - 2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/>
          <a:lstStyle/>
          <a:p>
            <a:pPr algn="just"/>
            <a:r>
              <a:rPr lang="en-US" dirty="0"/>
              <a:t>Implement personalized email generation. </a:t>
            </a:r>
            <a:endParaRPr lang="en-US" dirty="0" smtClean="0"/>
          </a:p>
          <a:p>
            <a:pPr algn="just"/>
            <a:r>
              <a:rPr lang="en-US" dirty="0" smtClean="0"/>
              <a:t>Develop </a:t>
            </a:r>
            <a:r>
              <a:rPr lang="en-US" dirty="0"/>
              <a:t>lead scoring and qualification engine. </a:t>
            </a:r>
            <a:endParaRPr lang="en-US" dirty="0" smtClean="0"/>
          </a:p>
          <a:p>
            <a:pPr algn="just"/>
            <a:r>
              <a:rPr lang="en-US" dirty="0" smtClean="0"/>
              <a:t>Generate </a:t>
            </a:r>
            <a:r>
              <a:rPr lang="en-US" dirty="0"/>
              <a:t>outreach recommendations and engagement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3.AI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Outreach Generation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personalized cold emails and sales messages.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outreach content based on prospect profiles.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Customize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communication strategies for different industries.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4. Lead Scoring &amp; Recommendation Engine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conversion likelihood using AI models.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Assign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lead scores based on engagement and company characteristics.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next-best-action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Module 3: AI Outreach Generation (Sales </a:t>
            </a:r>
            <a:r>
              <a:rPr lang="en-US" dirty="0" err="1" smtClean="0"/>
              <a:t>GenieAI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 smtClean="0"/>
              <a:t>Sales </a:t>
            </a:r>
            <a:r>
              <a:rPr lang="en-US" b="1" dirty="0" err="1" smtClean="0"/>
              <a:t>GenieAI</a:t>
            </a:r>
            <a:r>
              <a:rPr lang="en-US" dirty="0" smtClean="0"/>
              <a:t> acts as an AI-powered sales assistant that helps sales teams:</a:t>
            </a:r>
          </a:p>
          <a:p>
            <a:pPr algn="just"/>
            <a:r>
              <a:rPr lang="en-US" dirty="0" smtClean="0"/>
              <a:t>Generate personalized cold emails. </a:t>
            </a:r>
          </a:p>
          <a:p>
            <a:pPr algn="just"/>
            <a:r>
              <a:rPr lang="en-US" dirty="0" smtClean="0"/>
              <a:t>Create follow-up messages. </a:t>
            </a:r>
          </a:p>
          <a:p>
            <a:pPr algn="just"/>
            <a:r>
              <a:rPr lang="en-US" dirty="0" smtClean="0"/>
              <a:t>Recommend communication strategies. </a:t>
            </a:r>
          </a:p>
          <a:p>
            <a:pPr algn="just"/>
            <a:r>
              <a:rPr lang="en-US" dirty="0" smtClean="0"/>
              <a:t>Improve customer engagement. </a:t>
            </a:r>
          </a:p>
          <a:p>
            <a:pPr algn="just"/>
            <a:r>
              <a:rPr lang="en-US" dirty="0" smtClean="0"/>
              <a:t>Increase response rates.</a:t>
            </a: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fontScale="55000" lnSpcReduction="20000"/>
          </a:bodyPr>
          <a:lstStyle/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Prospect Database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│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▼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Collect Customer Information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│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▼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Analyze Company &amp; Industry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│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▼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Generate Personalized Email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│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▼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Sales Representative Review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│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▼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Send Email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│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▼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Track Response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smtClean="0"/>
              <a:t>Python Implementation Step 1: Prospect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prospect = {</a:t>
            </a:r>
          </a:p>
          <a:p>
            <a:pPr>
              <a:buNone/>
            </a:pPr>
            <a:r>
              <a:rPr lang="en-US" dirty="0" smtClean="0"/>
              <a:t>    "name": "John Smith",</a:t>
            </a:r>
          </a:p>
          <a:p>
            <a:pPr>
              <a:buNone/>
            </a:pPr>
            <a:r>
              <a:rPr lang="en-US" dirty="0" smtClean="0"/>
              <a:t>    "company": "</a:t>
            </a:r>
            <a:r>
              <a:rPr lang="en-US" dirty="0" err="1" smtClean="0"/>
              <a:t>TechNova</a:t>
            </a:r>
            <a:r>
              <a:rPr lang="en-US" dirty="0" smtClean="0"/>
              <a:t> Solutions",</a:t>
            </a:r>
          </a:p>
          <a:p>
            <a:pPr>
              <a:buNone/>
            </a:pPr>
            <a:r>
              <a:rPr lang="en-US" dirty="0" smtClean="0"/>
              <a:t>    "industry": "Software",</a:t>
            </a:r>
          </a:p>
          <a:p>
            <a:pPr>
              <a:buNone/>
            </a:pPr>
            <a:r>
              <a:rPr lang="en-US" dirty="0" smtClean="0"/>
              <a:t>    "designation": "Sales Manager",</a:t>
            </a:r>
          </a:p>
          <a:p>
            <a:pPr>
              <a:buNone/>
            </a:pPr>
            <a:r>
              <a:rPr lang="en-US" dirty="0" smtClean="0"/>
              <a:t>    "</a:t>
            </a:r>
            <a:r>
              <a:rPr lang="en-US" dirty="0" err="1" smtClean="0"/>
              <a:t>pain_point</a:t>
            </a:r>
            <a:r>
              <a:rPr lang="en-US" dirty="0" smtClean="0"/>
              <a:t>": "Low Lead Conversion"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it-IT" dirty="0" smtClean="0"/>
              <a:t>Step 2: AI Email Generator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generate_email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(prospect):</a:t>
            </a:r>
          </a:p>
          <a:p>
            <a:pPr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email = f"""</a:t>
            </a: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Subject: Helping {prospect['company']} Improve Sales Performance</a:t>
            </a:r>
          </a:p>
          <a:p>
            <a:pPr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Hi {prospect['name']},</a:t>
            </a:r>
          </a:p>
          <a:p>
            <a:pPr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 noticed that {prospect['company']} is growing rapidly in the {prospect['industry']} industry.</a:t>
            </a:r>
          </a:p>
          <a:p>
            <a:pPr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Many companies face challenges like {prospect['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pain_point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']}.</a:t>
            </a:r>
          </a:p>
          <a:p>
            <a:pPr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Our AI Sales Intelligence Platform helps businesses identify high-quality leads, automate outreach, and increase conversions.</a:t>
            </a:r>
          </a:p>
          <a:p>
            <a:pPr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Would you be available for a quick 15-minute demo next week?</a:t>
            </a:r>
          </a:p>
          <a:p>
            <a:pPr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Regards,</a:t>
            </a: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Sales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GenieAI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""“</a:t>
            </a: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return email</a:t>
            </a:r>
          </a:p>
          <a:p>
            <a:pPr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generate_email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(prospect))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/>
              <a:t>Output</a:t>
            </a:r>
          </a:p>
          <a:p>
            <a:pPr>
              <a:buNone/>
            </a:pPr>
            <a:r>
              <a:rPr lang="en-US" b="1" dirty="0" smtClean="0"/>
              <a:t>Subject: Helping </a:t>
            </a:r>
            <a:r>
              <a:rPr lang="en-US" b="1" dirty="0" err="1" smtClean="0"/>
              <a:t>TechNova</a:t>
            </a:r>
            <a:r>
              <a:rPr lang="en-US" b="1" dirty="0" smtClean="0"/>
              <a:t> Solutions Improve Sales Performance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Hi John Smith,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I noticed that </a:t>
            </a:r>
            <a:r>
              <a:rPr lang="en-US" b="1" dirty="0" err="1" smtClean="0"/>
              <a:t>TechNova</a:t>
            </a:r>
            <a:r>
              <a:rPr lang="en-US" b="1" dirty="0" smtClean="0"/>
              <a:t> Solutions is growing rapidly in the Software industry.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Many companies face challenges like Low Lead Conversion.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Our AI Sales Intelligence Platform helps businesses identify high-quality leads, automate outreach, and increase conversions.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Would you be available for a quick 15-minute demo next week?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Regards,</a:t>
            </a:r>
          </a:p>
          <a:p>
            <a:pPr>
              <a:buNone/>
            </a:pPr>
            <a:r>
              <a:rPr lang="en-US" b="1" dirty="0" smtClean="0"/>
              <a:t>Sales </a:t>
            </a:r>
            <a:r>
              <a:rPr lang="en-US" b="1" dirty="0" err="1" smtClean="0"/>
              <a:t>GenieAI</a:t>
            </a:r>
            <a:endParaRPr lang="en-US" b="1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/>
              <a:t>Industry-Based Communication Strategy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err="1" smtClean="0"/>
              <a:t>industry_messages</a:t>
            </a:r>
            <a:r>
              <a:rPr lang="en-US" dirty="0" smtClean="0"/>
              <a:t> = {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"Healthcare":</a:t>
            </a:r>
          </a:p>
          <a:p>
            <a:pPr>
              <a:buNone/>
            </a:pPr>
            <a:r>
              <a:rPr lang="en-US" dirty="0" smtClean="0"/>
              <a:t>    "Improve patient engagement using AI-powered healthcare analytics.",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"Finance":</a:t>
            </a:r>
          </a:p>
          <a:p>
            <a:pPr>
              <a:buNone/>
            </a:pPr>
            <a:r>
              <a:rPr lang="en-US" dirty="0" smtClean="0"/>
              <a:t>    "Boost customer acquisition through intelligent financial lead scoring.",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"Education":</a:t>
            </a:r>
          </a:p>
          <a:p>
            <a:pPr>
              <a:buNone/>
            </a:pPr>
            <a:r>
              <a:rPr lang="en-US" dirty="0" smtClean="0"/>
              <a:t>    "Increase student enrollment using AI-based outreach campaigns.",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"Retail":</a:t>
            </a:r>
          </a:p>
          <a:p>
            <a:pPr>
              <a:buNone/>
            </a:pPr>
            <a:r>
              <a:rPr lang="en-US" dirty="0" smtClean="0"/>
              <a:t>    "Improve customer retention using personalized marketing.",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"Software":</a:t>
            </a:r>
          </a:p>
          <a:p>
            <a:pPr>
              <a:buNone/>
            </a:pPr>
            <a:r>
              <a:rPr lang="en-US" dirty="0" smtClean="0"/>
              <a:t>    "Accelerate B2B sales using AI-powered lead intelligence."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industry = "Software"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industry_messages</a:t>
            </a:r>
            <a:r>
              <a:rPr lang="en-US" dirty="0" smtClean="0"/>
              <a:t>[industry])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Output</a:t>
            </a:r>
          </a:p>
          <a:p>
            <a:pPr>
              <a:buNone/>
            </a:pPr>
            <a:r>
              <a:rPr lang="en-US" dirty="0" smtClean="0"/>
              <a:t>	Accelerate B2B sales using AI-powered lead intelligence.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AI Follow-up Message Generator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def </a:t>
            </a:r>
            <a:r>
              <a:rPr lang="en-US" dirty="0" err="1" smtClean="0"/>
              <a:t>follow_up</a:t>
            </a:r>
            <a:r>
              <a:rPr lang="en-US" dirty="0" smtClean="0"/>
              <a:t>(name):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return f"""</a:t>
            </a:r>
          </a:p>
          <a:p>
            <a:pPr>
              <a:buNone/>
            </a:pPr>
            <a:r>
              <a:rPr lang="en-US" dirty="0" smtClean="0"/>
              <a:t>Hello {name},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Just following up regarding my previous email.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I'd be happy to show how our AI Sales Intelligence Platform can improve your sales pipeline.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Please let me know a convenient time.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Regards,</a:t>
            </a:r>
          </a:p>
          <a:p>
            <a:pPr>
              <a:buNone/>
            </a:pPr>
            <a:r>
              <a:rPr lang="en-US" dirty="0" smtClean="0"/>
              <a:t>Sales </a:t>
            </a:r>
            <a:r>
              <a:rPr lang="en-US" dirty="0" err="1" smtClean="0"/>
              <a:t>GenieAI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"""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follow_up</a:t>
            </a:r>
            <a:r>
              <a:rPr lang="en-US" dirty="0" smtClean="0"/>
              <a:t>("John"))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/>
              <a:t>CRM Database</a:t>
            </a:r>
          </a:p>
          <a:p>
            <a:pPr>
              <a:buNone/>
            </a:pPr>
            <a:r>
              <a:rPr lang="en-US" dirty="0" smtClean="0"/>
              <a:t>      │</a:t>
            </a:r>
          </a:p>
          <a:p>
            <a:pPr>
              <a:buNone/>
            </a:pPr>
            <a:r>
              <a:rPr lang="en-US" dirty="0" smtClean="0"/>
              <a:t>      ▼</a:t>
            </a:r>
          </a:p>
          <a:p>
            <a:pPr>
              <a:buNone/>
            </a:pPr>
            <a:r>
              <a:rPr lang="en-US" dirty="0" smtClean="0"/>
              <a:t>Prospect Information</a:t>
            </a:r>
          </a:p>
          <a:p>
            <a:pPr>
              <a:buNone/>
            </a:pPr>
            <a:r>
              <a:rPr lang="en-US" dirty="0" smtClean="0"/>
              <a:t>      │</a:t>
            </a:r>
          </a:p>
          <a:p>
            <a:pPr>
              <a:buNone/>
            </a:pPr>
            <a:r>
              <a:rPr lang="en-US" dirty="0" smtClean="0"/>
              <a:t>      ▼</a:t>
            </a:r>
          </a:p>
          <a:p>
            <a:pPr>
              <a:buNone/>
            </a:pPr>
            <a:r>
              <a:rPr lang="en-US" dirty="0" smtClean="0"/>
              <a:t>Sales </a:t>
            </a:r>
            <a:r>
              <a:rPr lang="en-US" dirty="0" err="1" smtClean="0"/>
              <a:t>GenieAI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│</a:t>
            </a:r>
          </a:p>
          <a:p>
            <a:pPr>
              <a:buNone/>
            </a:pPr>
            <a:r>
              <a:rPr lang="en-US" dirty="0" smtClean="0"/>
              <a:t> ┌────┼────┐</a:t>
            </a:r>
          </a:p>
          <a:p>
            <a:pPr>
              <a:buNone/>
            </a:pPr>
            <a:r>
              <a:rPr lang="en-US" dirty="0" smtClean="0"/>
              <a:t> │    │    │</a:t>
            </a:r>
          </a:p>
          <a:p>
            <a:pPr>
              <a:buNone/>
            </a:pPr>
            <a:r>
              <a:rPr lang="en-US" dirty="0" smtClean="0"/>
              <a:t> ▼    ▼    ▼</a:t>
            </a:r>
          </a:p>
          <a:p>
            <a:pPr>
              <a:buNone/>
            </a:pPr>
            <a:r>
              <a:rPr lang="en-US" dirty="0" smtClean="0"/>
              <a:t>Cold Email</a:t>
            </a:r>
          </a:p>
          <a:p>
            <a:pPr>
              <a:buNone/>
            </a:pPr>
            <a:r>
              <a:rPr lang="en-US" dirty="0" smtClean="0"/>
              <a:t>LinkedIn Message</a:t>
            </a:r>
          </a:p>
          <a:p>
            <a:pPr>
              <a:buNone/>
            </a:pPr>
            <a:r>
              <a:rPr lang="en-US" dirty="0" smtClean="0"/>
              <a:t>Follow-up Email</a:t>
            </a:r>
          </a:p>
          <a:p>
            <a:pPr>
              <a:buNone/>
            </a:pPr>
            <a:r>
              <a:rPr lang="en-US" dirty="0" smtClean="0"/>
              <a:t>      │</a:t>
            </a:r>
          </a:p>
          <a:p>
            <a:pPr>
              <a:buNone/>
            </a:pPr>
            <a:r>
              <a:rPr lang="en-US" dirty="0" smtClean="0"/>
              <a:t>      ▼</a:t>
            </a:r>
          </a:p>
          <a:p>
            <a:pPr>
              <a:buNone/>
            </a:pPr>
            <a:r>
              <a:rPr lang="en-US" dirty="0" smtClean="0"/>
              <a:t>Customer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Advantages</a:t>
            </a:r>
          </a:p>
          <a:p>
            <a:r>
              <a:rPr lang="en-US" dirty="0" smtClean="0"/>
              <a:t>Personalized communication </a:t>
            </a:r>
          </a:p>
          <a:p>
            <a:r>
              <a:rPr lang="en-US" dirty="0" smtClean="0"/>
              <a:t>Saves manual effort </a:t>
            </a:r>
          </a:p>
          <a:p>
            <a:r>
              <a:rPr lang="en-US" dirty="0" smtClean="0"/>
              <a:t>Improves email response rate </a:t>
            </a:r>
          </a:p>
          <a:p>
            <a:r>
              <a:rPr lang="en-US" dirty="0" smtClean="0"/>
              <a:t>Consistent sales messaging </a:t>
            </a:r>
          </a:p>
          <a:p>
            <a:r>
              <a:rPr lang="en-US" dirty="0" smtClean="0"/>
              <a:t>Supports multiple industries </a:t>
            </a:r>
          </a:p>
          <a:p>
            <a:r>
              <a:rPr lang="en-US" dirty="0" smtClean="0"/>
              <a:t>AI-powered content generation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Module 4: Lead Scoring &amp; Recommendation Engine (Sales </a:t>
            </a:r>
            <a:r>
              <a:rPr lang="en-US" sz="3200" b="1" dirty="0" err="1" smtClean="0"/>
              <a:t>GenieAI</a:t>
            </a:r>
            <a:r>
              <a:rPr lang="en-US" sz="3200" b="1" dirty="0" smtClean="0"/>
              <a:t>)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Lead Scoring Factors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Feature			Description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Email Opens		Number of emails opened Website Visits          </a:t>
            </a:r>
            <a:r>
              <a:rPr lang="en-US" dirty="0" err="1" smtClean="0"/>
              <a:t>Visits</a:t>
            </a:r>
            <a:r>
              <a:rPr lang="en-US" dirty="0" smtClean="0"/>
              <a:t> to company website Demo Request         </a:t>
            </a:r>
            <a:r>
              <a:rPr lang="en-US" sz="2400" dirty="0" smtClean="0"/>
              <a:t>Whether a demo was requested </a:t>
            </a:r>
          </a:p>
          <a:p>
            <a:pPr>
              <a:buNone/>
            </a:pPr>
            <a:r>
              <a:rPr lang="en-US" dirty="0" smtClean="0"/>
              <a:t>	Company Size 		Small, Medium, Enterprise Industry			Business domain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	Previous Purchases	Existing customer history</a:t>
            </a:r>
            <a:endParaRPr 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Lead Data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│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▼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Feature Extraction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│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▼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Machine Learning Model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│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▼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Lead Score Prediction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│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▼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Recommendation Engine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│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▼</a:t>
            </a:r>
          </a:p>
          <a:p>
            <a:pPr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Sales Representative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import pandas as pd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data = {</a:t>
            </a:r>
          </a:p>
          <a:p>
            <a:pPr>
              <a:buNone/>
            </a:pPr>
            <a:r>
              <a:rPr lang="en-US" dirty="0" smtClean="0"/>
              <a:t>    "</a:t>
            </a:r>
            <a:r>
              <a:rPr lang="en-US" dirty="0" err="1" smtClean="0"/>
              <a:t>Email_Open</a:t>
            </a:r>
            <a:r>
              <a:rPr lang="en-US" dirty="0" smtClean="0"/>
              <a:t>":[10,4,8,2,15],</a:t>
            </a:r>
          </a:p>
          <a:p>
            <a:pPr>
              <a:buNone/>
            </a:pPr>
            <a:r>
              <a:rPr lang="en-US" dirty="0" smtClean="0"/>
              <a:t>    "</a:t>
            </a:r>
            <a:r>
              <a:rPr lang="en-US" dirty="0" err="1" smtClean="0"/>
              <a:t>Website_Visit</a:t>
            </a:r>
            <a:r>
              <a:rPr lang="en-US" dirty="0" smtClean="0"/>
              <a:t>":[15,5,10,3,20],</a:t>
            </a:r>
          </a:p>
          <a:p>
            <a:pPr>
              <a:buNone/>
            </a:pPr>
            <a:r>
              <a:rPr lang="en-US" dirty="0" smtClean="0"/>
              <a:t>    "</a:t>
            </a:r>
            <a:r>
              <a:rPr lang="en-US" dirty="0" err="1" smtClean="0"/>
              <a:t>Demo_Request</a:t>
            </a:r>
            <a:r>
              <a:rPr lang="en-US" dirty="0" smtClean="0"/>
              <a:t>":[1,0,1,0,1],</a:t>
            </a:r>
          </a:p>
          <a:p>
            <a:pPr>
              <a:buNone/>
            </a:pPr>
            <a:r>
              <a:rPr lang="en-US" dirty="0" smtClean="0"/>
              <a:t>    "Converted":[1,0,1,0,1]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pd.DataFrame</a:t>
            </a:r>
            <a:r>
              <a:rPr lang="en-US" dirty="0" smtClean="0"/>
              <a:t>(data)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df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Machine Learning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sklearn.model_selection</a:t>
            </a:r>
            <a:r>
              <a:rPr lang="en-US" dirty="0" smtClean="0"/>
              <a:t> import </a:t>
            </a:r>
            <a:r>
              <a:rPr lang="en-US" dirty="0" err="1" smtClean="0"/>
              <a:t>train_test_split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sklearn.ensemble</a:t>
            </a:r>
            <a:r>
              <a:rPr lang="en-US" dirty="0" smtClean="0"/>
              <a:t> import </a:t>
            </a:r>
            <a:r>
              <a:rPr lang="en-US" dirty="0" err="1" smtClean="0"/>
              <a:t>RandomForestClassifier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X = </a:t>
            </a:r>
            <a:r>
              <a:rPr lang="en-US" dirty="0" err="1" smtClean="0"/>
              <a:t>df</a:t>
            </a:r>
            <a:r>
              <a:rPr lang="en-US" dirty="0" smtClean="0"/>
              <a:t>[["</a:t>
            </a:r>
            <a:r>
              <a:rPr lang="en-US" dirty="0" err="1" smtClean="0"/>
              <a:t>Email_Open","Website_Visit","Demo_Request</a:t>
            </a:r>
            <a:r>
              <a:rPr lang="en-US" dirty="0" smtClean="0"/>
              <a:t>"]]</a:t>
            </a:r>
          </a:p>
          <a:p>
            <a:pPr>
              <a:buNone/>
            </a:pPr>
            <a:r>
              <a:rPr lang="en-US" dirty="0" smtClean="0"/>
              <a:t>y = </a:t>
            </a:r>
            <a:r>
              <a:rPr lang="en-US" dirty="0" err="1" smtClean="0"/>
              <a:t>df</a:t>
            </a:r>
            <a:r>
              <a:rPr lang="en-US" dirty="0" smtClean="0"/>
              <a:t>["Converted"]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X_train</a:t>
            </a:r>
            <a:r>
              <a:rPr lang="en-US" dirty="0" smtClean="0"/>
              <a:t>, </a:t>
            </a:r>
            <a:r>
              <a:rPr lang="en-US" dirty="0" err="1" smtClean="0"/>
              <a:t>X_test</a:t>
            </a:r>
            <a:r>
              <a:rPr lang="en-US" dirty="0" smtClean="0"/>
              <a:t>, </a:t>
            </a:r>
            <a:r>
              <a:rPr lang="en-US" dirty="0" err="1" smtClean="0"/>
              <a:t>y_train</a:t>
            </a:r>
            <a:r>
              <a:rPr lang="en-US" dirty="0" smtClean="0"/>
              <a:t>, </a:t>
            </a:r>
            <a:r>
              <a:rPr lang="en-US" dirty="0" err="1" smtClean="0"/>
              <a:t>y_test</a:t>
            </a:r>
            <a:r>
              <a:rPr lang="en-US" dirty="0" smtClean="0"/>
              <a:t> = </a:t>
            </a:r>
            <a:r>
              <a:rPr lang="en-US" dirty="0" err="1" smtClean="0"/>
              <a:t>train_test_split</a:t>
            </a:r>
            <a:r>
              <a:rPr lang="en-US" dirty="0" smtClean="0"/>
              <a:t>(</a:t>
            </a:r>
          </a:p>
          <a:p>
            <a:pPr>
              <a:buNone/>
            </a:pPr>
            <a:r>
              <a:rPr lang="en-US" dirty="0" smtClean="0"/>
              <a:t>    X,</a:t>
            </a:r>
          </a:p>
          <a:p>
            <a:pPr>
              <a:buNone/>
            </a:pPr>
            <a:r>
              <a:rPr lang="en-US" dirty="0" smtClean="0"/>
              <a:t>    y,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test_size</a:t>
            </a:r>
            <a:r>
              <a:rPr lang="en-US" dirty="0" smtClean="0"/>
              <a:t>=0.2,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random_state</a:t>
            </a:r>
            <a:r>
              <a:rPr lang="en-US" dirty="0" smtClean="0"/>
              <a:t>=42</a:t>
            </a:r>
          </a:p>
          <a:p>
            <a:pPr>
              <a:buNone/>
            </a:pP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model = </a:t>
            </a:r>
            <a:r>
              <a:rPr lang="en-US" dirty="0" err="1" smtClean="0"/>
              <a:t>RandomForestClassifier</a:t>
            </a:r>
            <a:r>
              <a:rPr lang="en-US" dirty="0" smtClean="0"/>
              <a:t>()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model.fit(</a:t>
            </a:r>
            <a:r>
              <a:rPr lang="en-US" dirty="0" err="1" smtClean="0"/>
              <a:t>X_train</a:t>
            </a:r>
            <a:r>
              <a:rPr lang="en-US" dirty="0" smtClean="0"/>
              <a:t>, </a:t>
            </a:r>
            <a:r>
              <a:rPr lang="en-US" dirty="0" err="1" smtClean="0"/>
              <a:t>y_train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Predict New Lead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 smtClean="0"/>
              <a:t>new_lead</a:t>
            </a:r>
            <a:r>
              <a:rPr lang="en-US" dirty="0" smtClean="0"/>
              <a:t> = [[12,18,1]]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prediction = </a:t>
            </a:r>
            <a:r>
              <a:rPr lang="en-US" dirty="0" err="1" smtClean="0"/>
              <a:t>model.predict</a:t>
            </a:r>
            <a:r>
              <a:rPr lang="en-US" dirty="0" smtClean="0"/>
              <a:t>(</a:t>
            </a:r>
            <a:r>
              <a:rPr lang="en-US" dirty="0" err="1" smtClean="0"/>
              <a:t>new_lead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print(prediction)</a:t>
            </a:r>
          </a:p>
          <a:p>
            <a:pPr>
              <a:buNone/>
            </a:pPr>
            <a:r>
              <a:rPr lang="en-US" b="1" dirty="0" smtClean="0"/>
              <a:t>Output</a:t>
            </a:r>
          </a:p>
          <a:p>
            <a:pPr>
              <a:buNone/>
            </a:pPr>
            <a:r>
              <a:rPr lang="en-US" dirty="0" smtClean="0"/>
              <a:t>[1]</a:t>
            </a:r>
          </a:p>
          <a:p>
            <a:pPr>
              <a:buNone/>
            </a:pPr>
            <a:r>
              <a:rPr lang="en-US" b="1" dirty="0" smtClean="0"/>
              <a:t>1 = High Probability of Conversion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Lead Score Calculation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probability = </a:t>
            </a:r>
            <a:r>
              <a:rPr lang="en-US" dirty="0" err="1" smtClean="0"/>
              <a:t>model.predict_proba</a:t>
            </a:r>
            <a:r>
              <a:rPr lang="en-US" dirty="0" smtClean="0"/>
              <a:t>(</a:t>
            </a:r>
            <a:r>
              <a:rPr lang="en-US" dirty="0" err="1" smtClean="0"/>
              <a:t>new_lead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score = probability[0][1] * 100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print("Lead Score:", round(score,2))</a:t>
            </a:r>
          </a:p>
          <a:p>
            <a:pPr>
              <a:buNone/>
            </a:pPr>
            <a:r>
              <a:rPr lang="en-US" b="1" dirty="0" smtClean="0"/>
              <a:t>Output</a:t>
            </a:r>
          </a:p>
          <a:p>
            <a:pPr>
              <a:buNone/>
            </a:pPr>
            <a:r>
              <a:rPr lang="en-US" dirty="0" smtClean="0"/>
              <a:t>Lead Score: 96.45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/>
              <a:t>score = 96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if score &gt;= 90:</a:t>
            </a:r>
          </a:p>
          <a:p>
            <a:pPr>
              <a:buNone/>
            </a:pPr>
            <a:r>
              <a:rPr lang="en-US" dirty="0" smtClean="0"/>
              <a:t>    action = "Schedule Product Demo Immediately"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elif</a:t>
            </a:r>
            <a:r>
              <a:rPr lang="en-US" dirty="0" smtClean="0"/>
              <a:t> score &gt;= 70:</a:t>
            </a:r>
          </a:p>
          <a:p>
            <a:pPr>
              <a:buNone/>
            </a:pPr>
            <a:r>
              <a:rPr lang="en-US" dirty="0" smtClean="0"/>
              <a:t>    action = "Send Personalized Proposal"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elif</a:t>
            </a:r>
            <a:r>
              <a:rPr lang="en-US" dirty="0" smtClean="0"/>
              <a:t> score &gt;= 50:</a:t>
            </a:r>
          </a:p>
          <a:p>
            <a:pPr>
              <a:buNone/>
            </a:pPr>
            <a:r>
              <a:rPr lang="en-US" dirty="0" smtClean="0"/>
              <a:t>    action = "Send Follow-up Email"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else:</a:t>
            </a:r>
          </a:p>
          <a:p>
            <a:pPr>
              <a:buNone/>
            </a:pPr>
            <a:r>
              <a:rPr lang="en-US" dirty="0" smtClean="0"/>
              <a:t>    action = "Nurture Lead with Marketing Campaign"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print(action)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smtClean="0"/>
              <a:t>Output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Schedule Product Demo Immediately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Lead Evaluation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/>
              <a:t>def </a:t>
            </a:r>
            <a:r>
              <a:rPr lang="en-US" dirty="0" err="1" smtClean="0"/>
              <a:t>evaluate_lead</a:t>
            </a:r>
            <a:r>
              <a:rPr lang="en-US" dirty="0" smtClean="0"/>
              <a:t>(score):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if score &gt;= 90:</a:t>
            </a:r>
          </a:p>
          <a:p>
            <a:pPr>
              <a:buNone/>
            </a:pPr>
            <a:r>
              <a:rPr lang="en-US" dirty="0" smtClean="0"/>
              <a:t>        return "Hot Lead - Schedule Demo"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elif</a:t>
            </a:r>
            <a:r>
              <a:rPr lang="en-US" dirty="0" smtClean="0"/>
              <a:t> score &gt;= 70:</a:t>
            </a:r>
          </a:p>
          <a:p>
            <a:pPr>
              <a:buNone/>
            </a:pPr>
            <a:r>
              <a:rPr lang="en-US" dirty="0" smtClean="0"/>
              <a:t>        return "Qualified Lead - Send Proposal"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elif</a:t>
            </a:r>
            <a:r>
              <a:rPr lang="en-US" dirty="0" smtClean="0"/>
              <a:t> score &gt;= 50:</a:t>
            </a:r>
          </a:p>
          <a:p>
            <a:pPr>
              <a:buNone/>
            </a:pPr>
            <a:r>
              <a:rPr lang="en-US" dirty="0" smtClean="0"/>
              <a:t>        return "Warm Lead - Follow Up"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else:</a:t>
            </a:r>
          </a:p>
          <a:p>
            <a:pPr>
              <a:buNone/>
            </a:pPr>
            <a:r>
              <a:rPr lang="en-US" dirty="0" smtClean="0"/>
              <a:t>        return "Cold Lead - Marketing Campaign"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lead_score</a:t>
            </a:r>
            <a:r>
              <a:rPr lang="en-US" dirty="0" smtClean="0"/>
              <a:t> = 84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print("Lead Score:", </a:t>
            </a:r>
            <a:r>
              <a:rPr lang="en-US" dirty="0" err="1" smtClean="0"/>
              <a:t>lead_score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print("Recommendation:", </a:t>
            </a:r>
            <a:r>
              <a:rPr lang="en-US" dirty="0" err="1" smtClean="0"/>
              <a:t>evaluate_lead</a:t>
            </a:r>
            <a:r>
              <a:rPr lang="en-US" dirty="0" smtClean="0"/>
              <a:t>(</a:t>
            </a:r>
            <a:r>
              <a:rPr lang="en-US" dirty="0" err="1" smtClean="0"/>
              <a:t>lead_score</a:t>
            </a:r>
            <a:r>
              <a:rPr lang="en-US" dirty="0" smtClean="0"/>
              <a:t>))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Output</a:t>
            </a:r>
          </a:p>
          <a:p>
            <a:r>
              <a:rPr lang="en-US" dirty="0" smtClean="0"/>
              <a:t>Lead Score: 84 Recommendation: Qualified Lead - Send Proposal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dirty="0" smtClean="0"/>
              <a:t>Lead Information</a:t>
            </a:r>
          </a:p>
          <a:p>
            <a:pPr>
              <a:buNone/>
            </a:pPr>
            <a:r>
              <a:rPr lang="en-US" dirty="0" smtClean="0"/>
              <a:t>        │</a:t>
            </a:r>
          </a:p>
          <a:p>
            <a:pPr>
              <a:buNone/>
            </a:pPr>
            <a:r>
              <a:rPr lang="en-US" dirty="0" smtClean="0"/>
              <a:t>        ▼</a:t>
            </a:r>
          </a:p>
          <a:p>
            <a:pPr>
              <a:buNone/>
            </a:pPr>
            <a:r>
              <a:rPr lang="en-US" dirty="0" smtClean="0"/>
              <a:t>Sales </a:t>
            </a:r>
            <a:r>
              <a:rPr lang="en-US" dirty="0" err="1" smtClean="0"/>
              <a:t>GenieAI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│</a:t>
            </a:r>
          </a:p>
          <a:p>
            <a:pPr>
              <a:buNone/>
            </a:pPr>
            <a:r>
              <a:rPr lang="en-US" dirty="0" smtClean="0"/>
              <a:t>        ▼</a:t>
            </a:r>
          </a:p>
          <a:p>
            <a:pPr>
              <a:buNone/>
            </a:pPr>
            <a:r>
              <a:rPr lang="en-US" dirty="0" smtClean="0"/>
              <a:t>Machine Learning Model</a:t>
            </a:r>
          </a:p>
          <a:p>
            <a:pPr>
              <a:buNone/>
            </a:pPr>
            <a:r>
              <a:rPr lang="en-US" dirty="0" smtClean="0"/>
              <a:t>        │</a:t>
            </a:r>
          </a:p>
          <a:p>
            <a:pPr>
              <a:buNone/>
            </a:pPr>
            <a:r>
              <a:rPr lang="en-US" dirty="0" smtClean="0"/>
              <a:t>        ▼</a:t>
            </a:r>
          </a:p>
          <a:p>
            <a:pPr>
              <a:buNone/>
            </a:pPr>
            <a:r>
              <a:rPr lang="en-US" dirty="0" smtClean="0"/>
              <a:t>Lead Score (0–100)</a:t>
            </a:r>
          </a:p>
          <a:p>
            <a:pPr>
              <a:buNone/>
            </a:pPr>
            <a:r>
              <a:rPr lang="en-US" dirty="0" smtClean="0"/>
              <a:t>        │</a:t>
            </a:r>
          </a:p>
          <a:p>
            <a:pPr>
              <a:buNone/>
            </a:pPr>
            <a:r>
              <a:rPr lang="en-US" dirty="0" smtClean="0"/>
              <a:t> ┌──────┼──────────┐</a:t>
            </a:r>
          </a:p>
          <a:p>
            <a:pPr>
              <a:buNone/>
            </a:pPr>
            <a:r>
              <a:rPr lang="en-US" dirty="0" smtClean="0"/>
              <a:t> │      │          │</a:t>
            </a:r>
          </a:p>
          <a:p>
            <a:pPr>
              <a:buNone/>
            </a:pPr>
            <a:r>
              <a:rPr lang="en-US" dirty="0" smtClean="0"/>
              <a:t> ▼      ▼          ▼</a:t>
            </a:r>
          </a:p>
          <a:p>
            <a:pPr>
              <a:buNone/>
            </a:pPr>
            <a:r>
              <a:rPr lang="en-US" dirty="0" smtClean="0"/>
              <a:t>90–100  70–89     50–69</a:t>
            </a:r>
          </a:p>
          <a:p>
            <a:pPr>
              <a:buNone/>
            </a:pPr>
            <a:r>
              <a:rPr lang="en-US" dirty="0" smtClean="0"/>
              <a:t>Hot     Qualified Warm</a:t>
            </a:r>
          </a:p>
          <a:p>
            <a:pPr>
              <a:buNone/>
            </a:pPr>
            <a:r>
              <a:rPr lang="en-US" dirty="0" smtClean="0"/>
              <a:t> │        │         │</a:t>
            </a:r>
          </a:p>
          <a:p>
            <a:pPr>
              <a:buNone/>
            </a:pPr>
            <a:r>
              <a:rPr lang="en-US" dirty="0" smtClean="0"/>
              <a:t> ▼        ▼         ▼</a:t>
            </a:r>
          </a:p>
          <a:p>
            <a:pPr>
              <a:buNone/>
            </a:pPr>
            <a:r>
              <a:rPr lang="en-US" dirty="0" smtClean="0"/>
              <a:t>Demo   Proposal  Follow-up</a:t>
            </a:r>
          </a:p>
          <a:p>
            <a:pPr>
              <a:buNone/>
            </a:pPr>
            <a:r>
              <a:rPr lang="en-US" dirty="0" smtClean="0"/>
              <a:t>        │</a:t>
            </a:r>
          </a:p>
          <a:p>
            <a:pPr>
              <a:buNone/>
            </a:pPr>
            <a:r>
              <a:rPr lang="en-US" dirty="0" smtClean="0"/>
              <a:t>        ▼</a:t>
            </a:r>
          </a:p>
          <a:p>
            <a:pPr>
              <a:buNone/>
            </a:pPr>
            <a:r>
              <a:rPr lang="en-US" dirty="0" smtClean="0"/>
              <a:t>Sales Success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Technologies Used</a:t>
            </a:r>
          </a:p>
          <a:p>
            <a:r>
              <a:rPr lang="en-US" b="1" dirty="0" smtClean="0"/>
              <a:t>Programming Language:</a:t>
            </a:r>
            <a:r>
              <a:rPr lang="en-US" dirty="0" smtClean="0"/>
              <a:t> Python </a:t>
            </a:r>
          </a:p>
          <a:p>
            <a:r>
              <a:rPr lang="en-US" b="1" dirty="0" smtClean="0"/>
              <a:t>Data Handling:</a:t>
            </a:r>
            <a:r>
              <a:rPr lang="en-US" dirty="0" smtClean="0"/>
              <a:t> Pandas </a:t>
            </a:r>
          </a:p>
          <a:p>
            <a:r>
              <a:rPr lang="en-US" b="1" dirty="0" smtClean="0"/>
              <a:t>Machine Learning:</a:t>
            </a:r>
            <a:r>
              <a:rPr lang="en-US" dirty="0" smtClean="0"/>
              <a:t> </a:t>
            </a:r>
            <a:r>
              <a:rPr lang="en-US" dirty="0" err="1" smtClean="0"/>
              <a:t>Scikit</a:t>
            </a:r>
            <a:r>
              <a:rPr lang="en-US" dirty="0" smtClean="0"/>
              <a:t>-learn (Random Forest Classifier) </a:t>
            </a:r>
          </a:p>
          <a:p>
            <a:r>
              <a:rPr lang="en-US" b="1" dirty="0" smtClean="0"/>
              <a:t>AI Component:</a:t>
            </a:r>
            <a:r>
              <a:rPr lang="en-US" dirty="0" smtClean="0"/>
              <a:t> Sales </a:t>
            </a:r>
            <a:r>
              <a:rPr lang="en-US" dirty="0" err="1" smtClean="0"/>
              <a:t>GenieAI</a:t>
            </a:r>
            <a:r>
              <a:rPr lang="en-US" dirty="0" smtClean="0"/>
              <a:t> for personalized outreach and recommendations </a:t>
            </a:r>
          </a:p>
          <a:p>
            <a:r>
              <a:rPr lang="en-US" b="1" dirty="0" smtClean="0"/>
              <a:t>Database:</a:t>
            </a:r>
            <a:r>
              <a:rPr lang="en-US" dirty="0" smtClean="0"/>
              <a:t> </a:t>
            </a:r>
            <a:r>
              <a:rPr lang="en-US" dirty="0" err="1" smtClean="0"/>
              <a:t>MySQL</a:t>
            </a:r>
            <a:r>
              <a:rPr lang="en-US" dirty="0" smtClean="0"/>
              <a:t> or </a:t>
            </a:r>
            <a:r>
              <a:rPr lang="en-US" dirty="0" err="1" smtClean="0"/>
              <a:t>SQLite</a:t>
            </a:r>
            <a:r>
              <a:rPr lang="en-US" dirty="0" smtClean="0"/>
              <a:t> (for storing prospect and lead information) </a:t>
            </a:r>
          </a:p>
          <a:p>
            <a:r>
              <a:rPr lang="en-US" b="1" dirty="0" smtClean="0"/>
              <a:t>Frontend (optional):</a:t>
            </a:r>
            <a:r>
              <a:rPr lang="en-US" dirty="0" smtClean="0"/>
              <a:t> </a:t>
            </a:r>
            <a:r>
              <a:rPr lang="en-US" dirty="0" err="1" smtClean="0"/>
              <a:t>Tkinter</a:t>
            </a:r>
            <a:r>
              <a:rPr lang="en-US" dirty="0" smtClean="0"/>
              <a:t>, Flask, or </a:t>
            </a:r>
            <a:r>
              <a:rPr lang="en-US" dirty="0" err="1" smtClean="0"/>
              <a:t>Streamlit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Summary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1296" t="33676" r="25926" b="23165"/>
          <a:stretch>
            <a:fillRect/>
          </a:stretch>
        </p:blipFill>
        <p:spPr bwMode="auto">
          <a:xfrm>
            <a:off x="457200" y="609600"/>
            <a:ext cx="83058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1. AI Email Generator</a:t>
            </a:r>
          </a:p>
          <a:p>
            <a:r>
              <a:rPr lang="en-US" b="1" dirty="0" smtClean="0"/>
              <a:t>Purpose</a:t>
            </a:r>
          </a:p>
          <a:p>
            <a:r>
              <a:rPr lang="en-US" dirty="0" smtClean="0"/>
              <a:t>The AI Email Generator automatically creates personalized sales emails based on prospect information stored in the CRM.</a:t>
            </a:r>
          </a:p>
          <a:p>
            <a:r>
              <a:rPr lang="en-US" b="1" dirty="0" smtClean="0"/>
              <a:t>Inputs</a:t>
            </a:r>
          </a:p>
          <a:p>
            <a:r>
              <a:rPr lang="en-US" dirty="0" smtClean="0"/>
              <a:t>Prospect Name </a:t>
            </a:r>
          </a:p>
          <a:p>
            <a:r>
              <a:rPr lang="en-US" dirty="0" smtClean="0"/>
              <a:t>Company Name </a:t>
            </a:r>
          </a:p>
          <a:p>
            <a:r>
              <a:rPr lang="en-US" dirty="0" smtClean="0"/>
              <a:t>Industry </a:t>
            </a:r>
          </a:p>
          <a:p>
            <a:r>
              <a:rPr lang="en-US" dirty="0" smtClean="0"/>
              <a:t>Job Title </a:t>
            </a:r>
          </a:p>
          <a:p>
            <a:r>
              <a:rPr lang="en-US" dirty="0" smtClean="0"/>
              <a:t>Recent Company News </a:t>
            </a:r>
          </a:p>
          <a:p>
            <a:r>
              <a:rPr lang="en-US" dirty="0" smtClean="0"/>
              <a:t>Pain Points </a:t>
            </a:r>
          </a:p>
          <a:p>
            <a:r>
              <a:rPr lang="en-US" dirty="0" smtClean="0"/>
              <a:t>Previous Interactions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Example</a:t>
            </a:r>
          </a:p>
          <a:p>
            <a:r>
              <a:rPr lang="en-US" b="1" dirty="0" smtClean="0"/>
              <a:t>Prospect Information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prospect = {</a:t>
            </a:r>
          </a:p>
          <a:p>
            <a:pPr>
              <a:buNone/>
            </a:pPr>
            <a:r>
              <a:rPr lang="en-US" dirty="0" smtClean="0"/>
              <a:t>    "name": "Sarah Johnson",</a:t>
            </a:r>
          </a:p>
          <a:p>
            <a:pPr>
              <a:buNone/>
            </a:pPr>
            <a:r>
              <a:rPr lang="en-US" dirty="0" smtClean="0"/>
              <a:t>    "company": "</a:t>
            </a:r>
            <a:r>
              <a:rPr lang="en-US" dirty="0" err="1" smtClean="0"/>
              <a:t>TechCorp</a:t>
            </a:r>
            <a:r>
              <a:rPr lang="en-US" dirty="0" smtClean="0"/>
              <a:t>",</a:t>
            </a:r>
          </a:p>
          <a:p>
            <a:pPr>
              <a:buNone/>
            </a:pPr>
            <a:r>
              <a:rPr lang="en-US" dirty="0" smtClean="0"/>
              <a:t>    "industry": "Technology",</a:t>
            </a:r>
          </a:p>
          <a:p>
            <a:pPr>
              <a:buNone/>
            </a:pPr>
            <a:r>
              <a:rPr lang="en-US" dirty="0" smtClean="0"/>
              <a:t>    "event": "Series C Funding",</a:t>
            </a:r>
          </a:p>
          <a:p>
            <a:pPr>
              <a:buNone/>
            </a:pPr>
            <a:r>
              <a:rPr lang="en-US" dirty="0" smtClean="0"/>
              <a:t>    "</a:t>
            </a:r>
            <a:r>
              <a:rPr lang="en-US" dirty="0" err="1" smtClean="0"/>
              <a:t>pain_point</a:t>
            </a:r>
            <a:r>
              <a:rPr lang="en-US" dirty="0" smtClean="0"/>
              <a:t>": "Managing large data pipelines"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b="1" dirty="0" smtClean="0"/>
              <a:t>AI Email Generation</a:t>
            </a:r>
          </a:p>
          <a:p>
            <a:pPr>
              <a:buNone/>
            </a:pPr>
            <a:r>
              <a:rPr lang="en-US" dirty="0" smtClean="0"/>
              <a:t>def </a:t>
            </a:r>
            <a:r>
              <a:rPr lang="en-US" dirty="0" err="1" smtClean="0"/>
              <a:t>generate_email</a:t>
            </a:r>
            <a:r>
              <a:rPr lang="en-US" dirty="0" smtClean="0"/>
              <a:t>(prospect):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email = f"""</a:t>
            </a:r>
          </a:p>
          <a:p>
            <a:pPr>
              <a:buNone/>
            </a:pPr>
            <a:r>
              <a:rPr lang="en-US" dirty="0" smtClean="0"/>
              <a:t>Subject: Transform Your Data Pipeline with AI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Hi {prospect['name']},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 noticed that {prospect['company']} recently secured</a:t>
            </a:r>
          </a:p>
          <a:p>
            <a:pPr>
              <a:buNone/>
            </a:pPr>
            <a:r>
              <a:rPr lang="en-US" dirty="0" smtClean="0"/>
              <a:t>{prospect['event']}.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As your organization grows, efficiently managing</a:t>
            </a:r>
          </a:p>
          <a:p>
            <a:pPr>
              <a:buNone/>
            </a:pPr>
            <a:r>
              <a:rPr lang="en-US" dirty="0" smtClean="0"/>
              <a:t>{prospect['</a:t>
            </a:r>
            <a:r>
              <a:rPr lang="en-US" dirty="0" err="1" smtClean="0"/>
              <a:t>pain_point</a:t>
            </a:r>
            <a:r>
              <a:rPr lang="en-US" dirty="0" smtClean="0"/>
              <a:t>']} becomes increasingly important.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Our AI-powered platform helps organizations reduce</a:t>
            </a:r>
          </a:p>
          <a:p>
            <a:pPr>
              <a:buNone/>
            </a:pPr>
            <a:r>
              <a:rPr lang="en-US" dirty="0" smtClean="0"/>
              <a:t>processing time by 65% and improve operational efficiency.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Would you be available for a short discussion next week?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Regards,</a:t>
            </a:r>
          </a:p>
          <a:p>
            <a:pPr>
              <a:buNone/>
            </a:pPr>
            <a:r>
              <a:rPr lang="en-US" dirty="0" smtClean="0"/>
              <a:t>Sales </a:t>
            </a:r>
            <a:r>
              <a:rPr lang="en-US" dirty="0" err="1" smtClean="0"/>
              <a:t>GenieAI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"""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return email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generate_email</a:t>
            </a:r>
            <a:r>
              <a:rPr lang="en-US" dirty="0" smtClean="0"/>
              <a:t>(prospect))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Output</a:t>
            </a:r>
          </a:p>
          <a:p>
            <a:pPr>
              <a:buNone/>
            </a:pPr>
            <a:r>
              <a:rPr lang="en-US" dirty="0" smtClean="0"/>
              <a:t>Subject: Transform Your Data Pipeline with AI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Hi Sarah Johnson,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 noticed that </a:t>
            </a:r>
            <a:r>
              <a:rPr lang="en-US" dirty="0" err="1" smtClean="0"/>
              <a:t>TechCorp</a:t>
            </a:r>
            <a:r>
              <a:rPr lang="en-US" dirty="0" smtClean="0"/>
              <a:t> recently secured Series C Funding.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As your organization grows, efficiently managing large</a:t>
            </a:r>
          </a:p>
          <a:p>
            <a:pPr>
              <a:buNone/>
            </a:pPr>
            <a:r>
              <a:rPr lang="en-US" dirty="0" smtClean="0"/>
              <a:t>data pipelines becomes increasingly important.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Our AI-powered platform helps organizations reduce</a:t>
            </a:r>
          </a:p>
          <a:p>
            <a:pPr>
              <a:buNone/>
            </a:pPr>
            <a:r>
              <a:rPr lang="en-US" dirty="0" smtClean="0"/>
              <a:t>processing time by 65%.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Regards,</a:t>
            </a:r>
          </a:p>
          <a:p>
            <a:pPr>
              <a:buNone/>
            </a:pPr>
            <a:r>
              <a:rPr lang="en-US" dirty="0" smtClean="0"/>
              <a:t>Sales </a:t>
            </a:r>
            <a:r>
              <a:rPr lang="en-US" dirty="0" err="1" smtClean="0"/>
              <a:t>GenieAI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2. Lead Scoring Engine</a:t>
            </a:r>
          </a:p>
          <a:p>
            <a:r>
              <a:rPr lang="en-US" b="1" dirty="0" smtClean="0"/>
              <a:t>Purpose</a:t>
            </a:r>
          </a:p>
          <a:p>
            <a:r>
              <a:rPr lang="en-US" dirty="0" smtClean="0"/>
              <a:t>Lead Scoring predicts the probability that a prospect will become a customer.</a:t>
            </a:r>
          </a:p>
          <a:p>
            <a:r>
              <a:rPr lang="en-US" b="1" dirty="0" smtClean="0"/>
              <a:t>Lead Scoring Factors</a:t>
            </a:r>
          </a:p>
          <a:p>
            <a:pPr>
              <a:buNone/>
            </a:pPr>
            <a:r>
              <a:rPr lang="en-US" dirty="0" smtClean="0"/>
              <a:t>	Factor				Weight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Company Growth		25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Industry Match			22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Website Visits			18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Email Opens			15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Demo Request			20</a:t>
            </a:r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2484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b="1" dirty="0" smtClean="0"/>
              <a:t>Lead Score Formula</a:t>
            </a:r>
          </a:p>
          <a:p>
            <a:pPr>
              <a:buNone/>
            </a:pPr>
            <a:r>
              <a:rPr lang="en-US" dirty="0" smtClean="0"/>
              <a:t>def </a:t>
            </a:r>
            <a:r>
              <a:rPr lang="en-US" dirty="0" err="1" smtClean="0"/>
              <a:t>calculate_score</a:t>
            </a:r>
            <a:r>
              <a:rPr lang="en-US" dirty="0" smtClean="0"/>
              <a:t>(</a:t>
            </a:r>
            <a:r>
              <a:rPr lang="en-US" dirty="0" err="1" smtClean="0"/>
              <a:t>company_growth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                    </a:t>
            </a:r>
            <a:r>
              <a:rPr lang="en-US" dirty="0" err="1" smtClean="0"/>
              <a:t>industry_match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                    </a:t>
            </a:r>
            <a:r>
              <a:rPr lang="en-US" dirty="0" err="1" smtClean="0"/>
              <a:t>website_visits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                    </a:t>
            </a:r>
            <a:r>
              <a:rPr lang="en-US" dirty="0" err="1" smtClean="0"/>
              <a:t>email_opens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                    </a:t>
            </a:r>
            <a:r>
              <a:rPr lang="en-US" dirty="0" err="1" smtClean="0"/>
              <a:t>demo_request</a:t>
            </a:r>
            <a:r>
              <a:rPr lang="en-US" dirty="0" smtClean="0"/>
              <a:t>):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score = (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company_growth</a:t>
            </a:r>
            <a:r>
              <a:rPr lang="en-US" dirty="0" smtClean="0"/>
              <a:t> +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industry_match</a:t>
            </a:r>
            <a:r>
              <a:rPr lang="en-US" dirty="0" smtClean="0"/>
              <a:t> +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website_visits</a:t>
            </a:r>
            <a:r>
              <a:rPr lang="en-US" dirty="0" smtClean="0"/>
              <a:t> +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email_opens</a:t>
            </a:r>
            <a:r>
              <a:rPr lang="en-US" dirty="0" smtClean="0"/>
              <a:t> +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demo_request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return score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lead_score</a:t>
            </a:r>
            <a:r>
              <a:rPr lang="en-US" dirty="0" smtClean="0"/>
              <a:t> = </a:t>
            </a:r>
            <a:r>
              <a:rPr lang="en-US" dirty="0" err="1" smtClean="0"/>
              <a:t>calculate_score</a:t>
            </a:r>
            <a:r>
              <a:rPr lang="en-US" dirty="0" smtClean="0"/>
              <a:t>(</a:t>
            </a:r>
          </a:p>
          <a:p>
            <a:pPr>
              <a:buNone/>
            </a:pPr>
            <a:r>
              <a:rPr lang="en-US" dirty="0" smtClean="0"/>
              <a:t>    25,</a:t>
            </a:r>
          </a:p>
          <a:p>
            <a:pPr>
              <a:buNone/>
            </a:pPr>
            <a:r>
              <a:rPr lang="en-US" dirty="0" smtClean="0"/>
              <a:t>    22,</a:t>
            </a:r>
          </a:p>
          <a:p>
            <a:pPr>
              <a:buNone/>
            </a:pPr>
            <a:r>
              <a:rPr lang="en-US" dirty="0" smtClean="0"/>
              <a:t>    18,</a:t>
            </a:r>
          </a:p>
          <a:p>
            <a:pPr>
              <a:buNone/>
            </a:pPr>
            <a:r>
              <a:rPr lang="en-US" dirty="0" smtClean="0"/>
              <a:t>    15,</a:t>
            </a:r>
          </a:p>
          <a:p>
            <a:pPr>
              <a:buNone/>
            </a:pPr>
            <a:r>
              <a:rPr lang="en-US" dirty="0" smtClean="0"/>
              <a:t>    12</a:t>
            </a:r>
          </a:p>
          <a:p>
            <a:pPr>
              <a:buNone/>
            </a:pP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print("Lead Score:", </a:t>
            </a:r>
            <a:r>
              <a:rPr lang="en-US" dirty="0" err="1" smtClean="0"/>
              <a:t>lead_score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smtClean="0"/>
              <a:t>Output</a:t>
            </a:r>
          </a:p>
          <a:p>
            <a:r>
              <a:rPr lang="en-US" dirty="0" smtClean="0"/>
              <a:t>Lead Score: 92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3. Machine Learning Lead Prediction</a:t>
            </a:r>
          </a:p>
          <a:p>
            <a:r>
              <a:rPr lang="en-US" b="1" dirty="0" smtClean="0"/>
              <a:t>Training Dataset</a:t>
            </a:r>
          </a:p>
          <a:p>
            <a:pPr>
              <a:buNone/>
            </a:pPr>
            <a:r>
              <a:rPr lang="en-US" b="1" dirty="0" smtClean="0"/>
              <a:t>import pandas as pd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data = {</a:t>
            </a:r>
          </a:p>
          <a:p>
            <a:pPr>
              <a:buNone/>
            </a:pPr>
            <a:r>
              <a:rPr lang="en-US" b="1" dirty="0" smtClean="0"/>
              <a:t>    "</a:t>
            </a:r>
            <a:r>
              <a:rPr lang="en-US" b="1" dirty="0" err="1" smtClean="0"/>
              <a:t>Email_Open</a:t>
            </a:r>
            <a:r>
              <a:rPr lang="en-US" b="1" dirty="0" smtClean="0"/>
              <a:t>":[12,5,15,2,8],</a:t>
            </a:r>
          </a:p>
          <a:p>
            <a:pPr>
              <a:buNone/>
            </a:pPr>
            <a:r>
              <a:rPr lang="en-US" b="1" dirty="0" smtClean="0"/>
              <a:t>    "</a:t>
            </a:r>
            <a:r>
              <a:rPr lang="en-US" b="1" dirty="0" err="1" smtClean="0"/>
              <a:t>Website_Visit</a:t>
            </a:r>
            <a:r>
              <a:rPr lang="en-US" b="1" dirty="0" smtClean="0"/>
              <a:t>":[20,6,18,3,10],</a:t>
            </a:r>
          </a:p>
          <a:p>
            <a:pPr>
              <a:buNone/>
            </a:pPr>
            <a:r>
              <a:rPr lang="en-US" b="1" dirty="0" smtClean="0"/>
              <a:t>    "</a:t>
            </a:r>
            <a:r>
              <a:rPr lang="en-US" b="1" dirty="0" err="1" smtClean="0"/>
              <a:t>Demo_Request</a:t>
            </a:r>
            <a:r>
              <a:rPr lang="en-US" b="1" dirty="0" smtClean="0"/>
              <a:t>":[1,0,1,0,1],</a:t>
            </a:r>
          </a:p>
          <a:p>
            <a:pPr>
              <a:buNone/>
            </a:pPr>
            <a:r>
              <a:rPr lang="en-US" b="1" dirty="0" smtClean="0"/>
              <a:t>    "Converted":[1,0,1,0,1]</a:t>
            </a:r>
          </a:p>
          <a:p>
            <a:pPr>
              <a:buNone/>
            </a:pPr>
            <a:r>
              <a:rPr lang="en-US" b="1" dirty="0" smtClean="0"/>
              <a:t>}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err="1" smtClean="0"/>
              <a:t>df</a:t>
            </a:r>
            <a:r>
              <a:rPr lang="en-US" b="1" dirty="0" smtClean="0"/>
              <a:t> = </a:t>
            </a:r>
            <a:r>
              <a:rPr lang="en-US" b="1" dirty="0" err="1" smtClean="0"/>
              <a:t>pd.DataFrame</a:t>
            </a:r>
            <a:r>
              <a:rPr lang="en-US" b="1" dirty="0" smtClean="0"/>
              <a:t>(data)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Random Forest Model</a:t>
            </a:r>
          </a:p>
          <a:p>
            <a:pPr>
              <a:buNone/>
            </a:pPr>
            <a:r>
              <a:rPr lang="en-US" dirty="0" smtClean="0"/>
              <a:t>from </a:t>
            </a:r>
            <a:r>
              <a:rPr lang="en-US" dirty="0" err="1" smtClean="0"/>
              <a:t>sklearn.ensemble</a:t>
            </a:r>
            <a:r>
              <a:rPr lang="en-US" dirty="0" smtClean="0"/>
              <a:t> import </a:t>
            </a:r>
            <a:r>
              <a:rPr lang="en-US" dirty="0" err="1" smtClean="0"/>
              <a:t>RandomForestClassifier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X = </a:t>
            </a:r>
            <a:r>
              <a:rPr lang="en-US" dirty="0" err="1" smtClean="0"/>
              <a:t>df</a:t>
            </a:r>
            <a:r>
              <a:rPr lang="en-US" dirty="0" smtClean="0"/>
              <a:t>[["</a:t>
            </a:r>
            <a:r>
              <a:rPr lang="en-US" dirty="0" err="1" smtClean="0"/>
              <a:t>Email_Open</a:t>
            </a:r>
            <a:r>
              <a:rPr lang="en-US" dirty="0" smtClean="0"/>
              <a:t>",</a:t>
            </a:r>
          </a:p>
          <a:p>
            <a:pPr>
              <a:buNone/>
            </a:pPr>
            <a:r>
              <a:rPr lang="en-US" dirty="0" smtClean="0"/>
              <a:t>        "</a:t>
            </a:r>
            <a:r>
              <a:rPr lang="en-US" dirty="0" err="1" smtClean="0"/>
              <a:t>Website_Visit</a:t>
            </a:r>
            <a:r>
              <a:rPr lang="en-US" dirty="0" smtClean="0"/>
              <a:t>",</a:t>
            </a:r>
          </a:p>
          <a:p>
            <a:pPr>
              <a:buNone/>
            </a:pPr>
            <a:r>
              <a:rPr lang="en-US" dirty="0" smtClean="0"/>
              <a:t>        "</a:t>
            </a:r>
            <a:r>
              <a:rPr lang="en-US" dirty="0" err="1" smtClean="0"/>
              <a:t>Demo_Request</a:t>
            </a:r>
            <a:r>
              <a:rPr lang="en-US" dirty="0" smtClean="0"/>
              <a:t>"]]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y = </a:t>
            </a:r>
            <a:r>
              <a:rPr lang="en-US" dirty="0" err="1" smtClean="0"/>
              <a:t>df</a:t>
            </a:r>
            <a:r>
              <a:rPr lang="en-US" dirty="0" smtClean="0"/>
              <a:t>["Converted"]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model = </a:t>
            </a:r>
            <a:r>
              <a:rPr lang="en-US" dirty="0" err="1" smtClean="0"/>
              <a:t>RandomForestClassifier</a:t>
            </a:r>
            <a:r>
              <a:rPr lang="en-US" dirty="0" smtClean="0"/>
              <a:t>()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model.fit(X, y)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Predict Conversion Probability</a:t>
            </a:r>
          </a:p>
          <a:p>
            <a:pPr>
              <a:buNone/>
            </a:pPr>
            <a:r>
              <a:rPr lang="en-US" dirty="0" err="1" smtClean="0"/>
              <a:t>new_lead</a:t>
            </a:r>
            <a:r>
              <a:rPr lang="en-US" dirty="0" smtClean="0"/>
              <a:t> = [[14,18,1]]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prediction = </a:t>
            </a:r>
            <a:r>
              <a:rPr lang="en-US" dirty="0" err="1" smtClean="0"/>
              <a:t>model.predict</a:t>
            </a:r>
            <a:r>
              <a:rPr lang="en-US" dirty="0" smtClean="0"/>
              <a:t>(</a:t>
            </a:r>
            <a:r>
              <a:rPr lang="en-US" dirty="0" err="1" smtClean="0"/>
              <a:t>new_lead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probability = </a:t>
            </a:r>
            <a:r>
              <a:rPr lang="en-US" dirty="0" err="1" smtClean="0"/>
              <a:t>model.predict_proba</a:t>
            </a:r>
            <a:r>
              <a:rPr lang="en-US" dirty="0" smtClean="0"/>
              <a:t>(</a:t>
            </a:r>
            <a:r>
              <a:rPr lang="en-US" dirty="0" err="1" smtClean="0"/>
              <a:t>new_lead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print("Prediction:", prediction[0])</a:t>
            </a:r>
          </a:p>
          <a:p>
            <a:pPr>
              <a:buNone/>
            </a:pPr>
            <a:r>
              <a:rPr lang="en-US" dirty="0" smtClean="0"/>
              <a:t>print("Conversion Probability:",</a:t>
            </a:r>
          </a:p>
          <a:p>
            <a:pPr>
              <a:buNone/>
            </a:pPr>
            <a:r>
              <a:rPr lang="en-US" dirty="0" smtClean="0"/>
              <a:t>      round(probability[0][1]*100,2), "%")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o</a:t>
            </a:r>
            <a:r>
              <a:rPr lang="en-US" b="1" dirty="0" smtClean="0"/>
              <a:t>utput</a:t>
            </a:r>
          </a:p>
          <a:p>
            <a:pPr>
              <a:buNone/>
            </a:pPr>
            <a:r>
              <a:rPr lang="en-US" dirty="0" smtClean="0"/>
              <a:t>Prediction: 1 Conversion Probability: 78.45 %</a:t>
            </a:r>
          </a:p>
          <a:p>
            <a:pPr>
              <a:buNone/>
            </a:pPr>
            <a:r>
              <a:rPr lang="en-US" dirty="0" smtClean="0"/>
              <a:t>The dashboard displays:</a:t>
            </a:r>
          </a:p>
          <a:p>
            <a:pPr>
              <a:buNone/>
            </a:pPr>
            <a:r>
              <a:rPr lang="en-US" dirty="0" smtClean="0"/>
              <a:t>Conversion Probability = 78%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4. Outreach Strategy Recommendation Engine</a:t>
            </a:r>
          </a:p>
          <a:p>
            <a:pPr>
              <a:buNone/>
            </a:pPr>
            <a:r>
              <a:rPr lang="en-US" b="1" dirty="0" smtClean="0"/>
              <a:t>Purpose</a:t>
            </a:r>
          </a:p>
          <a:p>
            <a:r>
              <a:rPr lang="en-US" dirty="0" smtClean="0"/>
              <a:t>Sales </a:t>
            </a:r>
            <a:r>
              <a:rPr lang="en-US" dirty="0" err="1" smtClean="0"/>
              <a:t>GenieAI</a:t>
            </a:r>
            <a:r>
              <a:rPr lang="en-US" dirty="0" smtClean="0"/>
              <a:t> recommends the best communication strategy based on lead behavior.</a:t>
            </a:r>
          </a:p>
          <a:p>
            <a:pPr>
              <a:buNone/>
            </a:pPr>
            <a:r>
              <a:rPr lang="en-US" b="1" dirty="0" smtClean="0"/>
              <a:t>Follow-Up Timing Recommendation</a:t>
            </a:r>
          </a:p>
          <a:p>
            <a:pPr>
              <a:buNone/>
            </a:pPr>
            <a:r>
              <a:rPr lang="en-US" b="1" dirty="0" smtClean="0"/>
              <a:t>def </a:t>
            </a:r>
            <a:r>
              <a:rPr lang="en-US" b="1" dirty="0" err="1" smtClean="0"/>
              <a:t>followup_strategy</a:t>
            </a:r>
            <a:r>
              <a:rPr lang="en-US" b="1" dirty="0" smtClean="0"/>
              <a:t>(score):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    if score &gt;= 90:</a:t>
            </a:r>
          </a:p>
          <a:p>
            <a:pPr>
              <a:buNone/>
            </a:pPr>
            <a:r>
              <a:rPr lang="en-US" b="1" dirty="0" smtClean="0"/>
              <a:t>        return "Follow up within 48 hours"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    </a:t>
            </a:r>
            <a:r>
              <a:rPr lang="en-US" b="1" dirty="0" err="1" smtClean="0"/>
              <a:t>elif</a:t>
            </a:r>
            <a:r>
              <a:rPr lang="en-US" b="1" dirty="0" smtClean="0"/>
              <a:t> score &gt;= 70:</a:t>
            </a:r>
          </a:p>
          <a:p>
            <a:pPr>
              <a:buNone/>
            </a:pPr>
            <a:r>
              <a:rPr lang="en-US" b="1" dirty="0" smtClean="0"/>
              <a:t>        return "Follow up within 3 days"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    else:</a:t>
            </a:r>
          </a:p>
          <a:p>
            <a:pPr>
              <a:buNone/>
            </a:pPr>
            <a:r>
              <a:rPr lang="en-US" b="1" dirty="0" smtClean="0"/>
              <a:t>        return "Weekly nurturing campaign"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print(</a:t>
            </a:r>
            <a:r>
              <a:rPr lang="en-US" b="1" dirty="0" err="1" smtClean="0"/>
              <a:t>followup_strategy</a:t>
            </a:r>
            <a:r>
              <a:rPr lang="en-US" b="1" dirty="0" smtClean="0"/>
              <a:t>(92))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Output</a:t>
            </a:r>
          </a:p>
          <a:p>
            <a:r>
              <a:rPr lang="en-US" dirty="0" smtClean="0"/>
              <a:t>Follow up within 48 hours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/>
              <a:t>Channel Mix Recommendation</a:t>
            </a:r>
          </a:p>
          <a:p>
            <a:pPr>
              <a:buNone/>
            </a:pPr>
            <a:r>
              <a:rPr lang="en-US" b="1" dirty="0" smtClean="0"/>
              <a:t>def </a:t>
            </a:r>
            <a:r>
              <a:rPr lang="en-US" b="1" dirty="0" err="1" smtClean="0"/>
              <a:t>channel_mix</a:t>
            </a:r>
            <a:r>
              <a:rPr lang="en-US" b="1" dirty="0" smtClean="0"/>
              <a:t>(score):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    if score &gt;= 90:</a:t>
            </a:r>
          </a:p>
          <a:p>
            <a:pPr>
              <a:buNone/>
            </a:pPr>
            <a:r>
              <a:rPr lang="en-US" b="1" dirty="0" smtClean="0"/>
              <a:t>        return [</a:t>
            </a:r>
          </a:p>
          <a:p>
            <a:pPr>
              <a:buNone/>
            </a:pPr>
            <a:r>
              <a:rPr lang="en-US" b="1" dirty="0" smtClean="0"/>
              <a:t>            "Email",</a:t>
            </a:r>
          </a:p>
          <a:p>
            <a:pPr>
              <a:buNone/>
            </a:pPr>
            <a:r>
              <a:rPr lang="en-US" b="1" dirty="0" smtClean="0"/>
              <a:t>            "LinkedIn",</a:t>
            </a:r>
          </a:p>
          <a:p>
            <a:pPr>
              <a:buNone/>
            </a:pPr>
            <a:r>
              <a:rPr lang="en-US" b="1" dirty="0" smtClean="0"/>
              <a:t>            "Product Demo"</a:t>
            </a:r>
          </a:p>
          <a:p>
            <a:pPr>
              <a:buNone/>
            </a:pPr>
            <a:r>
              <a:rPr lang="en-US" b="1" dirty="0" smtClean="0"/>
              <a:t>        ]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    </a:t>
            </a:r>
            <a:r>
              <a:rPr lang="en-US" b="1" dirty="0" err="1" smtClean="0"/>
              <a:t>elif</a:t>
            </a:r>
            <a:r>
              <a:rPr lang="en-US" b="1" dirty="0" smtClean="0"/>
              <a:t> score &gt;= 70:</a:t>
            </a:r>
          </a:p>
          <a:p>
            <a:pPr>
              <a:buNone/>
            </a:pPr>
            <a:r>
              <a:rPr lang="en-US" b="1" dirty="0" smtClean="0"/>
              <a:t>        return [</a:t>
            </a:r>
          </a:p>
          <a:p>
            <a:pPr>
              <a:buNone/>
            </a:pPr>
            <a:r>
              <a:rPr lang="en-US" b="1" dirty="0" smtClean="0"/>
              <a:t>            "Email",</a:t>
            </a:r>
          </a:p>
          <a:p>
            <a:pPr>
              <a:buNone/>
            </a:pPr>
            <a:r>
              <a:rPr lang="en-US" b="1" dirty="0" smtClean="0"/>
              <a:t>            "LinkedIn"</a:t>
            </a:r>
          </a:p>
          <a:p>
            <a:pPr>
              <a:buNone/>
            </a:pPr>
            <a:r>
              <a:rPr lang="en-US" b="1" dirty="0" smtClean="0"/>
              <a:t>        ]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    else:</a:t>
            </a:r>
          </a:p>
          <a:p>
            <a:pPr>
              <a:buNone/>
            </a:pPr>
            <a:r>
              <a:rPr lang="en-US" b="1" dirty="0" smtClean="0"/>
              <a:t>        return [</a:t>
            </a:r>
          </a:p>
          <a:p>
            <a:pPr>
              <a:buNone/>
            </a:pPr>
            <a:r>
              <a:rPr lang="en-US" b="1" dirty="0" smtClean="0"/>
              <a:t>            "Email Campaign"</a:t>
            </a:r>
          </a:p>
          <a:p>
            <a:pPr>
              <a:buNone/>
            </a:pPr>
            <a:r>
              <a:rPr lang="en-US" b="1" dirty="0" smtClean="0"/>
              <a:t>        ]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print(</a:t>
            </a:r>
            <a:r>
              <a:rPr lang="en-US" b="1" dirty="0" err="1" smtClean="0"/>
              <a:t>channel_mix</a:t>
            </a:r>
            <a:r>
              <a:rPr lang="en-US" b="1" dirty="0" smtClean="0"/>
              <a:t>(92))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Output</a:t>
            </a:r>
          </a:p>
          <a:p>
            <a:r>
              <a:rPr lang="en-US" dirty="0" smtClean="0"/>
              <a:t>['Email', 'LinkedIn', 'Product Demo']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9436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fr-FR" b="1" dirty="0" smtClean="0"/>
              <a:t>5. Content </a:t>
            </a:r>
            <a:r>
              <a:rPr lang="fr-FR" b="1" dirty="0" err="1" smtClean="0"/>
              <a:t>Strategy</a:t>
            </a:r>
            <a:r>
              <a:rPr lang="fr-FR" b="1" dirty="0" smtClean="0"/>
              <a:t> </a:t>
            </a:r>
            <a:r>
              <a:rPr lang="fr-FR" b="1" dirty="0" err="1" smtClean="0"/>
              <a:t>Recommendation</a:t>
            </a:r>
            <a:endParaRPr lang="fr-FR" b="1" dirty="0" smtClean="0"/>
          </a:p>
          <a:p>
            <a:r>
              <a:rPr lang="fr-FR" b="1" dirty="0" smtClean="0"/>
              <a:t>AI </a:t>
            </a:r>
            <a:r>
              <a:rPr lang="fr-FR" b="1" dirty="0" err="1" smtClean="0"/>
              <a:t>Recommendation</a:t>
            </a:r>
            <a:r>
              <a:rPr lang="fr-FR" b="1" dirty="0" smtClean="0"/>
              <a:t> </a:t>
            </a:r>
            <a:r>
              <a:rPr lang="fr-FR" b="1" dirty="0" err="1" smtClean="0"/>
              <a:t>Logic</a:t>
            </a:r>
            <a:endParaRPr lang="fr-FR" b="1" dirty="0" smtClean="0"/>
          </a:p>
          <a:p>
            <a:pPr>
              <a:buNone/>
            </a:pPr>
            <a:r>
              <a:rPr lang="fr-FR" b="1" dirty="0" err="1" smtClean="0"/>
              <a:t>def</a:t>
            </a:r>
            <a:r>
              <a:rPr lang="fr-FR" b="1" dirty="0" smtClean="0"/>
              <a:t> </a:t>
            </a:r>
            <a:r>
              <a:rPr lang="fr-FR" b="1" dirty="0" err="1" smtClean="0"/>
              <a:t>content_strategy</a:t>
            </a:r>
            <a:r>
              <a:rPr lang="fr-FR" b="1" dirty="0" smtClean="0"/>
              <a:t>(</a:t>
            </a:r>
            <a:r>
              <a:rPr lang="fr-FR" b="1" dirty="0" err="1" smtClean="0"/>
              <a:t>industry</a:t>
            </a:r>
            <a:r>
              <a:rPr lang="fr-FR" b="1" dirty="0" smtClean="0"/>
              <a:t>):</a:t>
            </a:r>
          </a:p>
          <a:p>
            <a:pPr>
              <a:buNone/>
            </a:pPr>
            <a:endParaRPr lang="fr-FR" b="1" dirty="0" smtClean="0"/>
          </a:p>
          <a:p>
            <a:pPr>
              <a:buNone/>
            </a:pPr>
            <a:r>
              <a:rPr lang="fr-FR" b="1" dirty="0" smtClean="0"/>
              <a:t>    </a:t>
            </a:r>
            <a:r>
              <a:rPr lang="fr-FR" b="1" dirty="0" err="1" smtClean="0"/>
              <a:t>recommendations</a:t>
            </a:r>
            <a:r>
              <a:rPr lang="fr-FR" b="1" dirty="0" smtClean="0"/>
              <a:t> = {</a:t>
            </a:r>
          </a:p>
          <a:p>
            <a:pPr>
              <a:buNone/>
            </a:pPr>
            <a:endParaRPr lang="fr-FR" b="1" dirty="0" smtClean="0"/>
          </a:p>
          <a:p>
            <a:pPr>
              <a:buNone/>
            </a:pPr>
            <a:r>
              <a:rPr lang="fr-FR" b="1" dirty="0" smtClean="0"/>
              <a:t>        "</a:t>
            </a:r>
            <a:r>
              <a:rPr lang="fr-FR" b="1" dirty="0" err="1" smtClean="0"/>
              <a:t>Technology</a:t>
            </a:r>
            <a:r>
              <a:rPr lang="fr-FR" b="1" dirty="0" smtClean="0"/>
              <a:t>":</a:t>
            </a:r>
          </a:p>
          <a:p>
            <a:pPr>
              <a:buNone/>
            </a:pPr>
            <a:r>
              <a:rPr lang="fr-FR" b="1" dirty="0" smtClean="0"/>
              <a:t>        "</a:t>
            </a:r>
            <a:r>
              <a:rPr lang="fr-FR" b="1" dirty="0" err="1" smtClean="0"/>
              <a:t>Share</a:t>
            </a:r>
            <a:r>
              <a:rPr lang="fr-FR" b="1" dirty="0" smtClean="0"/>
              <a:t> </a:t>
            </a:r>
            <a:r>
              <a:rPr lang="fr-FR" b="1" dirty="0" err="1" smtClean="0"/>
              <a:t>cloud</a:t>
            </a:r>
            <a:r>
              <a:rPr lang="fr-FR" b="1" dirty="0" smtClean="0"/>
              <a:t> migration case </a:t>
            </a:r>
            <a:r>
              <a:rPr lang="fr-FR" b="1" dirty="0" err="1" smtClean="0"/>
              <a:t>studies</a:t>
            </a:r>
            <a:r>
              <a:rPr lang="fr-FR" b="1" dirty="0" smtClean="0"/>
              <a:t>.",</a:t>
            </a:r>
          </a:p>
          <a:p>
            <a:pPr>
              <a:buNone/>
            </a:pPr>
            <a:endParaRPr lang="fr-FR" b="1" dirty="0" smtClean="0"/>
          </a:p>
          <a:p>
            <a:pPr>
              <a:buNone/>
            </a:pPr>
            <a:r>
              <a:rPr lang="fr-FR" b="1" dirty="0" smtClean="0"/>
              <a:t>        "Finance":</a:t>
            </a:r>
          </a:p>
          <a:p>
            <a:pPr>
              <a:buNone/>
            </a:pPr>
            <a:r>
              <a:rPr lang="fr-FR" b="1" dirty="0" smtClean="0"/>
              <a:t>        "</a:t>
            </a:r>
            <a:r>
              <a:rPr lang="fr-FR" b="1" dirty="0" err="1" smtClean="0"/>
              <a:t>Highlight</a:t>
            </a:r>
            <a:r>
              <a:rPr lang="fr-FR" b="1" dirty="0" smtClean="0"/>
              <a:t> ROI and </a:t>
            </a:r>
            <a:r>
              <a:rPr lang="fr-FR" b="1" dirty="0" err="1" smtClean="0"/>
              <a:t>compliance</a:t>
            </a:r>
            <a:r>
              <a:rPr lang="fr-FR" b="1" dirty="0" smtClean="0"/>
              <a:t> </a:t>
            </a:r>
            <a:r>
              <a:rPr lang="fr-FR" b="1" dirty="0" err="1" smtClean="0"/>
              <a:t>benefits</a:t>
            </a:r>
            <a:r>
              <a:rPr lang="fr-FR" b="1" dirty="0" smtClean="0"/>
              <a:t>.",</a:t>
            </a:r>
          </a:p>
          <a:p>
            <a:pPr>
              <a:buNone/>
            </a:pPr>
            <a:endParaRPr lang="fr-FR" b="1" dirty="0" smtClean="0"/>
          </a:p>
          <a:p>
            <a:pPr>
              <a:buNone/>
            </a:pPr>
            <a:r>
              <a:rPr lang="fr-FR" b="1" dirty="0" smtClean="0"/>
              <a:t>        "</a:t>
            </a:r>
            <a:r>
              <a:rPr lang="fr-FR" b="1" dirty="0" err="1" smtClean="0"/>
              <a:t>Healthcare</a:t>
            </a:r>
            <a:r>
              <a:rPr lang="fr-FR" b="1" dirty="0" smtClean="0"/>
              <a:t>":</a:t>
            </a:r>
          </a:p>
          <a:p>
            <a:pPr>
              <a:buNone/>
            </a:pPr>
            <a:r>
              <a:rPr lang="fr-FR" b="1" dirty="0" smtClean="0"/>
              <a:t>        "Focus on patient </a:t>
            </a:r>
            <a:r>
              <a:rPr lang="fr-FR" b="1" dirty="0" err="1" smtClean="0"/>
              <a:t>experience</a:t>
            </a:r>
            <a:r>
              <a:rPr lang="fr-FR" b="1" dirty="0" smtClean="0"/>
              <a:t> </a:t>
            </a:r>
            <a:r>
              <a:rPr lang="fr-FR" b="1" dirty="0" err="1" smtClean="0"/>
              <a:t>improvement</a:t>
            </a:r>
            <a:r>
              <a:rPr lang="fr-FR" b="1" dirty="0" smtClean="0"/>
              <a:t>.",</a:t>
            </a:r>
          </a:p>
          <a:p>
            <a:pPr>
              <a:buNone/>
            </a:pPr>
            <a:endParaRPr lang="fr-FR" b="1" dirty="0" smtClean="0"/>
          </a:p>
          <a:p>
            <a:pPr>
              <a:buNone/>
            </a:pPr>
            <a:r>
              <a:rPr lang="fr-FR" b="1" dirty="0" smtClean="0"/>
              <a:t>        "</a:t>
            </a:r>
            <a:r>
              <a:rPr lang="fr-FR" b="1" dirty="0" err="1" smtClean="0"/>
              <a:t>Retail</a:t>
            </a:r>
            <a:r>
              <a:rPr lang="fr-FR" b="1" dirty="0" smtClean="0"/>
              <a:t>":</a:t>
            </a:r>
          </a:p>
          <a:p>
            <a:pPr>
              <a:buNone/>
            </a:pPr>
            <a:r>
              <a:rPr lang="fr-FR" b="1" dirty="0" smtClean="0"/>
              <a:t>        "Show </a:t>
            </a:r>
            <a:r>
              <a:rPr lang="fr-FR" b="1" dirty="0" err="1" smtClean="0"/>
              <a:t>customer</a:t>
            </a:r>
            <a:r>
              <a:rPr lang="fr-FR" b="1" dirty="0" smtClean="0"/>
              <a:t> </a:t>
            </a:r>
            <a:r>
              <a:rPr lang="fr-FR" b="1" dirty="0" err="1" smtClean="0"/>
              <a:t>retention</a:t>
            </a:r>
            <a:r>
              <a:rPr lang="fr-FR" b="1" dirty="0" smtClean="0"/>
              <a:t> </a:t>
            </a:r>
            <a:r>
              <a:rPr lang="fr-FR" b="1" dirty="0" err="1" smtClean="0"/>
              <a:t>success</a:t>
            </a:r>
            <a:r>
              <a:rPr lang="fr-FR" b="1" dirty="0" smtClean="0"/>
              <a:t> stories."</a:t>
            </a:r>
          </a:p>
          <a:p>
            <a:pPr>
              <a:buNone/>
            </a:pPr>
            <a:r>
              <a:rPr lang="fr-FR" b="1" dirty="0" smtClean="0"/>
              <a:t>    }</a:t>
            </a:r>
          </a:p>
          <a:p>
            <a:pPr>
              <a:buNone/>
            </a:pPr>
            <a:endParaRPr lang="fr-FR" b="1" dirty="0" smtClean="0"/>
          </a:p>
          <a:p>
            <a:pPr>
              <a:buNone/>
            </a:pPr>
            <a:r>
              <a:rPr lang="fr-FR" b="1" dirty="0" smtClean="0"/>
              <a:t>    return recommendations.get(</a:t>
            </a:r>
          </a:p>
          <a:p>
            <a:pPr>
              <a:buNone/>
            </a:pPr>
            <a:r>
              <a:rPr lang="fr-FR" b="1" dirty="0" smtClean="0"/>
              <a:t>        </a:t>
            </a:r>
            <a:r>
              <a:rPr lang="fr-FR" b="1" dirty="0" err="1" smtClean="0"/>
              <a:t>industry</a:t>
            </a:r>
            <a:r>
              <a:rPr lang="fr-FR" b="1" dirty="0" smtClean="0"/>
              <a:t>,</a:t>
            </a:r>
          </a:p>
          <a:p>
            <a:pPr>
              <a:buNone/>
            </a:pPr>
            <a:r>
              <a:rPr lang="fr-FR" b="1" dirty="0" smtClean="0"/>
              <a:t>        "</a:t>
            </a:r>
            <a:r>
              <a:rPr lang="fr-FR" b="1" dirty="0" err="1" smtClean="0"/>
              <a:t>Share</a:t>
            </a:r>
            <a:r>
              <a:rPr lang="fr-FR" b="1" dirty="0" smtClean="0"/>
              <a:t> relevant case </a:t>
            </a:r>
            <a:r>
              <a:rPr lang="fr-FR" b="1" dirty="0" err="1" smtClean="0"/>
              <a:t>studies</a:t>
            </a:r>
            <a:r>
              <a:rPr lang="fr-FR" b="1" dirty="0" smtClean="0"/>
              <a:t>."</a:t>
            </a:r>
          </a:p>
          <a:p>
            <a:pPr>
              <a:buNone/>
            </a:pPr>
            <a:r>
              <a:rPr lang="fr-FR" b="1" dirty="0" smtClean="0"/>
              <a:t>    )</a:t>
            </a:r>
          </a:p>
          <a:p>
            <a:pPr>
              <a:buNone/>
            </a:pPr>
            <a:endParaRPr lang="fr-FR" b="1" dirty="0" smtClean="0"/>
          </a:p>
          <a:p>
            <a:pPr>
              <a:buNone/>
            </a:pPr>
            <a:r>
              <a:rPr lang="fr-FR" b="1" dirty="0" err="1" smtClean="0"/>
              <a:t>print</a:t>
            </a:r>
            <a:r>
              <a:rPr lang="fr-FR" b="1" dirty="0" smtClean="0"/>
              <a:t>(</a:t>
            </a:r>
            <a:r>
              <a:rPr lang="fr-FR" b="1" dirty="0" err="1" smtClean="0"/>
              <a:t>content_strategy</a:t>
            </a:r>
            <a:r>
              <a:rPr lang="fr-FR" b="1" dirty="0" smtClean="0"/>
              <a:t>("</a:t>
            </a:r>
            <a:r>
              <a:rPr lang="fr-FR" b="1" dirty="0" err="1" smtClean="0"/>
              <a:t>Technology</a:t>
            </a:r>
            <a:r>
              <a:rPr lang="fr-FR" b="1" dirty="0" smtClean="0"/>
              <a:t>"))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Output</a:t>
            </a:r>
          </a:p>
          <a:p>
            <a:r>
              <a:rPr lang="en-US" dirty="0" smtClean="0"/>
              <a:t>Share cloud migration case studies.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dirty="0" smtClean="0"/>
              <a:t>Complete Sales </a:t>
            </a:r>
            <a:r>
              <a:rPr lang="en-US" dirty="0" err="1" smtClean="0"/>
              <a:t>GenieAI</a:t>
            </a:r>
            <a:r>
              <a:rPr lang="en-US" dirty="0" smtClean="0"/>
              <a:t> Workflow</a:t>
            </a:r>
          </a:p>
          <a:p>
            <a:pPr>
              <a:buNone/>
            </a:pPr>
            <a:r>
              <a:rPr lang="en-US" dirty="0" smtClean="0"/>
              <a:t>Prospect Database</a:t>
            </a:r>
          </a:p>
          <a:p>
            <a:pPr>
              <a:buNone/>
            </a:pPr>
            <a:r>
              <a:rPr lang="en-US" dirty="0" smtClean="0"/>
              <a:t>        │</a:t>
            </a:r>
          </a:p>
          <a:p>
            <a:pPr>
              <a:buNone/>
            </a:pPr>
            <a:r>
              <a:rPr lang="en-US" dirty="0" smtClean="0"/>
              <a:t>        ▼</a:t>
            </a:r>
          </a:p>
          <a:p>
            <a:pPr>
              <a:buNone/>
            </a:pPr>
            <a:r>
              <a:rPr lang="en-US" dirty="0" smtClean="0"/>
              <a:t>Data Collection</a:t>
            </a:r>
          </a:p>
          <a:p>
            <a:pPr>
              <a:buNone/>
            </a:pPr>
            <a:r>
              <a:rPr lang="en-US" dirty="0" smtClean="0"/>
              <a:t>        │</a:t>
            </a:r>
          </a:p>
          <a:p>
            <a:pPr>
              <a:buNone/>
            </a:pPr>
            <a:r>
              <a:rPr lang="en-US" dirty="0" smtClean="0"/>
              <a:t>        ▼</a:t>
            </a:r>
          </a:p>
          <a:p>
            <a:pPr>
              <a:buNone/>
            </a:pPr>
            <a:r>
              <a:rPr lang="en-US" dirty="0" smtClean="0"/>
              <a:t>AI Prospect Analysis</a:t>
            </a:r>
          </a:p>
          <a:p>
            <a:pPr>
              <a:buNone/>
            </a:pPr>
            <a:r>
              <a:rPr lang="en-US" dirty="0" smtClean="0"/>
              <a:t>        │</a:t>
            </a:r>
          </a:p>
          <a:p>
            <a:pPr>
              <a:buNone/>
            </a:pPr>
            <a:r>
              <a:rPr lang="en-US" dirty="0" smtClean="0"/>
              <a:t> ┌──────┼─────────┐</a:t>
            </a:r>
          </a:p>
          <a:p>
            <a:pPr>
              <a:buNone/>
            </a:pPr>
            <a:r>
              <a:rPr lang="en-US" dirty="0" smtClean="0"/>
              <a:t> │      │         │</a:t>
            </a:r>
          </a:p>
          <a:p>
            <a:pPr>
              <a:buNone/>
            </a:pPr>
            <a:r>
              <a:rPr lang="en-US" dirty="0" smtClean="0"/>
              <a:t> ▼      ▼         ▼</a:t>
            </a:r>
          </a:p>
          <a:p>
            <a:pPr>
              <a:buNone/>
            </a:pPr>
            <a:r>
              <a:rPr lang="en-US" dirty="0" smtClean="0"/>
              <a:t>Email  Lead    Strategy</a:t>
            </a:r>
          </a:p>
          <a:p>
            <a:pPr>
              <a:buNone/>
            </a:pPr>
            <a:r>
              <a:rPr lang="en-US" dirty="0" smtClean="0"/>
              <a:t>Gen.   Score   Engine</a:t>
            </a:r>
          </a:p>
          <a:p>
            <a:pPr>
              <a:buNone/>
            </a:pPr>
            <a:r>
              <a:rPr lang="en-US" dirty="0" smtClean="0"/>
              <a:t> │      │         │</a:t>
            </a:r>
          </a:p>
          <a:p>
            <a:pPr>
              <a:buNone/>
            </a:pPr>
            <a:r>
              <a:rPr lang="en-US" dirty="0" smtClean="0"/>
              <a:t> ▼      ▼         ▼</a:t>
            </a:r>
          </a:p>
          <a:p>
            <a:pPr>
              <a:buNone/>
            </a:pPr>
            <a:r>
              <a:rPr lang="en-US" dirty="0" smtClean="0"/>
              <a:t>Personalized  Conversion</a:t>
            </a:r>
          </a:p>
          <a:p>
            <a:pPr>
              <a:buNone/>
            </a:pPr>
            <a:r>
              <a:rPr lang="en-US" dirty="0" smtClean="0"/>
              <a:t>Outreach      Prediction</a:t>
            </a:r>
          </a:p>
          <a:p>
            <a:pPr>
              <a:buNone/>
            </a:pPr>
            <a:r>
              <a:rPr lang="en-US" dirty="0" smtClean="0"/>
              <a:t>        │</a:t>
            </a:r>
          </a:p>
          <a:p>
            <a:pPr>
              <a:buNone/>
            </a:pPr>
            <a:r>
              <a:rPr lang="en-US" dirty="0" smtClean="0"/>
              <a:t>        ▼</a:t>
            </a:r>
          </a:p>
          <a:p>
            <a:pPr>
              <a:buNone/>
            </a:pPr>
            <a:r>
              <a:rPr lang="en-US" dirty="0" smtClean="0"/>
              <a:t>Next Best Action</a:t>
            </a:r>
          </a:p>
          <a:p>
            <a:pPr>
              <a:buNone/>
            </a:pPr>
            <a:r>
              <a:rPr lang="en-US" dirty="0" smtClean="0"/>
              <a:t>        │</a:t>
            </a:r>
          </a:p>
          <a:p>
            <a:pPr>
              <a:buNone/>
            </a:pPr>
            <a:r>
              <a:rPr lang="en-US" dirty="0" smtClean="0"/>
              <a:t>        ▼</a:t>
            </a:r>
          </a:p>
          <a:p>
            <a:pPr>
              <a:buNone/>
            </a:pPr>
            <a:r>
              <a:rPr lang="en-US" dirty="0" smtClean="0"/>
              <a:t>Sales Representative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Technologies Used in Sales </a:t>
            </a:r>
            <a:r>
              <a:rPr lang="en-US" dirty="0" err="1" smtClean="0"/>
              <a:t>GenieAI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	Component		Technology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/>
              <a:t>	</a:t>
            </a:r>
            <a:r>
              <a:rPr lang="en-US" smtClean="0"/>
              <a:t>	Backend</a:t>
            </a:r>
            <a:r>
              <a:rPr lang="en-US" dirty="0" smtClean="0"/>
              <a:t>			Python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Machine Learning	</a:t>
            </a:r>
            <a:r>
              <a:rPr lang="en-US" dirty="0" err="1" smtClean="0"/>
              <a:t>Scikit</a:t>
            </a:r>
            <a:r>
              <a:rPr lang="en-US" dirty="0" smtClean="0"/>
              <a:t>-learn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Data Processing		Pandas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Database			</a:t>
            </a:r>
            <a:r>
              <a:rPr lang="en-US" dirty="0" err="1" smtClean="0"/>
              <a:t>MySQL</a:t>
            </a:r>
            <a:r>
              <a:rPr lang="en-US" dirty="0" smtClean="0"/>
              <a:t> / </a:t>
            </a:r>
            <a:r>
              <a:rPr lang="en-US" dirty="0" err="1" smtClean="0"/>
              <a:t>PostgreSQL</a:t>
            </a:r>
            <a:r>
              <a:rPr lang="en-US" dirty="0" smtClean="0"/>
              <a:t>	API Layer			Flask / </a:t>
            </a:r>
            <a:r>
              <a:rPr lang="en-US" dirty="0" err="1" smtClean="0"/>
              <a:t>FastAPI</a:t>
            </a:r>
            <a:r>
              <a:rPr lang="en-US" dirty="0" smtClean="0"/>
              <a:t>	Frontend			</a:t>
            </a:r>
            <a:r>
              <a:rPr lang="en-US" dirty="0" err="1" smtClean="0"/>
              <a:t>Streamlit</a:t>
            </a:r>
            <a:r>
              <a:rPr lang="en-US" dirty="0" smtClean="0"/>
              <a:t> / React		AI Content Generation	</a:t>
            </a:r>
            <a:r>
              <a:rPr lang="en-US" dirty="0" err="1" smtClean="0"/>
              <a:t>OpenAI</a:t>
            </a:r>
            <a:r>
              <a:rPr lang="en-US" dirty="0" smtClean="0"/>
              <a:t> GPT Models	Lead Prediction		Random Forest, 						</a:t>
            </a:r>
            <a:r>
              <a:rPr lang="en-US" dirty="0" err="1" smtClean="0"/>
              <a:t>XGBoost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CRM Integration		</a:t>
            </a:r>
            <a:r>
              <a:rPr lang="en-US" dirty="0" err="1" smtClean="0"/>
              <a:t>Salesforce</a:t>
            </a:r>
            <a:r>
              <a:rPr lang="en-US" dirty="0" smtClean="0"/>
              <a:t>, </a:t>
            </a:r>
            <a:r>
              <a:rPr lang="en-US" dirty="0" err="1" smtClean="0"/>
              <a:t>HubSpot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1820</Words>
  <Application>Microsoft Office PowerPoint</Application>
  <PresentationFormat>On-screen Show (4:3)</PresentationFormat>
  <Paragraphs>531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Milestone - 2</vt:lpstr>
      <vt:lpstr>Milestone - 2</vt:lpstr>
      <vt:lpstr>Slide 3</vt:lpstr>
      <vt:lpstr>Module 3: AI Outreach Generation (Sales GenieAI)</vt:lpstr>
      <vt:lpstr>Workflow</vt:lpstr>
      <vt:lpstr>Python Implementation Step 1: Prospect Dataset</vt:lpstr>
      <vt:lpstr>Step 2: AI Email Generator</vt:lpstr>
      <vt:lpstr>Slide 8</vt:lpstr>
      <vt:lpstr>Industry-Based Communication Strategy</vt:lpstr>
      <vt:lpstr>Slide 10</vt:lpstr>
      <vt:lpstr>AI Follow-up Message Generator</vt:lpstr>
      <vt:lpstr>Module Architecture</vt:lpstr>
      <vt:lpstr>Slide 13</vt:lpstr>
      <vt:lpstr>Module 4: Lead Scoring &amp; Recommendation Engine (Sales GenieAI)</vt:lpstr>
      <vt:lpstr>Workflow</vt:lpstr>
      <vt:lpstr>Sample Dataset</vt:lpstr>
      <vt:lpstr>Machine Learning Model</vt:lpstr>
      <vt:lpstr>Predict New Lead</vt:lpstr>
      <vt:lpstr>Lead Score Calculation</vt:lpstr>
      <vt:lpstr>Recommendation Engine</vt:lpstr>
      <vt:lpstr>Complete Lead Evaluation Function</vt:lpstr>
      <vt:lpstr>Recommendation Flow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- 2</dc:title>
  <dc:creator>EXAM</dc:creator>
  <cp:lastModifiedBy>EXAM</cp:lastModifiedBy>
  <cp:revision>38</cp:revision>
  <dcterms:created xsi:type="dcterms:W3CDTF">2026-07-15T04:57:46Z</dcterms:created>
  <dcterms:modified xsi:type="dcterms:W3CDTF">2026-07-15T05:31:17Z</dcterms:modified>
</cp:coreProperties>
</file>