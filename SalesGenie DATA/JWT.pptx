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7" r:id="rId14"/>
    <p:sldId id="295" r:id="rId15"/>
    <p:sldId id="278" r:id="rId16"/>
    <p:sldId id="279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864" y="-5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3621-D0DC-4AE8-BEF1-848AC2CC4E94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9B23-F297-4587-BE61-B0C2F9D548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3621-D0DC-4AE8-BEF1-848AC2CC4E94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9B23-F297-4587-BE61-B0C2F9D548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3621-D0DC-4AE8-BEF1-848AC2CC4E94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9B23-F297-4587-BE61-B0C2F9D548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3621-D0DC-4AE8-BEF1-848AC2CC4E94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9B23-F297-4587-BE61-B0C2F9D548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3621-D0DC-4AE8-BEF1-848AC2CC4E94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9B23-F297-4587-BE61-B0C2F9D548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3621-D0DC-4AE8-BEF1-848AC2CC4E94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9B23-F297-4587-BE61-B0C2F9D548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3621-D0DC-4AE8-BEF1-848AC2CC4E94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9B23-F297-4587-BE61-B0C2F9D548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3621-D0DC-4AE8-BEF1-848AC2CC4E94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9B23-F297-4587-BE61-B0C2F9D548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3621-D0DC-4AE8-BEF1-848AC2CC4E94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9B23-F297-4587-BE61-B0C2F9D548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3621-D0DC-4AE8-BEF1-848AC2CC4E94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9B23-F297-4587-BE61-B0C2F9D548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3621-D0DC-4AE8-BEF1-848AC2CC4E94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9B23-F297-4587-BE61-B0C2F9D548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23621-D0DC-4AE8-BEF1-848AC2CC4E94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29B23-F297-4587-BE61-B0C2F9D548A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accounts.loginradius.com/auth.aspx?return_url=https://console.loginradius.com/login&amp;action=register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ginradius.com/docs/api/v2/single-sign-on/federated-sso/jwt-login/jwt-token-by-email-and-password/" TargetMode="External"/><Relationship Id="rId2" Type="http://schemas.openxmlformats.org/officeDocument/2006/relationships/hyperlink" Target="https://www.loginradius.com/docs/api/v2/single-sign-on/federated-sso/jwt-login/jwt-token-by-access-token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oginradius.com/docs/api/v2/single-sign-on/federated-sso/jwt-login/jwt-token-by-phone-and-password/" TargetMode="External"/><Relationship Id="rId4" Type="http://schemas.openxmlformats.org/officeDocument/2006/relationships/hyperlink" Target="https://www.loginradius.com/docs/api/v2/single-sign-on/federated-sso/jwt-login/jwt-token-by-username-and-password/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0"/>
            <a:ext cx="7772400" cy="2590799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User Registration and Login System using JWT (JSON Web Token)</a:t>
            </a:r>
            <a:r>
              <a:rPr lang="en-US" dirty="0" smtClean="0"/>
              <a:t> in </a:t>
            </a:r>
            <a:r>
              <a:rPr lang="en-US" b="1" dirty="0" smtClean="0"/>
              <a:t>Python (Flask framework)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562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Step 1: Install Dependencies</a:t>
            </a:r>
          </a:p>
          <a:p>
            <a:r>
              <a:rPr lang="en-US" dirty="0" smtClean="0"/>
              <a:t>Open your terminal and install these packages:</a:t>
            </a:r>
          </a:p>
          <a:p>
            <a:pPr>
              <a:buNone/>
            </a:pPr>
            <a:r>
              <a:rPr lang="en-US" dirty="0" smtClean="0"/>
              <a:t>pip install Flask </a:t>
            </a:r>
            <a:r>
              <a:rPr lang="en-US" dirty="0" err="1" smtClean="0"/>
              <a:t>flask</a:t>
            </a:r>
            <a:r>
              <a:rPr lang="en-US" dirty="0" smtClean="0"/>
              <a:t>-</a:t>
            </a:r>
            <a:r>
              <a:rPr lang="en-US" dirty="0" err="1" smtClean="0"/>
              <a:t>bcrypt</a:t>
            </a:r>
            <a:r>
              <a:rPr lang="en-US" dirty="0" smtClean="0"/>
              <a:t> Flask-JWT-Extended</a:t>
            </a:r>
          </a:p>
          <a:p>
            <a:pPr>
              <a:buNone/>
            </a:pPr>
            <a:r>
              <a:rPr lang="en-US" b="1" dirty="0" smtClean="0"/>
              <a:t>Step 2: Project Structure</a:t>
            </a:r>
          </a:p>
          <a:p>
            <a:pPr>
              <a:buNone/>
            </a:pPr>
            <a:r>
              <a:rPr lang="en-US" b="1" dirty="0" err="1" smtClean="0"/>
              <a:t>jwt_auth_app</a:t>
            </a:r>
            <a:r>
              <a:rPr lang="en-US" b="1" dirty="0" smtClean="0"/>
              <a:t>/│</a:t>
            </a:r>
          </a:p>
          <a:p>
            <a:pPr>
              <a:buNone/>
            </a:pPr>
            <a:r>
              <a:rPr lang="en-US" b="1" dirty="0" smtClean="0"/>
              <a:t>├── app.py</a:t>
            </a:r>
          </a:p>
          <a:p>
            <a:pPr>
              <a:buNone/>
            </a:pPr>
            <a:r>
              <a:rPr lang="en-US" b="1" dirty="0" smtClean="0"/>
              <a:t>└── </a:t>
            </a:r>
            <a:r>
              <a:rPr lang="en-US" b="1" dirty="0" err="1" smtClean="0"/>
              <a:t>users.db</a:t>
            </a:r>
            <a:r>
              <a:rPr lang="en-US" b="1" dirty="0" smtClean="0"/>
              <a:t>  (auto-created later)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Step 3: Import Required Libraries</a:t>
            </a:r>
          </a:p>
          <a:p>
            <a:pPr>
              <a:buNone/>
            </a:pPr>
            <a:r>
              <a:rPr lang="en-US" dirty="0" smtClean="0"/>
              <a:t>from flask import Flask, request, </a:t>
            </a:r>
            <a:r>
              <a:rPr lang="en-US" dirty="0" err="1" smtClean="0"/>
              <a:t>jsonify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flask_bcrypt</a:t>
            </a:r>
            <a:r>
              <a:rPr lang="en-US" dirty="0" smtClean="0"/>
              <a:t> import </a:t>
            </a:r>
            <a:r>
              <a:rPr lang="en-US" dirty="0" err="1" smtClean="0"/>
              <a:t>Bcrypt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flask_jwt_extended</a:t>
            </a:r>
            <a:r>
              <a:rPr lang="en-US" dirty="0" smtClean="0"/>
              <a:t> import (    </a:t>
            </a:r>
            <a:r>
              <a:rPr lang="en-US" dirty="0" err="1" smtClean="0"/>
              <a:t>JWTManager</a:t>
            </a:r>
            <a:r>
              <a:rPr lang="en-US" dirty="0" smtClean="0"/>
              <a:t>, </a:t>
            </a:r>
            <a:r>
              <a:rPr lang="en-US" dirty="0" err="1" smtClean="0"/>
              <a:t>create_access_token</a:t>
            </a:r>
            <a:r>
              <a:rPr lang="en-US" dirty="0" smtClean="0"/>
              <a:t>, </a:t>
            </a:r>
            <a:r>
              <a:rPr lang="en-US" dirty="0" err="1" smtClean="0"/>
              <a:t>jwt_required</a:t>
            </a:r>
            <a:r>
              <a:rPr lang="en-US" dirty="0" smtClean="0"/>
              <a:t>, </a:t>
            </a:r>
            <a:r>
              <a:rPr lang="en-US" dirty="0" err="1" smtClean="0"/>
              <a:t>get_jwt_identity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import sqlite3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Step 4: Initialize Flask App and JWT</a:t>
            </a:r>
          </a:p>
          <a:p>
            <a:pPr>
              <a:buNone/>
            </a:pPr>
            <a:r>
              <a:rPr lang="en-US" dirty="0" smtClean="0"/>
              <a:t>app = Flask(__name__)</a:t>
            </a:r>
          </a:p>
          <a:p>
            <a:pPr>
              <a:buNone/>
            </a:pPr>
            <a:r>
              <a:rPr lang="en-US" dirty="0" err="1" smtClean="0"/>
              <a:t>app.config</a:t>
            </a:r>
            <a:r>
              <a:rPr lang="en-US" dirty="0" smtClean="0"/>
              <a:t>['JWT_SECRET_KEY'] = '</a:t>
            </a:r>
            <a:r>
              <a:rPr lang="en-US" dirty="0" err="1" smtClean="0"/>
              <a:t>your_secret_key_here</a:t>
            </a:r>
            <a:r>
              <a:rPr lang="en-US" dirty="0" smtClean="0"/>
              <a:t>'  </a:t>
            </a:r>
          </a:p>
          <a:p>
            <a:pPr>
              <a:buNone/>
            </a:pPr>
            <a:r>
              <a:rPr lang="en-US" dirty="0" smtClean="0"/>
              <a:t># change this to a strong key</a:t>
            </a:r>
          </a:p>
          <a:p>
            <a:pPr>
              <a:buNone/>
            </a:pPr>
            <a:r>
              <a:rPr lang="en-US" dirty="0" err="1" smtClean="0"/>
              <a:t>bcrypt</a:t>
            </a:r>
            <a:r>
              <a:rPr lang="en-US" dirty="0" smtClean="0"/>
              <a:t> = </a:t>
            </a:r>
            <a:r>
              <a:rPr lang="en-US" dirty="0" err="1" smtClean="0"/>
              <a:t>Bcrypt</a:t>
            </a:r>
            <a:r>
              <a:rPr lang="en-US" dirty="0" smtClean="0"/>
              <a:t>(app)</a:t>
            </a:r>
          </a:p>
          <a:p>
            <a:pPr>
              <a:buNone/>
            </a:pPr>
            <a:r>
              <a:rPr lang="en-US" dirty="0" err="1" smtClean="0"/>
              <a:t>jwt</a:t>
            </a:r>
            <a:r>
              <a:rPr lang="en-US" dirty="0" smtClean="0"/>
              <a:t> = </a:t>
            </a:r>
            <a:r>
              <a:rPr lang="en-US" dirty="0" err="1" smtClean="0"/>
              <a:t>JWTManager</a:t>
            </a:r>
            <a:r>
              <a:rPr lang="en-US" dirty="0" smtClean="0"/>
              <a:t>(app)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Step 5: Database Setup (</a:t>
            </a:r>
            <a:r>
              <a:rPr lang="en-US" b="1" dirty="0" err="1" smtClean="0"/>
              <a:t>SQLite</a:t>
            </a:r>
            <a:r>
              <a:rPr lang="en-US" b="1" dirty="0" smtClean="0"/>
              <a:t> for simplicity)</a:t>
            </a:r>
          </a:p>
          <a:p>
            <a:pPr>
              <a:buNone/>
            </a:pPr>
            <a:r>
              <a:rPr lang="en-US" dirty="0" smtClean="0"/>
              <a:t>def </a:t>
            </a:r>
            <a:r>
              <a:rPr lang="en-US" dirty="0" err="1" smtClean="0"/>
              <a:t>init_db</a:t>
            </a:r>
            <a:r>
              <a:rPr lang="en-US" dirty="0" smtClean="0"/>
              <a:t>():    </a:t>
            </a:r>
          </a:p>
          <a:p>
            <a:pPr>
              <a:buNone/>
            </a:pPr>
            <a:r>
              <a:rPr lang="en-US" dirty="0" err="1" smtClean="0"/>
              <a:t>conn</a:t>
            </a:r>
            <a:r>
              <a:rPr lang="en-US" dirty="0" smtClean="0"/>
              <a:t> = sqlite3.connect('</a:t>
            </a:r>
            <a:r>
              <a:rPr lang="en-US" dirty="0" err="1" smtClean="0"/>
              <a:t>users.db</a:t>
            </a:r>
            <a:r>
              <a:rPr lang="en-US" dirty="0" smtClean="0"/>
              <a:t>')   </a:t>
            </a:r>
          </a:p>
          <a:p>
            <a:pPr>
              <a:buNone/>
            </a:pPr>
            <a:r>
              <a:rPr lang="en-US" dirty="0" smtClean="0"/>
              <a:t> c = </a:t>
            </a:r>
            <a:r>
              <a:rPr lang="en-US" dirty="0" err="1" smtClean="0"/>
              <a:t>conn.cursor</a:t>
            </a:r>
            <a:r>
              <a:rPr lang="en-US" dirty="0" smtClean="0"/>
              <a:t>()   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err="1" smtClean="0"/>
              <a:t>c.execute</a:t>
            </a:r>
            <a:r>
              <a:rPr lang="en-US" dirty="0" smtClean="0"/>
              <a:t>('''    </a:t>
            </a:r>
          </a:p>
          <a:p>
            <a:pPr>
              <a:buNone/>
            </a:pPr>
            <a:r>
              <a:rPr lang="en-US" dirty="0" smtClean="0"/>
              <a:t>    CREATE TABLE IF NOT EXISTS users (          </a:t>
            </a:r>
          </a:p>
          <a:p>
            <a:pPr>
              <a:buNone/>
            </a:pPr>
            <a:r>
              <a:rPr lang="en-US" dirty="0" smtClean="0"/>
              <a:t>	  id INTEGER PRIMARY KEY AUTOINCREMENT,     </a:t>
            </a:r>
          </a:p>
          <a:p>
            <a:pPr>
              <a:buNone/>
            </a:pPr>
            <a:r>
              <a:rPr lang="en-US" dirty="0" smtClean="0"/>
              <a:t>         username TEXT UNIQUE NOT NULL,     </a:t>
            </a:r>
          </a:p>
          <a:p>
            <a:pPr>
              <a:buNone/>
            </a:pPr>
            <a:r>
              <a:rPr lang="en-US" dirty="0" smtClean="0"/>
              <a:t>     password TEXT NOT NULL    </a:t>
            </a:r>
          </a:p>
          <a:p>
            <a:pPr>
              <a:buNone/>
            </a:pPr>
            <a:r>
              <a:rPr lang="en-US" dirty="0" smtClean="0"/>
              <a:t>    )</a:t>
            </a:r>
          </a:p>
          <a:p>
            <a:pPr>
              <a:buNone/>
            </a:pPr>
            <a:r>
              <a:rPr lang="en-US" dirty="0" smtClean="0"/>
              <a:t>    ''')    </a:t>
            </a:r>
          </a:p>
          <a:p>
            <a:pPr>
              <a:buNone/>
            </a:pPr>
            <a:r>
              <a:rPr lang="en-US" dirty="0" err="1" smtClean="0"/>
              <a:t>conn.commit</a:t>
            </a:r>
            <a:r>
              <a:rPr lang="en-US" dirty="0" smtClean="0"/>
              <a:t>()    </a:t>
            </a:r>
          </a:p>
          <a:p>
            <a:pPr>
              <a:buNone/>
            </a:pPr>
            <a:r>
              <a:rPr lang="en-US" dirty="0" err="1" smtClean="0"/>
              <a:t>conn.close</a:t>
            </a:r>
            <a:r>
              <a:rPr lang="en-US" dirty="0" smtClean="0"/>
              <a:t>()</a:t>
            </a:r>
          </a:p>
          <a:p>
            <a:pPr>
              <a:buNone/>
            </a:pPr>
            <a:r>
              <a:rPr lang="en-US" dirty="0" err="1" smtClean="0"/>
              <a:t>init_db</a:t>
            </a:r>
            <a:r>
              <a:rPr lang="en-US" dirty="0" smtClean="0"/>
              <a:t>()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4400" b="1" dirty="0" smtClean="0"/>
              <a:t>Step 6: User Registration Endpoint</a:t>
            </a:r>
          </a:p>
          <a:p>
            <a:pPr>
              <a:buNone/>
            </a:pPr>
            <a:r>
              <a:rPr lang="en-US" dirty="0" smtClean="0"/>
              <a:t>@</a:t>
            </a:r>
            <a:r>
              <a:rPr lang="en-US" dirty="0" err="1" smtClean="0"/>
              <a:t>app.route</a:t>
            </a:r>
            <a:r>
              <a:rPr lang="en-US" dirty="0" smtClean="0"/>
              <a:t>('/register', methods=['POST'])</a:t>
            </a:r>
          </a:p>
          <a:p>
            <a:pPr>
              <a:buNone/>
            </a:pPr>
            <a:r>
              <a:rPr lang="en-US" dirty="0" smtClean="0"/>
              <a:t>def register():   </a:t>
            </a:r>
          </a:p>
          <a:p>
            <a:pPr>
              <a:buNone/>
            </a:pPr>
            <a:r>
              <a:rPr lang="en-US" dirty="0" smtClean="0"/>
              <a:t> data = </a:t>
            </a:r>
            <a:r>
              <a:rPr lang="en-US" dirty="0" err="1" smtClean="0"/>
              <a:t>request.get_json</a:t>
            </a:r>
            <a:r>
              <a:rPr lang="en-US" dirty="0" smtClean="0"/>
              <a:t>() </a:t>
            </a:r>
          </a:p>
          <a:p>
            <a:pPr>
              <a:buNone/>
            </a:pPr>
            <a:r>
              <a:rPr lang="en-US" dirty="0" smtClean="0"/>
              <a:t>   username = </a:t>
            </a:r>
            <a:r>
              <a:rPr lang="en-US" dirty="0" err="1" smtClean="0"/>
              <a:t>data.get</a:t>
            </a:r>
            <a:r>
              <a:rPr lang="en-US" dirty="0" smtClean="0"/>
              <a:t>('username')   </a:t>
            </a:r>
          </a:p>
          <a:p>
            <a:pPr>
              <a:buNone/>
            </a:pPr>
            <a:r>
              <a:rPr lang="en-US" dirty="0" smtClean="0"/>
              <a:t> password = </a:t>
            </a:r>
            <a:r>
              <a:rPr lang="en-US" dirty="0" err="1" smtClean="0"/>
              <a:t>data.get</a:t>
            </a:r>
            <a:r>
              <a:rPr lang="en-US" dirty="0" smtClean="0"/>
              <a:t>('password')   </a:t>
            </a:r>
          </a:p>
          <a:p>
            <a:pPr>
              <a:buNone/>
            </a:pPr>
            <a:r>
              <a:rPr lang="en-US" dirty="0" smtClean="0"/>
              <a:t> if not username or not password:       </a:t>
            </a:r>
          </a:p>
          <a:p>
            <a:pPr>
              <a:buNone/>
            </a:pPr>
            <a:r>
              <a:rPr lang="en-US" dirty="0" smtClean="0"/>
              <a:t> return </a:t>
            </a:r>
            <a:r>
              <a:rPr lang="en-US" dirty="0" err="1" smtClean="0"/>
              <a:t>jsonify</a:t>
            </a:r>
            <a:r>
              <a:rPr lang="en-US" dirty="0" smtClean="0"/>
              <a:t>({"error": "Username and password are required"}), 400   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err="1" smtClean="0"/>
              <a:t>hashed_pw</a:t>
            </a:r>
            <a:r>
              <a:rPr lang="en-US" dirty="0" smtClean="0"/>
              <a:t> = </a:t>
            </a:r>
            <a:r>
              <a:rPr lang="en-US" dirty="0" err="1" smtClean="0"/>
              <a:t>bcrypt.generate_password_hash</a:t>
            </a:r>
            <a:r>
              <a:rPr lang="en-US" dirty="0" smtClean="0"/>
              <a:t>(password).decode('utf-8')   </a:t>
            </a:r>
          </a:p>
          <a:p>
            <a:pPr>
              <a:buNone/>
            </a:pPr>
            <a:r>
              <a:rPr lang="en-US" dirty="0" smtClean="0"/>
              <a:t> try:      </a:t>
            </a:r>
          </a:p>
          <a:p>
            <a:pPr>
              <a:buNone/>
            </a:pPr>
            <a:r>
              <a:rPr lang="en-US" dirty="0" smtClean="0"/>
              <a:t>  </a:t>
            </a:r>
            <a:r>
              <a:rPr lang="en-US" dirty="0" err="1" smtClean="0"/>
              <a:t>conn</a:t>
            </a:r>
            <a:r>
              <a:rPr lang="en-US" dirty="0" smtClean="0"/>
              <a:t> = sqlite3.connect('</a:t>
            </a:r>
            <a:r>
              <a:rPr lang="en-US" dirty="0" err="1" smtClean="0"/>
              <a:t>users.db</a:t>
            </a:r>
            <a:r>
              <a:rPr lang="en-US" dirty="0" smtClean="0"/>
              <a:t>')       </a:t>
            </a:r>
          </a:p>
          <a:p>
            <a:pPr>
              <a:buNone/>
            </a:pPr>
            <a:r>
              <a:rPr lang="en-US" dirty="0" smtClean="0"/>
              <a:t> c = </a:t>
            </a:r>
            <a:r>
              <a:rPr lang="en-US" dirty="0" err="1" smtClean="0"/>
              <a:t>conn.cursor</a:t>
            </a:r>
            <a:r>
              <a:rPr lang="en-US" dirty="0" smtClean="0"/>
              <a:t>()     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err="1" smtClean="0"/>
              <a:t>c.execute</a:t>
            </a:r>
            <a:r>
              <a:rPr lang="en-US" dirty="0" smtClean="0"/>
              <a:t>('INSERT INTO users (username, password) VALUES (?, ?)', (username, </a:t>
            </a:r>
            <a:r>
              <a:rPr lang="en-US" dirty="0" err="1" smtClean="0"/>
              <a:t>hashed_pw</a:t>
            </a:r>
            <a:r>
              <a:rPr lang="en-US" dirty="0" smtClean="0"/>
              <a:t>))        </a:t>
            </a:r>
          </a:p>
          <a:p>
            <a:pPr>
              <a:buNone/>
            </a:pPr>
            <a:r>
              <a:rPr lang="en-US" dirty="0" err="1" smtClean="0"/>
              <a:t>conn.commit</a:t>
            </a:r>
            <a:r>
              <a:rPr lang="en-US" dirty="0" smtClean="0"/>
              <a:t>()      </a:t>
            </a:r>
          </a:p>
          <a:p>
            <a:pPr>
              <a:buNone/>
            </a:pPr>
            <a:r>
              <a:rPr lang="en-US" dirty="0" smtClean="0"/>
              <a:t>  </a:t>
            </a:r>
            <a:r>
              <a:rPr lang="en-US" dirty="0" err="1" smtClean="0"/>
              <a:t>conn.close</a:t>
            </a:r>
            <a:r>
              <a:rPr lang="en-US" dirty="0" smtClean="0"/>
              <a:t>()     </a:t>
            </a:r>
          </a:p>
          <a:p>
            <a:pPr>
              <a:buNone/>
            </a:pPr>
            <a:r>
              <a:rPr lang="en-US" dirty="0" smtClean="0"/>
              <a:t>   return </a:t>
            </a:r>
            <a:r>
              <a:rPr lang="en-US" dirty="0" err="1" smtClean="0"/>
              <a:t>jsonify</a:t>
            </a:r>
            <a:r>
              <a:rPr lang="en-US" dirty="0" smtClean="0"/>
              <a:t>({"message": "User registered successfully"}), 201    </a:t>
            </a:r>
          </a:p>
          <a:p>
            <a:pPr>
              <a:buNone/>
            </a:pPr>
            <a:r>
              <a:rPr lang="en-US" dirty="0" smtClean="0"/>
              <a:t>except sqlite3.IntegrityError:       </a:t>
            </a:r>
          </a:p>
          <a:p>
            <a:pPr>
              <a:buNone/>
            </a:pPr>
            <a:r>
              <a:rPr lang="en-US" dirty="0" smtClean="0"/>
              <a:t> return </a:t>
            </a:r>
            <a:r>
              <a:rPr lang="en-US" dirty="0" err="1" smtClean="0"/>
              <a:t>jsonify</a:t>
            </a:r>
            <a:r>
              <a:rPr lang="en-US" dirty="0" smtClean="0"/>
              <a:t>({"error": "Username already exists"}), 409</a:t>
            </a:r>
          </a:p>
          <a:p>
            <a:endParaRPr 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 smtClean="0"/>
              <a:t>Step 7: Login Endpoint (Generate JWT Token)</a:t>
            </a:r>
          </a:p>
          <a:p>
            <a:pPr>
              <a:buNone/>
            </a:pPr>
            <a:r>
              <a:rPr lang="en-US" dirty="0" smtClean="0"/>
              <a:t>@</a:t>
            </a:r>
            <a:r>
              <a:rPr lang="en-US" dirty="0" err="1" smtClean="0"/>
              <a:t>app.route</a:t>
            </a:r>
            <a:r>
              <a:rPr lang="en-US" dirty="0" smtClean="0"/>
              <a:t>('/login', methods=['POST'])</a:t>
            </a:r>
          </a:p>
          <a:p>
            <a:pPr>
              <a:buNone/>
            </a:pPr>
            <a:r>
              <a:rPr lang="en-US" dirty="0" smtClean="0"/>
              <a:t>def login():    </a:t>
            </a:r>
          </a:p>
          <a:p>
            <a:pPr>
              <a:buNone/>
            </a:pPr>
            <a:r>
              <a:rPr lang="en-US" dirty="0" smtClean="0"/>
              <a:t>data = </a:t>
            </a:r>
            <a:r>
              <a:rPr lang="en-US" dirty="0" err="1" smtClean="0"/>
              <a:t>request.get_json</a:t>
            </a:r>
            <a:r>
              <a:rPr lang="en-US" dirty="0" smtClean="0"/>
              <a:t>()   </a:t>
            </a:r>
          </a:p>
          <a:p>
            <a:pPr>
              <a:buNone/>
            </a:pPr>
            <a:r>
              <a:rPr lang="en-US" dirty="0" smtClean="0"/>
              <a:t> username = </a:t>
            </a:r>
            <a:r>
              <a:rPr lang="en-US" dirty="0" err="1" smtClean="0"/>
              <a:t>data.get</a:t>
            </a:r>
            <a:r>
              <a:rPr lang="en-US" dirty="0" smtClean="0"/>
              <a:t>('username')   </a:t>
            </a:r>
          </a:p>
          <a:p>
            <a:pPr>
              <a:buNone/>
            </a:pPr>
            <a:r>
              <a:rPr lang="en-US" dirty="0" smtClean="0"/>
              <a:t> password = </a:t>
            </a:r>
            <a:r>
              <a:rPr lang="en-US" dirty="0" err="1" smtClean="0"/>
              <a:t>data.get</a:t>
            </a:r>
            <a:r>
              <a:rPr lang="en-US" dirty="0" smtClean="0"/>
              <a:t>('password')    </a:t>
            </a:r>
          </a:p>
          <a:p>
            <a:pPr>
              <a:buNone/>
            </a:pPr>
            <a:r>
              <a:rPr lang="en-US" dirty="0" err="1" smtClean="0"/>
              <a:t>conn</a:t>
            </a:r>
            <a:r>
              <a:rPr lang="en-US" dirty="0" smtClean="0"/>
              <a:t> = sqlite3.connect('</a:t>
            </a:r>
            <a:r>
              <a:rPr lang="en-US" dirty="0" err="1" smtClean="0"/>
              <a:t>users.db</a:t>
            </a:r>
            <a:r>
              <a:rPr lang="en-US" dirty="0" smtClean="0"/>
              <a:t>')   </a:t>
            </a:r>
          </a:p>
          <a:p>
            <a:pPr>
              <a:buNone/>
            </a:pPr>
            <a:r>
              <a:rPr lang="en-US" dirty="0" smtClean="0"/>
              <a:t> c = </a:t>
            </a:r>
            <a:r>
              <a:rPr lang="en-US" dirty="0" err="1" smtClean="0"/>
              <a:t>conn.cursor</a:t>
            </a:r>
            <a:r>
              <a:rPr lang="en-US" dirty="0" smtClean="0"/>
              <a:t>()    </a:t>
            </a:r>
          </a:p>
          <a:p>
            <a:pPr>
              <a:buNone/>
            </a:pPr>
            <a:r>
              <a:rPr lang="en-US" dirty="0" err="1" smtClean="0"/>
              <a:t>c.execute</a:t>
            </a:r>
            <a:r>
              <a:rPr lang="en-US" dirty="0" smtClean="0"/>
              <a:t>('SELECT password FROM users WHERE username=?', (username,))   </a:t>
            </a:r>
          </a:p>
          <a:p>
            <a:pPr>
              <a:buNone/>
            </a:pPr>
            <a:r>
              <a:rPr lang="en-US" dirty="0" smtClean="0"/>
              <a:t> user = </a:t>
            </a:r>
            <a:r>
              <a:rPr lang="en-US" dirty="0" err="1" smtClean="0"/>
              <a:t>c.fetchone</a:t>
            </a:r>
            <a:r>
              <a:rPr lang="en-US" dirty="0" smtClean="0"/>
              <a:t>()   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err="1" smtClean="0"/>
              <a:t>conn.close</a:t>
            </a:r>
            <a:r>
              <a:rPr lang="en-US" dirty="0" smtClean="0"/>
              <a:t>()    </a:t>
            </a:r>
          </a:p>
          <a:p>
            <a:pPr>
              <a:buNone/>
            </a:pPr>
            <a:r>
              <a:rPr lang="en-US" dirty="0" smtClean="0"/>
              <a:t>if user and </a:t>
            </a:r>
            <a:r>
              <a:rPr lang="en-US" dirty="0" err="1" smtClean="0"/>
              <a:t>bcrypt.check_password_hash</a:t>
            </a:r>
            <a:r>
              <a:rPr lang="en-US" dirty="0" smtClean="0"/>
              <a:t>(user[0], password):     </a:t>
            </a:r>
          </a:p>
          <a:p>
            <a:pPr>
              <a:buNone/>
            </a:pPr>
            <a:r>
              <a:rPr lang="en-US" dirty="0" smtClean="0"/>
              <a:t>   token = </a:t>
            </a:r>
            <a:r>
              <a:rPr lang="en-US" dirty="0" err="1" smtClean="0"/>
              <a:t>create_access_token</a:t>
            </a:r>
            <a:r>
              <a:rPr lang="en-US" dirty="0" smtClean="0"/>
              <a:t>(identity=username)   </a:t>
            </a:r>
          </a:p>
          <a:p>
            <a:pPr>
              <a:buNone/>
            </a:pPr>
            <a:r>
              <a:rPr lang="en-US" dirty="0" smtClean="0"/>
              <a:t>     return </a:t>
            </a:r>
            <a:r>
              <a:rPr lang="en-US" dirty="0" err="1" smtClean="0"/>
              <a:t>jsonify</a:t>
            </a:r>
            <a:r>
              <a:rPr lang="en-US" dirty="0" smtClean="0"/>
              <a:t>({"token": token}), 200    </a:t>
            </a:r>
          </a:p>
          <a:p>
            <a:pPr>
              <a:buNone/>
            </a:pPr>
            <a:r>
              <a:rPr lang="en-US" dirty="0" smtClean="0"/>
              <a:t>else:        </a:t>
            </a:r>
          </a:p>
          <a:p>
            <a:pPr>
              <a:buNone/>
            </a:pPr>
            <a:r>
              <a:rPr lang="en-US" dirty="0" smtClean="0"/>
              <a:t>return </a:t>
            </a:r>
            <a:r>
              <a:rPr lang="en-US" dirty="0" err="1" smtClean="0"/>
              <a:t>jsonify</a:t>
            </a:r>
            <a:r>
              <a:rPr lang="en-US" dirty="0" smtClean="0"/>
              <a:t>({"error": "Invalid credentials"}), 401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Step 8: Protected Route (JWT Required)</a:t>
            </a:r>
          </a:p>
          <a:p>
            <a:pPr>
              <a:buNone/>
            </a:pPr>
            <a:r>
              <a:rPr lang="en-US" dirty="0" smtClean="0"/>
              <a:t>@</a:t>
            </a:r>
            <a:r>
              <a:rPr lang="en-US" dirty="0" err="1" smtClean="0"/>
              <a:t>app.route</a:t>
            </a:r>
            <a:r>
              <a:rPr lang="en-US" dirty="0" smtClean="0"/>
              <a:t>('/profile', methods=['GET'])</a:t>
            </a:r>
          </a:p>
          <a:p>
            <a:pPr>
              <a:buNone/>
            </a:pPr>
            <a:r>
              <a:rPr lang="en-US" dirty="0" smtClean="0"/>
              <a:t>@</a:t>
            </a:r>
            <a:r>
              <a:rPr lang="en-US" dirty="0" err="1" smtClean="0"/>
              <a:t>jwt_required</a:t>
            </a:r>
            <a:r>
              <a:rPr lang="en-US" dirty="0" smtClean="0"/>
              <a:t>()def profile():   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err="1" smtClean="0"/>
              <a:t>current_user</a:t>
            </a:r>
            <a:r>
              <a:rPr lang="en-US" dirty="0" smtClean="0"/>
              <a:t> = </a:t>
            </a:r>
            <a:r>
              <a:rPr lang="en-US" dirty="0" err="1" smtClean="0"/>
              <a:t>get_jwt_identity</a:t>
            </a:r>
            <a:r>
              <a:rPr lang="en-US" dirty="0" smtClean="0"/>
              <a:t>()   </a:t>
            </a:r>
          </a:p>
          <a:p>
            <a:pPr>
              <a:buNone/>
            </a:pPr>
            <a:r>
              <a:rPr lang="en-US" dirty="0" smtClean="0"/>
              <a:t> return </a:t>
            </a:r>
            <a:r>
              <a:rPr lang="en-US" dirty="0" err="1" smtClean="0"/>
              <a:t>jsonify</a:t>
            </a:r>
            <a:r>
              <a:rPr lang="en-US" dirty="0" smtClean="0"/>
              <a:t>({"</a:t>
            </a:r>
            <a:r>
              <a:rPr lang="en-US" dirty="0" err="1" smtClean="0"/>
              <a:t>logged_in_as</a:t>
            </a:r>
            <a:r>
              <a:rPr lang="en-US" dirty="0" smtClean="0"/>
              <a:t>": </a:t>
            </a:r>
            <a:r>
              <a:rPr lang="en-US" dirty="0" err="1" smtClean="0"/>
              <a:t>current_user</a:t>
            </a:r>
            <a:r>
              <a:rPr lang="en-US" dirty="0" smtClean="0"/>
              <a:t>}), 200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 9: Run the App</a:t>
            </a:r>
          </a:p>
          <a:p>
            <a:pPr>
              <a:buNone/>
            </a:pPr>
            <a:r>
              <a:rPr lang="en-US" dirty="0" smtClean="0"/>
              <a:t>if __name__ == '__main__':    </a:t>
            </a:r>
            <a:r>
              <a:rPr lang="en-US" dirty="0" err="1" smtClean="0"/>
              <a:t>app.run</a:t>
            </a:r>
            <a:r>
              <a:rPr lang="en-US" dirty="0" smtClean="0"/>
              <a:t>(debug=True)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Step 10: Test the API using Postman or Curl</a:t>
            </a:r>
          </a:p>
          <a:p>
            <a:r>
              <a:rPr lang="en-US" b="1" dirty="0" smtClean="0"/>
              <a:t>1. Register: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POST /register</a:t>
            </a:r>
          </a:p>
          <a:p>
            <a:pPr>
              <a:buNone/>
            </a:pPr>
            <a:r>
              <a:rPr lang="en-US" dirty="0" smtClean="0"/>
              <a:t>Content-Type: application/</a:t>
            </a:r>
            <a:r>
              <a:rPr lang="en-US" dirty="0" err="1" smtClean="0"/>
              <a:t>json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{    </a:t>
            </a:r>
          </a:p>
          <a:p>
            <a:pPr>
              <a:buNone/>
            </a:pPr>
            <a:r>
              <a:rPr lang="en-US" dirty="0" smtClean="0"/>
              <a:t>"username": "</a:t>
            </a:r>
            <a:r>
              <a:rPr lang="en-US" dirty="0" err="1" smtClean="0"/>
              <a:t>saranya</a:t>
            </a:r>
            <a:r>
              <a:rPr lang="en-US" dirty="0" smtClean="0"/>
              <a:t>",  </a:t>
            </a:r>
          </a:p>
          <a:p>
            <a:pPr>
              <a:buNone/>
            </a:pPr>
            <a:r>
              <a:rPr lang="en-US" dirty="0" smtClean="0"/>
              <a:t>  "password": "mypassword123“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2. Login:</a:t>
            </a:r>
          </a:p>
          <a:p>
            <a:pPr>
              <a:buNone/>
            </a:pPr>
            <a:r>
              <a:rPr lang="en-US" dirty="0" smtClean="0"/>
              <a:t>POST /login</a:t>
            </a:r>
          </a:p>
          <a:p>
            <a:pPr>
              <a:buNone/>
            </a:pPr>
            <a:r>
              <a:rPr lang="en-US" dirty="0" smtClean="0"/>
              <a:t>Content-Type: application/</a:t>
            </a:r>
            <a:r>
              <a:rPr lang="en-US" dirty="0" err="1" smtClean="0"/>
              <a:t>json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{   </a:t>
            </a:r>
          </a:p>
          <a:p>
            <a:pPr>
              <a:buNone/>
            </a:pPr>
            <a:r>
              <a:rPr lang="en-US" dirty="0" smtClean="0"/>
              <a:t> "username": "</a:t>
            </a:r>
            <a:r>
              <a:rPr lang="en-US" dirty="0" err="1" smtClean="0"/>
              <a:t>saranya</a:t>
            </a:r>
            <a:r>
              <a:rPr lang="en-US" dirty="0" smtClean="0"/>
              <a:t>",    </a:t>
            </a:r>
          </a:p>
          <a:p>
            <a:pPr>
              <a:buNone/>
            </a:pPr>
            <a:r>
              <a:rPr lang="en-US" dirty="0" smtClean="0"/>
              <a:t>"password": "mypassword123“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Returns:</a:t>
            </a:r>
          </a:p>
          <a:p>
            <a:pPr>
              <a:buNone/>
            </a:pPr>
            <a:r>
              <a:rPr lang="en-US" dirty="0" smtClean="0"/>
              <a:t>{   </a:t>
            </a:r>
          </a:p>
          <a:p>
            <a:pPr>
              <a:buNone/>
            </a:pPr>
            <a:r>
              <a:rPr lang="en-US" dirty="0" smtClean="0"/>
              <a:t> "token": "eyJ0eXAiOiJKV1QiLCJhbGci...“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r>
              <a:rPr lang="en-US" b="1" dirty="0" smtClean="0"/>
              <a:t>3. Access protected route:</a:t>
            </a:r>
          </a:p>
          <a:p>
            <a:pPr>
              <a:buNone/>
            </a:pPr>
            <a:r>
              <a:rPr lang="en-US" dirty="0" smtClean="0"/>
              <a:t>GET /profile</a:t>
            </a:r>
          </a:p>
          <a:p>
            <a:pPr>
              <a:buNone/>
            </a:pPr>
            <a:r>
              <a:rPr lang="en-US" dirty="0" smtClean="0"/>
              <a:t>Authorization: Bearer &lt;token&gt;</a:t>
            </a:r>
          </a:p>
          <a:p>
            <a:pPr>
              <a:buNone/>
            </a:pPr>
            <a:r>
              <a:rPr lang="en-US" dirty="0" smtClean="0"/>
              <a:t>Returns:</a:t>
            </a:r>
          </a:p>
          <a:p>
            <a:pPr>
              <a:buNone/>
            </a:pPr>
            <a:r>
              <a:rPr lang="en-US" dirty="0" smtClean="0"/>
              <a:t>{    </a:t>
            </a:r>
          </a:p>
          <a:p>
            <a:pPr>
              <a:buNone/>
            </a:pPr>
            <a:r>
              <a:rPr lang="en-US" dirty="0" smtClean="0"/>
              <a:t>"</a:t>
            </a:r>
            <a:r>
              <a:rPr lang="en-US" dirty="0" err="1" smtClean="0"/>
              <a:t>logged_in_as</a:t>
            </a:r>
            <a:r>
              <a:rPr lang="en-US" dirty="0" smtClean="0"/>
              <a:t>": "</a:t>
            </a:r>
            <a:r>
              <a:rPr lang="en-US" dirty="0" err="1" smtClean="0"/>
              <a:t>saranya</a:t>
            </a:r>
            <a:r>
              <a:rPr lang="en-US" dirty="0" smtClean="0"/>
              <a:t>“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JWT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82000" cy="51816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4000" b="1" dirty="0" smtClean="0"/>
              <a:t>Types of JWT</a:t>
            </a:r>
          </a:p>
          <a:p>
            <a:pPr algn="just">
              <a:buNone/>
            </a:pPr>
            <a:r>
              <a:rPr lang="en-US" dirty="0" smtClean="0"/>
              <a:t>There are </a:t>
            </a:r>
            <a:r>
              <a:rPr lang="en-US" b="1" dirty="0" smtClean="0"/>
              <a:t>two main types </a:t>
            </a:r>
            <a:r>
              <a:rPr lang="en-US" dirty="0" smtClean="0"/>
              <a:t>of JWT based on how the payload is protected- JWS and JWE. Let’s learn more about them.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sz="3400" b="1" dirty="0" smtClean="0"/>
              <a:t>JWS (JSON Web Signature)</a:t>
            </a:r>
          </a:p>
          <a:p>
            <a:pPr algn="just"/>
            <a:r>
              <a:rPr lang="en-US" sz="3400" dirty="0" smtClean="0"/>
              <a:t>JWS is a type of JWT where the payload (data) is digitally signed, ensuring integrity and authenticity of the token.</a:t>
            </a:r>
          </a:p>
          <a:p>
            <a:pPr algn="just"/>
            <a:r>
              <a:rPr lang="en-US" sz="3400" dirty="0" smtClean="0"/>
              <a:t>The payload is Base64URL encoded and signed using a secret or private key.</a:t>
            </a:r>
          </a:p>
          <a:p>
            <a:pPr algn="just"/>
            <a:r>
              <a:rPr lang="en-US" sz="3400" dirty="0" smtClean="0"/>
              <a:t>It is not encrypted, meaning the contents can be read by anyone who has the token.</a:t>
            </a:r>
          </a:p>
          <a:p>
            <a:pPr algn="just"/>
            <a:r>
              <a:rPr lang="en-US" sz="3400" dirty="0" smtClean="0"/>
              <a:t>Commonly used in authentication and authorization scenarios like </a:t>
            </a:r>
            <a:r>
              <a:rPr lang="en-US" sz="3400" dirty="0" err="1" smtClean="0"/>
              <a:t>OAuth</a:t>
            </a:r>
            <a:r>
              <a:rPr lang="en-US" sz="3400" dirty="0" smtClean="0"/>
              <a:t> 2.0 access tokens.</a:t>
            </a:r>
          </a:p>
          <a:p>
            <a:pPr algn="just">
              <a:buNone/>
            </a:pPr>
            <a:endParaRPr lang="en-US" sz="3400" b="1" dirty="0" smtClean="0"/>
          </a:p>
          <a:p>
            <a:pPr algn="just">
              <a:buNone/>
            </a:pPr>
            <a:r>
              <a:rPr lang="en-US" sz="3400" b="1" dirty="0" smtClean="0"/>
              <a:t>Use Case:</a:t>
            </a:r>
            <a:r>
              <a:rPr lang="en-US" sz="3400" dirty="0" smtClean="0"/>
              <a:t> Verifying that the data has not been tampered with.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9021" t="33710" r="29797" b="34452"/>
          <a:stretch>
            <a:fillRect/>
          </a:stretch>
        </p:blipFill>
        <p:spPr bwMode="auto">
          <a:xfrm>
            <a:off x="533400" y="1905000"/>
            <a:ext cx="82296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066800" y="533401"/>
            <a:ext cx="73914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400" b="1" dirty="0" smtClean="0"/>
              <a:t>How JWT token </a:t>
            </a:r>
            <a:r>
              <a:rPr lang="en-US" sz="4400" b="1" smtClean="0"/>
              <a:t>Works?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150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JWE (JSON Web Encryption)?</a:t>
            </a:r>
          </a:p>
          <a:p>
            <a:r>
              <a:rPr lang="en-US" dirty="0" smtClean="0"/>
              <a:t>JWE is a type of JWT where the payload is encrypted, ensuring confidentiality in addition to integrity.</a:t>
            </a:r>
          </a:p>
          <a:p>
            <a:r>
              <a:rPr lang="en-US" dirty="0" smtClean="0"/>
              <a:t>The entire payload is encrypted using a public key or shared secret.</a:t>
            </a:r>
          </a:p>
          <a:p>
            <a:r>
              <a:rPr lang="en-US" dirty="0" smtClean="0"/>
              <a:t>Only the intended recipient can decrypt and read the token contents.</a:t>
            </a:r>
          </a:p>
          <a:p>
            <a:r>
              <a:rPr lang="en-US" dirty="0" smtClean="0"/>
              <a:t>Less common than JWS, but ideal for sensitive data transmission.</a:t>
            </a:r>
          </a:p>
          <a:p>
            <a:pPr>
              <a:buNone/>
            </a:pPr>
            <a:r>
              <a:rPr lang="en-US" b="1" dirty="0" smtClean="0"/>
              <a:t>Use Case:</a:t>
            </a:r>
            <a:r>
              <a:rPr lang="en-US" dirty="0" smtClean="0"/>
              <a:t> Protecting personal or confidential information during transit.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r>
              <a:rPr lang="en-US" b="1" dirty="0" smtClean="0"/>
              <a:t>JWT </a:t>
            </a:r>
            <a:r>
              <a:rPr lang="en-US" b="1" dirty="0" err="1" smtClean="0"/>
              <a:t>vs</a:t>
            </a:r>
            <a:r>
              <a:rPr lang="en-US" b="1" dirty="0" smtClean="0"/>
              <a:t> JWS </a:t>
            </a:r>
            <a:r>
              <a:rPr lang="en-US" b="1" dirty="0" err="1" smtClean="0"/>
              <a:t>vs</a:t>
            </a:r>
            <a:r>
              <a:rPr lang="en-US" b="1" dirty="0" smtClean="0"/>
              <a:t> JWE – Comparison Table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1371600"/>
          <a:ext cx="7696200" cy="5003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050"/>
                <a:gridCol w="1924050"/>
                <a:gridCol w="1924050"/>
                <a:gridCol w="1924050"/>
              </a:tblGrid>
              <a:tr h="1585143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JWT (General)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JWS (Signed JWT)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JWE (Encrypted JWT)</a:t>
                      </a:r>
                    </a:p>
                  </a:txBody>
                  <a:tcPr anchor="ctr"/>
                </a:tc>
              </a:tr>
              <a:tr h="660189">
                <a:tc>
                  <a:txBody>
                    <a:bodyPr/>
                    <a:lstStyle/>
                    <a:p>
                      <a:r>
                        <a:rPr lang="en-US" dirty="0"/>
                        <a:t>Security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Token 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Integrity, authenticity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Confidentiality + integrity</a:t>
                      </a:r>
                    </a:p>
                  </a:txBody>
                  <a:tcPr anchor="ctr"/>
                </a:tc>
              </a:tr>
              <a:tr h="943127">
                <a:tc>
                  <a:txBody>
                    <a:bodyPr/>
                    <a:lstStyle/>
                    <a:p>
                      <a:r>
                        <a:rPr lang="en-US"/>
                        <a:t>Payload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Not specified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Base64URL encoded (readable)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Encrypted (not readable)</a:t>
                      </a:r>
                    </a:p>
                  </a:txBody>
                  <a:tcPr anchor="ctr"/>
                </a:tc>
              </a:tr>
              <a:tr h="660189">
                <a:tc>
                  <a:txBody>
                    <a:bodyPr/>
                    <a:lstStyle/>
                    <a:p>
                      <a:r>
                        <a:rPr lang="en-US"/>
                        <a:t>Signature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Optional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Encrypted along with payload</a:t>
                      </a:r>
                    </a:p>
                  </a:txBody>
                  <a:tcPr anchor="ctr"/>
                </a:tc>
              </a:tr>
              <a:tr h="494510">
                <a:tc>
                  <a:txBody>
                    <a:bodyPr/>
                    <a:lstStyle/>
                    <a:p>
                      <a:r>
                        <a:rPr lang="en-US"/>
                        <a:t>Encryption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Optional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Not encrypted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Fully encrypted</a:t>
                      </a:r>
                    </a:p>
                  </a:txBody>
                  <a:tcPr anchor="ctr"/>
                </a:tc>
              </a:tr>
              <a:tr h="660189">
                <a:tc>
                  <a:txBody>
                    <a:bodyPr/>
                    <a:lstStyle/>
                    <a:p>
                      <a:r>
                        <a:rPr lang="en-US"/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ID and Access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OAuth 2.0, OpenID Connect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Highly sensitive information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Structure of a JWT</a:t>
            </a:r>
          </a:p>
          <a:p>
            <a:r>
              <a:rPr lang="en-US" dirty="0" smtClean="0"/>
              <a:t>A JWT consists of </a:t>
            </a:r>
            <a:r>
              <a:rPr lang="en-US" b="1" dirty="0" smtClean="0"/>
              <a:t>three parts</a:t>
            </a:r>
            <a:r>
              <a:rPr lang="en-US" dirty="0" smtClean="0"/>
              <a:t>, separated by dots (.):</a:t>
            </a:r>
          </a:p>
          <a:p>
            <a:pPr>
              <a:buNone/>
            </a:pPr>
            <a:r>
              <a:rPr lang="en-US" dirty="0" err="1" smtClean="0"/>
              <a:t>xxxxx.yyyyy.zzzzz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b="1" dirty="0" smtClean="0"/>
              <a:t>Header</a:t>
            </a:r>
            <a:r>
              <a:rPr lang="en-US" dirty="0" smtClean="0"/>
              <a:t> — contains metadata about the token</a:t>
            </a:r>
            <a:br>
              <a:rPr lang="en-US" dirty="0" smtClean="0"/>
            </a:br>
            <a:r>
              <a:rPr lang="en-US" dirty="0" smtClean="0"/>
              <a:t>Example:</a:t>
            </a:r>
          </a:p>
          <a:p>
            <a:pPr marL="514350" indent="-514350">
              <a:buNone/>
            </a:pPr>
            <a:r>
              <a:rPr lang="en-US" dirty="0" smtClean="0"/>
              <a:t>{ </a:t>
            </a:r>
          </a:p>
          <a:p>
            <a:pPr marL="514350" indent="-514350">
              <a:buNone/>
            </a:pPr>
            <a:r>
              <a:rPr lang="en-US" dirty="0" smtClean="0"/>
              <a:t> "</a:t>
            </a:r>
            <a:r>
              <a:rPr lang="en-US" dirty="0" err="1" smtClean="0"/>
              <a:t>alg</a:t>
            </a:r>
            <a:r>
              <a:rPr lang="en-US" dirty="0" smtClean="0"/>
              <a:t>": "HS256",  </a:t>
            </a:r>
          </a:p>
          <a:p>
            <a:pPr marL="514350" indent="-514350">
              <a:buNone/>
            </a:pPr>
            <a:r>
              <a:rPr lang="en-US" dirty="0" smtClean="0"/>
              <a:t>"</a:t>
            </a:r>
            <a:r>
              <a:rPr lang="en-US" dirty="0" err="1" smtClean="0"/>
              <a:t>typ</a:t>
            </a:r>
            <a:r>
              <a:rPr lang="en-US" dirty="0" smtClean="0"/>
              <a:t>": "JWT“</a:t>
            </a:r>
          </a:p>
          <a:p>
            <a:pPr marL="514350" indent="-514350">
              <a:buNone/>
            </a:pPr>
            <a:r>
              <a:rPr lang="en-US" dirty="0" smtClean="0"/>
              <a:t>}</a:t>
            </a:r>
          </a:p>
          <a:p>
            <a:r>
              <a:rPr lang="en-US" dirty="0" err="1" smtClean="0"/>
              <a:t>alg</a:t>
            </a:r>
            <a:r>
              <a:rPr lang="en-US" dirty="0" smtClean="0"/>
              <a:t> → signing algorithm (e.g., HS256)</a:t>
            </a:r>
          </a:p>
          <a:p>
            <a:r>
              <a:rPr lang="en-US" dirty="0" err="1" smtClean="0"/>
              <a:t>typ</a:t>
            </a:r>
            <a:r>
              <a:rPr lang="en-US" dirty="0" smtClean="0"/>
              <a:t> → token type (JWT)</a:t>
            </a:r>
          </a:p>
          <a:p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864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2. Payload</a:t>
            </a:r>
            <a:r>
              <a:rPr lang="en-US" dirty="0" smtClean="0"/>
              <a:t> — contains claims (information) about the user</a:t>
            </a:r>
            <a:br>
              <a:rPr lang="en-US" dirty="0" smtClean="0"/>
            </a:br>
            <a:r>
              <a:rPr lang="en-US" dirty="0" smtClean="0"/>
              <a:t>Example:</a:t>
            </a:r>
          </a:p>
          <a:p>
            <a:pPr>
              <a:buNone/>
            </a:pPr>
            <a:r>
              <a:rPr lang="fr-FR" dirty="0" smtClean="0"/>
              <a:t>	{  </a:t>
            </a:r>
          </a:p>
          <a:p>
            <a:pPr>
              <a:buNone/>
            </a:pPr>
            <a:r>
              <a:rPr lang="fr-FR" dirty="0" smtClean="0"/>
              <a:t>		"</a:t>
            </a:r>
            <a:r>
              <a:rPr lang="fr-FR" dirty="0" err="1" smtClean="0"/>
              <a:t>sub</a:t>
            </a:r>
            <a:r>
              <a:rPr lang="fr-FR" dirty="0" smtClean="0"/>
              <a:t>": "1234567890",  </a:t>
            </a:r>
          </a:p>
          <a:p>
            <a:pPr>
              <a:buNone/>
            </a:pPr>
            <a:r>
              <a:rPr lang="fr-FR" dirty="0" smtClean="0"/>
              <a:t>		"email": "user@example.com", </a:t>
            </a:r>
          </a:p>
          <a:p>
            <a:pPr>
              <a:buNone/>
            </a:pPr>
            <a:r>
              <a:rPr lang="fr-FR" dirty="0" smtClean="0"/>
              <a:t>		 "</a:t>
            </a:r>
            <a:r>
              <a:rPr lang="fr-FR" dirty="0" err="1" smtClean="0"/>
              <a:t>iat</a:t>
            </a:r>
            <a:r>
              <a:rPr lang="fr-FR" dirty="0" smtClean="0"/>
              <a:t>": 1718888888, </a:t>
            </a:r>
          </a:p>
          <a:p>
            <a:pPr>
              <a:buNone/>
            </a:pPr>
            <a:r>
              <a:rPr lang="fr-FR" dirty="0" smtClean="0"/>
              <a:t>		 "</a:t>
            </a:r>
            <a:r>
              <a:rPr lang="fr-FR" dirty="0" err="1" smtClean="0"/>
              <a:t>exp</a:t>
            </a:r>
            <a:r>
              <a:rPr lang="fr-FR" dirty="0" smtClean="0"/>
              <a:t>": 1718892488</a:t>
            </a:r>
          </a:p>
          <a:p>
            <a:pPr>
              <a:buNone/>
            </a:pPr>
            <a:r>
              <a:rPr lang="fr-FR" dirty="0" smtClean="0"/>
              <a:t>}</a:t>
            </a:r>
          </a:p>
          <a:p>
            <a:r>
              <a:rPr lang="en-US" dirty="0" smtClean="0"/>
              <a:t>sub → subject (usually user ID)</a:t>
            </a:r>
          </a:p>
          <a:p>
            <a:r>
              <a:rPr lang="en-US" dirty="0" err="1" smtClean="0"/>
              <a:t>iat</a:t>
            </a:r>
            <a:r>
              <a:rPr lang="en-US" dirty="0" smtClean="0"/>
              <a:t> → issued at</a:t>
            </a:r>
          </a:p>
          <a:p>
            <a:r>
              <a:rPr lang="en-US" dirty="0" smtClean="0"/>
              <a:t>exp → expiration time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5059363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3. Signature </a:t>
            </a:r>
            <a:r>
              <a:rPr lang="en-US" dirty="0" smtClean="0"/>
              <a:t>— used to verify that the token hasn’t been changed</a:t>
            </a:r>
            <a:br>
              <a:rPr lang="en-US" dirty="0" smtClean="0"/>
            </a:br>
            <a:r>
              <a:rPr lang="en-US" b="1" dirty="0" smtClean="0"/>
              <a:t>Example process:</a:t>
            </a:r>
          </a:p>
          <a:p>
            <a:pPr>
              <a:buNone/>
            </a:pPr>
            <a:r>
              <a:rPr lang="en-US" dirty="0" smtClean="0"/>
              <a:t>	HMACSHA256( </a:t>
            </a:r>
          </a:p>
          <a:p>
            <a:pPr>
              <a:buNone/>
            </a:pPr>
            <a:r>
              <a:rPr lang="en-US" dirty="0" smtClean="0"/>
              <a:t>	 base64UrlEncode(header) + "." + base64UrlEncode(payload),  </a:t>
            </a:r>
          </a:p>
          <a:p>
            <a:pPr>
              <a:buNone/>
            </a:pPr>
            <a:r>
              <a:rPr lang="en-US" dirty="0" smtClean="0"/>
              <a:t>secret</a:t>
            </a:r>
          </a:p>
          <a:p>
            <a:pPr>
              <a:buNone/>
            </a:pP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/>
          </a:bodyPr>
          <a:lstStyle/>
          <a:p>
            <a:r>
              <a:rPr lang="en-US" b="1" dirty="0" smtClean="0"/>
              <a:t>JWT Signing Algorithms Explained</a:t>
            </a:r>
          </a:p>
          <a:p>
            <a:pPr algn="just"/>
            <a:r>
              <a:rPr lang="en-US" dirty="0" smtClean="0"/>
              <a:t>JWTs rely on signing algorithms to ensure tokens are valid and </a:t>
            </a:r>
            <a:r>
              <a:rPr lang="en-US" dirty="0" err="1" smtClean="0"/>
              <a:t>untampered</a:t>
            </a:r>
            <a:r>
              <a:rPr lang="en-US" dirty="0" smtClean="0"/>
              <a:t>. These algorithms play a critical role in verifying identity, especially in authentication and authorization workflows.</a:t>
            </a:r>
          </a:p>
          <a:p>
            <a:pPr algn="just"/>
            <a:r>
              <a:rPr lang="en-US" dirty="0" smtClean="0"/>
              <a:t>There are </a:t>
            </a:r>
            <a:r>
              <a:rPr lang="en-US" b="1" dirty="0" smtClean="0"/>
              <a:t>two core types </a:t>
            </a:r>
            <a:r>
              <a:rPr lang="en-US" dirty="0" smtClean="0"/>
              <a:t>of signing mechanisms used in JWTs: symmetric and asymmetric algorithms.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0960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/>
              <a:t>JWT Algorithm Types: Symmetric vs. Asymmetric</a:t>
            </a:r>
          </a:p>
          <a:p>
            <a:pPr algn="just"/>
            <a:r>
              <a:rPr lang="en-US" dirty="0" smtClean="0"/>
              <a:t>Understanding JWT algorithm types helps you choose the right method for your security needs.</a:t>
            </a:r>
          </a:p>
          <a:p>
            <a:pPr algn="just"/>
            <a:r>
              <a:rPr lang="en-US" b="1" dirty="0" smtClean="0"/>
              <a:t>1. Symmetric Algorithms (HMAC - HS256)</a:t>
            </a:r>
          </a:p>
          <a:p>
            <a:pPr algn="just"/>
            <a:r>
              <a:rPr lang="en-US" dirty="0" smtClean="0"/>
              <a:t>Symmetric algorithms like </a:t>
            </a:r>
            <a:r>
              <a:rPr lang="en-US" b="1" dirty="0" smtClean="0"/>
              <a:t>HS256</a:t>
            </a:r>
            <a:r>
              <a:rPr lang="en-US" dirty="0" smtClean="0"/>
              <a:t> use the same secret key for both signing and verifying a token.</a:t>
            </a:r>
          </a:p>
          <a:p>
            <a:pPr algn="just"/>
            <a:r>
              <a:rPr lang="en-US" b="1" dirty="0" smtClean="0"/>
              <a:t>Easy to implement</a:t>
            </a:r>
            <a:endParaRPr lang="en-US" dirty="0" smtClean="0"/>
          </a:p>
          <a:p>
            <a:pPr algn="just"/>
            <a:r>
              <a:rPr lang="en-US" b="1" dirty="0" smtClean="0"/>
              <a:t>Risky in distributed systems</a:t>
            </a:r>
            <a:r>
              <a:rPr lang="en-US" dirty="0" smtClean="0"/>
              <a:t> because the key must be shared between parties</a:t>
            </a:r>
          </a:p>
          <a:p>
            <a:pPr algn="just">
              <a:buNone/>
            </a:pPr>
            <a:r>
              <a:rPr lang="en-US" dirty="0" smtClean="0"/>
              <a:t>const </a:t>
            </a:r>
            <a:r>
              <a:rPr lang="en-US" dirty="0" err="1" smtClean="0"/>
              <a:t>jwt</a:t>
            </a:r>
            <a:r>
              <a:rPr lang="en-US" dirty="0" smtClean="0"/>
              <a:t> = require('</a:t>
            </a:r>
            <a:r>
              <a:rPr lang="en-US" dirty="0" err="1" smtClean="0"/>
              <a:t>jsonwebtoken</a:t>
            </a:r>
            <a:r>
              <a:rPr lang="en-US" dirty="0" smtClean="0"/>
              <a:t>');</a:t>
            </a:r>
          </a:p>
          <a:p>
            <a:pPr algn="just">
              <a:buNone/>
            </a:pPr>
            <a:r>
              <a:rPr lang="en-US" dirty="0" smtClean="0"/>
              <a:t>const token = </a:t>
            </a:r>
            <a:r>
              <a:rPr lang="en-US" dirty="0" err="1" smtClean="0"/>
              <a:t>jwt.sign</a:t>
            </a:r>
            <a:r>
              <a:rPr lang="en-US" dirty="0" smtClean="0"/>
              <a:t>({ </a:t>
            </a:r>
            <a:r>
              <a:rPr lang="en-US" dirty="0" err="1" smtClean="0"/>
              <a:t>userId</a:t>
            </a:r>
            <a:r>
              <a:rPr lang="en-US" dirty="0" smtClean="0"/>
              <a:t>: '12345' }, 'your-256-bit-secret', { algorithm: 'HS256' });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15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/>
              <a:t>2. Asymmetric Algorithms (RSA, ECDSA)</a:t>
            </a:r>
          </a:p>
          <a:p>
            <a:pPr algn="just"/>
            <a:r>
              <a:rPr lang="en-US" dirty="0" smtClean="0"/>
              <a:t>Asymmetric algorithms such as </a:t>
            </a:r>
            <a:r>
              <a:rPr lang="en-US" b="1" dirty="0" smtClean="0"/>
              <a:t>RS256</a:t>
            </a:r>
            <a:r>
              <a:rPr lang="en-US" dirty="0" smtClean="0"/>
              <a:t>, </a:t>
            </a:r>
            <a:r>
              <a:rPr lang="en-US" b="1" dirty="0" smtClean="0"/>
              <a:t>ES256</a:t>
            </a:r>
            <a:r>
              <a:rPr lang="en-US" dirty="0" smtClean="0"/>
              <a:t>, and </a:t>
            </a:r>
            <a:r>
              <a:rPr lang="en-US" b="1" dirty="0" smtClean="0"/>
              <a:t>PS256</a:t>
            </a:r>
            <a:r>
              <a:rPr lang="en-US" dirty="0" smtClean="0"/>
              <a:t> use a private–public key pair.</a:t>
            </a:r>
          </a:p>
          <a:p>
            <a:pPr algn="just"/>
            <a:r>
              <a:rPr lang="en-US" b="1" dirty="0" smtClean="0"/>
              <a:t>More secure</a:t>
            </a:r>
            <a:r>
              <a:rPr lang="en-US" dirty="0" smtClean="0"/>
              <a:t> for public APIs and </a:t>
            </a:r>
            <a:r>
              <a:rPr lang="en-US" dirty="0" err="1" smtClean="0"/>
              <a:t>microservices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b="1" dirty="0" smtClean="0"/>
              <a:t>private key signs</a:t>
            </a:r>
            <a:r>
              <a:rPr lang="en-US" dirty="0" smtClean="0"/>
              <a:t> the token, while the </a:t>
            </a:r>
            <a:r>
              <a:rPr lang="en-US" b="1" dirty="0" smtClean="0"/>
              <a:t>public key verifies</a:t>
            </a:r>
            <a:r>
              <a:rPr lang="en-US" dirty="0" smtClean="0"/>
              <a:t> it and can be safely shared</a:t>
            </a:r>
          </a:p>
          <a:p>
            <a:pPr algn="just">
              <a:buNone/>
            </a:pPr>
            <a:r>
              <a:rPr lang="en-US" dirty="0" smtClean="0"/>
              <a:t>const </a:t>
            </a:r>
            <a:r>
              <a:rPr lang="en-US" dirty="0" err="1" smtClean="0"/>
              <a:t>fs</a:t>
            </a:r>
            <a:r>
              <a:rPr lang="en-US" dirty="0" smtClean="0"/>
              <a:t> = require('</a:t>
            </a:r>
            <a:r>
              <a:rPr lang="en-US" dirty="0" err="1" smtClean="0"/>
              <a:t>fs'</a:t>
            </a:r>
            <a:r>
              <a:rPr lang="en-US" dirty="0" smtClean="0"/>
              <a:t>);</a:t>
            </a:r>
          </a:p>
          <a:p>
            <a:pPr algn="just">
              <a:buNone/>
            </a:pPr>
            <a:r>
              <a:rPr lang="en-US" dirty="0" smtClean="0"/>
              <a:t>const </a:t>
            </a:r>
            <a:r>
              <a:rPr lang="en-US" dirty="0" err="1" smtClean="0"/>
              <a:t>privateKey</a:t>
            </a:r>
            <a:r>
              <a:rPr lang="en-US" dirty="0" smtClean="0"/>
              <a:t> = </a:t>
            </a:r>
            <a:r>
              <a:rPr lang="en-US" dirty="0" err="1" smtClean="0"/>
              <a:t>fs.readFileSync</a:t>
            </a:r>
            <a:r>
              <a:rPr lang="en-US" dirty="0" smtClean="0"/>
              <a:t>('./</a:t>
            </a:r>
            <a:r>
              <a:rPr lang="en-US" dirty="0" err="1" smtClean="0"/>
              <a:t>private.key</a:t>
            </a:r>
            <a:r>
              <a:rPr lang="en-US" dirty="0" smtClean="0"/>
              <a:t>');</a:t>
            </a:r>
          </a:p>
          <a:p>
            <a:pPr algn="just">
              <a:buNone/>
            </a:pPr>
            <a:r>
              <a:rPr lang="en-US" dirty="0" smtClean="0"/>
              <a:t>const token = </a:t>
            </a:r>
            <a:r>
              <a:rPr lang="en-US" dirty="0" err="1" smtClean="0"/>
              <a:t>jwt.sign</a:t>
            </a:r>
            <a:r>
              <a:rPr lang="en-US" dirty="0" smtClean="0"/>
              <a:t>({ </a:t>
            </a:r>
            <a:r>
              <a:rPr lang="en-US" dirty="0" err="1" smtClean="0"/>
              <a:t>userId</a:t>
            </a:r>
            <a:r>
              <a:rPr lang="en-US" dirty="0" smtClean="0"/>
              <a:t>: '12345' }, </a:t>
            </a:r>
            <a:r>
              <a:rPr lang="en-US" dirty="0" err="1" smtClean="0"/>
              <a:t>privateKey</a:t>
            </a:r>
            <a:r>
              <a:rPr lang="en-US" dirty="0" smtClean="0"/>
              <a:t>, { algorithm: 'RS256' });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r>
              <a:rPr lang="en-US" b="1" dirty="0" smtClean="0"/>
              <a:t>JWT Algorithm List and Use Cases</a:t>
            </a:r>
          </a:p>
          <a:p>
            <a:r>
              <a:rPr lang="en-US" dirty="0" smtClean="0"/>
              <a:t>Here’s a </a:t>
            </a:r>
            <a:r>
              <a:rPr lang="en-US" b="1" dirty="0" smtClean="0"/>
              <a:t>JWT algorithm list</a:t>
            </a:r>
            <a:r>
              <a:rPr lang="en-US" dirty="0" smtClean="0"/>
              <a:t> that highlights key algorithms used in production, with a quick comparison to help you decide: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3124200"/>
          <a:ext cx="762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Key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Strengths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HS256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Symmetric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Shared secret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Fast, simple to implement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RS256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Asymmetric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RSA key pair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Secure for third-party verification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ES256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Asymmetric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EC key pair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Lightweight, efficient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PS256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Asymmetric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RSA-PSS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High-level cryptographic strength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How to Choose the Right JWT Algorithm</a:t>
            </a:r>
          </a:p>
          <a:p>
            <a:pPr algn="just"/>
            <a:r>
              <a:rPr lang="en-US" dirty="0" smtClean="0"/>
              <a:t>Use </a:t>
            </a:r>
            <a:r>
              <a:rPr lang="en-US" b="1" dirty="0" smtClean="0"/>
              <a:t>HS256</a:t>
            </a:r>
            <a:r>
              <a:rPr lang="en-US" dirty="0" smtClean="0"/>
              <a:t> for small, internal apps where all services can securely share a secret key.</a:t>
            </a:r>
          </a:p>
          <a:p>
            <a:pPr algn="just"/>
            <a:r>
              <a:rPr lang="en-US" dirty="0" smtClean="0"/>
              <a:t>Use </a:t>
            </a:r>
            <a:r>
              <a:rPr lang="en-US" b="1" dirty="0" smtClean="0"/>
              <a:t>RS256</a:t>
            </a:r>
            <a:r>
              <a:rPr lang="en-US" dirty="0" smtClean="0"/>
              <a:t> or </a:t>
            </a:r>
            <a:r>
              <a:rPr lang="en-US" b="1" dirty="0" smtClean="0"/>
              <a:t>ES256</a:t>
            </a:r>
            <a:r>
              <a:rPr lang="en-US" dirty="0" smtClean="0"/>
              <a:t> for apps with </a:t>
            </a:r>
            <a:r>
              <a:rPr lang="en-US" b="1" dirty="0" smtClean="0"/>
              <a:t>external integrations</a:t>
            </a:r>
            <a:r>
              <a:rPr lang="en-US" dirty="0" smtClean="0"/>
              <a:t>, </a:t>
            </a:r>
            <a:r>
              <a:rPr lang="en-US" b="1" dirty="0" smtClean="0"/>
              <a:t>public APIs</a:t>
            </a:r>
            <a:r>
              <a:rPr lang="en-US" dirty="0" smtClean="0"/>
              <a:t>, or </a:t>
            </a:r>
            <a:r>
              <a:rPr lang="en-US" b="1" dirty="0" err="1" smtClean="0"/>
              <a:t>microservices</a:t>
            </a:r>
            <a:r>
              <a:rPr lang="en-US" dirty="0" smtClean="0"/>
              <a:t>, where stronger verification and key separation are needed.</a:t>
            </a:r>
          </a:p>
          <a:p>
            <a:pPr algn="just"/>
            <a:r>
              <a:rPr lang="en-US" dirty="0" smtClean="0"/>
              <a:t>Choose </a:t>
            </a:r>
            <a:r>
              <a:rPr lang="en-US" b="1" dirty="0" smtClean="0"/>
              <a:t>PS256</a:t>
            </a:r>
            <a:r>
              <a:rPr lang="en-US" dirty="0" smtClean="0"/>
              <a:t> when compliance and modern cryptographic standards (like FIPS or GDPR) are essential.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r>
              <a:rPr lang="en-US" b="1" dirty="0" smtClean="0"/>
              <a:t>Implementation of JWT using </a:t>
            </a:r>
            <a:r>
              <a:rPr lang="en-US" b="1" dirty="0" err="1" smtClean="0"/>
              <a:t>LoginRadius</a:t>
            </a:r>
            <a:r>
              <a:rPr lang="en-US" b="1" dirty="0" smtClean="0"/>
              <a:t> APIs</a:t>
            </a:r>
          </a:p>
          <a:p>
            <a:r>
              <a:rPr lang="en-US" dirty="0" smtClean="0"/>
              <a:t>To implement JWT with </a:t>
            </a:r>
            <a:r>
              <a:rPr lang="en-US" dirty="0" err="1" smtClean="0"/>
              <a:t>LoginRadius</a:t>
            </a:r>
            <a:r>
              <a:rPr lang="en-US" dirty="0" smtClean="0"/>
              <a:t>:</a:t>
            </a:r>
          </a:p>
          <a:p>
            <a:r>
              <a:rPr lang="en-US" b="1" dirty="0" smtClean="0"/>
              <a:t>Step 1: Configure a JWT App</a:t>
            </a:r>
          </a:p>
          <a:p>
            <a:r>
              <a:rPr lang="en-US" dirty="0" smtClean="0"/>
              <a:t>Set up a JWT app in your </a:t>
            </a:r>
            <a:r>
              <a:rPr lang="en-US" dirty="0" err="1" smtClean="0">
                <a:hlinkClick r:id="rId2"/>
              </a:rPr>
              <a:t>LoginRadius</a:t>
            </a:r>
            <a:r>
              <a:rPr lang="en-US" dirty="0" smtClean="0">
                <a:hlinkClick r:id="rId2"/>
              </a:rPr>
              <a:t> Admin Console</a:t>
            </a:r>
            <a:r>
              <a:rPr lang="en-US" dirty="0" smtClean="0"/>
              <a:t>. Follow the JWT Admin Console Configuration guide.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22772" t="28466" r="24753" b="39356"/>
          <a:stretch>
            <a:fillRect/>
          </a:stretch>
        </p:blipFill>
        <p:spPr bwMode="auto">
          <a:xfrm>
            <a:off x="533400" y="381000"/>
            <a:ext cx="80772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0960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3800" b="1" dirty="0" smtClean="0"/>
              <a:t>Step 2: Use APIs to Retrieve JWT</a:t>
            </a:r>
          </a:p>
          <a:p>
            <a:r>
              <a:rPr lang="en-US" dirty="0" smtClean="0"/>
              <a:t>If you are directly implementing your Login forms or already have an access token or want to generate a JWT based on email/username/Phone number or a password, you can leverage the following APIs:</a:t>
            </a:r>
          </a:p>
          <a:p>
            <a:r>
              <a:rPr lang="en-US" dirty="0" smtClean="0">
                <a:hlinkClick r:id="rId2"/>
              </a:rPr>
              <a:t>JWT Token</a:t>
            </a:r>
            <a:r>
              <a:rPr lang="en-US" dirty="0" smtClean="0"/>
              <a:t>: This GET API is used to exchange access tokens with your JWT.</a:t>
            </a:r>
          </a:p>
          <a:p>
            <a:r>
              <a:rPr lang="en-US" dirty="0" smtClean="0">
                <a:hlinkClick r:id="rId3"/>
              </a:rPr>
              <a:t>JWT Token by Email</a:t>
            </a:r>
            <a:r>
              <a:rPr lang="en-US" dirty="0" smtClean="0"/>
              <a:t>: This API is used to get a JWT by Email and Password.</a:t>
            </a:r>
          </a:p>
          <a:p>
            <a:r>
              <a:rPr lang="en-US" dirty="0" smtClean="0">
                <a:hlinkClick r:id="rId4"/>
              </a:rPr>
              <a:t>JWT Token by Username</a:t>
            </a:r>
            <a:r>
              <a:rPr lang="en-US" dirty="0" smtClean="0"/>
              <a:t>: This API is used to get JWT by Username and password.</a:t>
            </a:r>
          </a:p>
          <a:p>
            <a:r>
              <a:rPr lang="en-US" dirty="0" smtClean="0">
                <a:hlinkClick r:id="rId5"/>
              </a:rPr>
              <a:t>JWT Token by Phone</a:t>
            </a:r>
            <a:r>
              <a:rPr lang="en-US" dirty="0" smtClean="0"/>
              <a:t>: This API is used to get JWT by Phone and password.</a:t>
            </a:r>
          </a:p>
          <a:p>
            <a:r>
              <a:rPr lang="en-US" b="1" dirty="0" smtClean="0"/>
              <a:t>API Response Example:</a:t>
            </a:r>
            <a:endParaRPr lang="en-US" dirty="0" smtClean="0"/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"signature": "&lt;</a:t>
            </a:r>
            <a:r>
              <a:rPr lang="en-US" dirty="0" err="1" smtClean="0"/>
              <a:t>JWTresponse</a:t>
            </a:r>
            <a:r>
              <a:rPr lang="en-US" dirty="0" smtClean="0"/>
              <a:t>&gt;"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These tokens can then be used in your client app for authenticated requests.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436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4500" b="1" dirty="0" smtClean="0"/>
              <a:t>Best Practices for Secure JWT Authentication</a:t>
            </a:r>
          </a:p>
          <a:p>
            <a:r>
              <a:rPr lang="en-US" dirty="0" smtClean="0"/>
              <a:t>To implement JWT securely, follow these key practices:</a:t>
            </a:r>
          </a:p>
          <a:p>
            <a:r>
              <a:rPr lang="en-US" b="1" dirty="0" smtClean="0"/>
              <a:t>Keep Signing Keys Secure</a:t>
            </a:r>
            <a:endParaRPr lang="en-US" dirty="0" smtClean="0"/>
          </a:p>
          <a:p>
            <a:r>
              <a:rPr lang="en-US" dirty="0" smtClean="0"/>
              <a:t>Private keys or secrets used to sign JWTs must be stored securely.</a:t>
            </a:r>
          </a:p>
          <a:p>
            <a:r>
              <a:rPr lang="en-US" b="1" dirty="0" smtClean="0"/>
              <a:t>Avoid Sensitive Data in Payload</a:t>
            </a:r>
            <a:endParaRPr lang="en-US" dirty="0" smtClean="0"/>
          </a:p>
          <a:p>
            <a:r>
              <a:rPr lang="en-US" dirty="0" smtClean="0"/>
              <a:t>Payload is only base64 encoded—not encrypted. Do not include passwords, PII, or credentials unless using encrypted JWT (JWE).</a:t>
            </a:r>
          </a:p>
          <a:p>
            <a:r>
              <a:rPr lang="en-US" b="1" dirty="0" smtClean="0"/>
              <a:t>Limit Token Claims</a:t>
            </a:r>
            <a:endParaRPr lang="en-US" dirty="0" smtClean="0"/>
          </a:p>
          <a:p>
            <a:r>
              <a:rPr lang="en-US" dirty="0" smtClean="0"/>
              <a:t>Include only essential claims in the token to reduce size and exposure.</a:t>
            </a:r>
          </a:p>
          <a:p>
            <a:r>
              <a:rPr lang="en-US" b="1" dirty="0" smtClean="0"/>
              <a:t>Use HTTPS</a:t>
            </a:r>
            <a:endParaRPr lang="en-US" dirty="0" smtClean="0"/>
          </a:p>
          <a:p>
            <a:r>
              <a:rPr lang="en-US" dirty="0" smtClean="0"/>
              <a:t>Always transmit JWTs over HTTPS to prevent man-in-the-middle attacks.</a:t>
            </a:r>
          </a:p>
          <a:p>
            <a:r>
              <a:rPr lang="en-US" b="1" dirty="0" smtClean="0"/>
              <a:t>Set Short Expiry Times</a:t>
            </a:r>
            <a:endParaRPr lang="en-US" dirty="0" smtClean="0"/>
          </a:p>
          <a:p>
            <a:r>
              <a:rPr lang="en-US" dirty="0" smtClean="0"/>
              <a:t>Use short exp durations and implement refresh tokens to reduce impact if a token is compromised.</a:t>
            </a:r>
          </a:p>
          <a:p>
            <a:r>
              <a:rPr lang="en-US" b="1" dirty="0" smtClean="0"/>
              <a:t>Implement Token Revocation</a:t>
            </a:r>
            <a:endParaRPr lang="en-US" dirty="0" smtClean="0"/>
          </a:p>
          <a:p>
            <a:r>
              <a:rPr lang="en-US" dirty="0" smtClean="0"/>
              <a:t>Use </a:t>
            </a:r>
            <a:r>
              <a:rPr lang="en-US" dirty="0" err="1" smtClean="0"/>
              <a:t>jti</a:t>
            </a:r>
            <a:r>
              <a:rPr lang="en-US" dirty="0" smtClean="0"/>
              <a:t> with a blacklist or maintain a revocation strategy for enhanced control.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686800" cy="58674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4000" b="1" dirty="0" smtClean="0"/>
              <a:t>Why Are JWTs Important for Authentication and Security?</a:t>
            </a:r>
          </a:p>
          <a:p>
            <a:r>
              <a:rPr lang="en-US" dirty="0" smtClean="0"/>
              <a:t>JWTs offer numerous benefits in authentication systems:</a:t>
            </a:r>
          </a:p>
          <a:p>
            <a:r>
              <a:rPr lang="en-US" b="1" dirty="0" smtClean="0"/>
              <a:t>Stateless Authentication</a:t>
            </a:r>
            <a:r>
              <a:rPr lang="en-US" dirty="0" smtClean="0"/>
              <a:t> – No need to maintain session state on the server.</a:t>
            </a:r>
          </a:p>
          <a:p>
            <a:r>
              <a:rPr lang="en-US" b="1" dirty="0" smtClean="0"/>
              <a:t>Scalability</a:t>
            </a:r>
            <a:r>
              <a:rPr lang="en-US" dirty="0" smtClean="0"/>
              <a:t> – Suitable for </a:t>
            </a:r>
            <a:r>
              <a:rPr lang="en-US" dirty="0" err="1" smtClean="0"/>
              <a:t>microservices</a:t>
            </a:r>
            <a:r>
              <a:rPr lang="en-US" dirty="0" smtClean="0"/>
              <a:t> and distributed systems.</a:t>
            </a:r>
          </a:p>
          <a:p>
            <a:r>
              <a:rPr lang="en-US" b="1" dirty="0" smtClean="0"/>
              <a:t>Tamper Resistance</a:t>
            </a:r>
            <a:r>
              <a:rPr lang="en-US" dirty="0" smtClean="0"/>
              <a:t> – Digitally signed tokens ensure data integrity.</a:t>
            </a:r>
          </a:p>
          <a:p>
            <a:r>
              <a:rPr lang="en-US" b="1" dirty="0" smtClean="0"/>
              <a:t>Performance</a:t>
            </a:r>
            <a:r>
              <a:rPr lang="en-US" dirty="0" smtClean="0"/>
              <a:t> – Reduces server load and database dependencies.</a:t>
            </a:r>
          </a:p>
          <a:p>
            <a:r>
              <a:rPr lang="en-US" b="1" dirty="0" smtClean="0"/>
              <a:t>Cross-Platform Support</a:t>
            </a:r>
            <a:r>
              <a:rPr lang="en-US" dirty="0" smtClean="0"/>
              <a:t> – Easily used across web, mobile, and API ecosystems.</a:t>
            </a:r>
          </a:p>
          <a:p>
            <a:r>
              <a:rPr lang="en-US" b="1" dirty="0" smtClean="0"/>
              <a:t>Enhanced Security</a:t>
            </a:r>
            <a:r>
              <a:rPr lang="en-US" dirty="0" smtClean="0"/>
              <a:t> – Signed tokens ensure authenticity and tamper-proof data.</a:t>
            </a:r>
          </a:p>
          <a:p>
            <a:r>
              <a:rPr lang="en-US" b="1" dirty="0" smtClean="0"/>
              <a:t>Developer Convenience</a:t>
            </a:r>
            <a:r>
              <a:rPr lang="en-US" dirty="0" smtClean="0"/>
              <a:t> – Simplifies session management.</a:t>
            </a:r>
          </a:p>
          <a:p>
            <a:r>
              <a:rPr lang="en-US" dirty="0" smtClean="0"/>
              <a:t>JWTs are widely adopted in </a:t>
            </a:r>
            <a:r>
              <a:rPr lang="en-US" dirty="0" err="1" smtClean="0"/>
              <a:t>OAuth</a:t>
            </a:r>
            <a:r>
              <a:rPr lang="en-US" dirty="0" smtClean="0"/>
              <a:t> 2.0, </a:t>
            </a:r>
            <a:r>
              <a:rPr lang="en-US" dirty="0" err="1" smtClean="0"/>
              <a:t>OpenID</a:t>
            </a:r>
            <a:r>
              <a:rPr lang="en-US" dirty="0" smtClean="0"/>
              <a:t> Connect, and API security implementations.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11472283</TotalTime>
  <Words>1619</Words>
  <Application>Microsoft Office PowerPoint</Application>
  <PresentationFormat>On-screen Show (4:3)</PresentationFormat>
  <Paragraphs>252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User Registration and Login System using JWT (JSON Web Token) in Python (Flask framework)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JWT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Registration and Login System using JWT (JSON Web Token) in Python (Flask framework)</dc:title>
  <dc:creator>kanakaraj</dc:creator>
  <cp:lastModifiedBy>kanakaraj</cp:lastModifiedBy>
  <cp:revision>29</cp:revision>
  <dcterms:created xsi:type="dcterms:W3CDTF">2025-10-17T10:33:03Z</dcterms:created>
  <dcterms:modified xsi:type="dcterms:W3CDTF">2025-12-31T14:09:05Z</dcterms:modified>
</cp:coreProperties>
</file>