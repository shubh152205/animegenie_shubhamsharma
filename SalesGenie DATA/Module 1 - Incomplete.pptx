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ggsz5FkQPnvYFOnDa8rpqyiD80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2efc1eada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2efc1ea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2efc1eada_0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f2efc1ead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2efc1eada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f2efc1ead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2efc1eada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f2efc1ead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2efc1eada_0_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f2efc1ead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2efc1eada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f2efc1ead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2efc1eada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2efc1ead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2efc1eada_0_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f2efc1ead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2efc1ead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f2efc1eada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2efc1eada_0_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f2efc1ead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2efc1eada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f2efc1eada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2efc1eada_0_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f2efc1eada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2efc1eada_0_1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f2efc1eada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2efc1eada_0_1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2efc1eada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2efc1eada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f2efc1eada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2efc1eada_0_1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f2efc1eada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mailto:rahul@abctraders.com" TargetMode="External"/><Relationship Id="rId4" Type="http://schemas.openxmlformats.org/officeDocument/2006/relationships/hyperlink" Target="mailto:priya@abctraders.com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SalesGenie AI – AI Sales Assistant &amp; Lead Intelligence Platform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idx="1" type="body"/>
          </p:nvPr>
        </p:nvSpPr>
        <p:spPr>
          <a:xfrm>
            <a:off x="457200" y="1295400"/>
            <a:ext cx="8229600" cy="483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platform gathers information from websites, CRM systems, emails, social media, and customer interactions to generate actionable insights.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It can automatically score leads, recommend the best prospects, personalize email responses, schedule follow-ups, predict customer buying behavior, and provide real-time sales recommendations.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Key Features</a:t>
            </a:r>
            <a:endParaRPr/>
          </a:p>
        </p:txBody>
      </p:sp>
      <p:sp>
        <p:nvSpPr>
          <p:cNvPr id="95" name="Google Shape;95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Lead Identification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Lead Scoring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Customer Profiling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Email &amp; Chat Automation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Sales Forecasting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Meeting Scheduling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CRM Integration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Real-Time Analytics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Real-Time Example</a:t>
            </a:r>
            <a:endParaRPr/>
          </a:p>
        </p:txBody>
      </p:sp>
      <p:sp>
        <p:nvSpPr>
          <p:cNvPr id="101" name="Google Shape;101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50">
                <a:latin typeface="Times New Roman"/>
                <a:ea typeface="Times New Roman"/>
                <a:cs typeface="Times New Roman"/>
                <a:sym typeface="Times New Roman"/>
              </a:rPr>
              <a:t>Scenario</a:t>
            </a:r>
            <a:endParaRPr b="1"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A software company sells cloud-based accounting software to small businesses.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50">
                <a:latin typeface="Times New Roman"/>
                <a:ea typeface="Times New Roman"/>
                <a:cs typeface="Times New Roman"/>
                <a:sym typeface="Times New Roman"/>
              </a:rPr>
              <a:t>Step 1: Lead Discovery</a:t>
            </a:r>
            <a:endParaRPr b="1"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The AI platform scans business directories, LinkedIn, company websites, and online forms to identify businesses that may need accounting software.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Example Lead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Company: ABC Traders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Industry: Retail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Employees: 60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Location: Chennai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SzPts val="19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Annual Revenue: ₹15 Crore </a:t>
            </a:r>
            <a:endParaRPr sz="3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2efc1eada_0_0"/>
          <p:cNvSpPr txBox="1"/>
          <p:nvPr>
            <p:ph idx="1" type="body"/>
          </p:nvPr>
        </p:nvSpPr>
        <p:spPr>
          <a:xfrm>
            <a:off x="457200" y="703375"/>
            <a:ext cx="8229600" cy="54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50">
                <a:latin typeface="Times New Roman"/>
                <a:ea typeface="Times New Roman"/>
                <a:cs typeface="Times New Roman"/>
                <a:sym typeface="Times New Roman"/>
              </a:rPr>
              <a:t>Step 2: Lead Intelligence</a:t>
            </a:r>
            <a:endParaRPr b="1" sz="2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The AI analyzes available information and generates insights: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			Result</a:t>
            </a:r>
            <a:endParaRPr b="1"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 Size		Medium</a:t>
            </a:r>
            <a:endParaRPr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 Used		Excel-based accounting</a:t>
            </a:r>
            <a:endParaRPr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Hiring Activity		Hiring accountants</a:t>
            </a:r>
            <a:endParaRPr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Website Visits		6 visits in last week</a:t>
            </a:r>
            <a:endParaRPr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 Opens			5 out of 6 emails opened</a:t>
            </a:r>
            <a:endParaRPr sz="4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2efc1eada_0_18"/>
          <p:cNvSpPr txBox="1"/>
          <p:nvPr>
            <p:ph idx="1" type="body"/>
          </p:nvPr>
        </p:nvSpPr>
        <p:spPr>
          <a:xfrm>
            <a:off x="457200" y="498225"/>
            <a:ext cx="8229600" cy="56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7752"/>
              <a:buFont typeface="Arial"/>
              <a:buNone/>
            </a:pPr>
            <a:r>
              <a:rPr b="1" lang="en-US" sz="3150">
                <a:latin typeface="Times New Roman"/>
                <a:ea typeface="Times New Roman"/>
                <a:cs typeface="Times New Roman"/>
                <a:sym typeface="Times New Roman"/>
              </a:rPr>
              <a:t>Step 3: AI Lead Score</a:t>
            </a:r>
            <a:endParaRPr b="1" sz="31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9640"/>
              <a:buFont typeface="Arial"/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The platform calculates the probability of conversion.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64865"/>
              <a:buNone/>
            </a:pPr>
            <a:r>
              <a:rPr b="1"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Factor						Score</a:t>
            </a:r>
            <a:endParaRPr b="1"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865"/>
              <a:buNone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 Fit					25/25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865"/>
              <a:buNone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Engagement						30/30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865"/>
              <a:buNone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Budget						20/20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865"/>
              <a:buNone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Maker Interaction			20/20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865"/>
              <a:buNone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Buying Intent					5/5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9896"/>
              <a:buNone/>
            </a:pPr>
            <a:r>
              <a:t/>
            </a:r>
            <a:endParaRPr sz="3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SzPct val="92664"/>
              <a:buNone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Final Lead Score = 100/100 (Hot Lead)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2efc1eada_0_28"/>
          <p:cNvSpPr txBox="1"/>
          <p:nvPr>
            <p:ph idx="1" type="body"/>
          </p:nvPr>
        </p:nvSpPr>
        <p:spPr>
          <a:xfrm>
            <a:off x="457200" y="615450"/>
            <a:ext cx="8229600" cy="55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50">
                <a:latin typeface="Times New Roman"/>
                <a:ea typeface="Times New Roman"/>
                <a:cs typeface="Times New Roman"/>
                <a:sym typeface="Times New Roman"/>
              </a:rPr>
              <a:t>Step 4: AI Recommendation</a:t>
            </a:r>
            <a:endParaRPr b="1" sz="32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The AI assistant suggests: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0" marL="4572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3100"/>
              <a:buFont typeface="Times New Roman"/>
              <a:buChar char="●"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Contact the Finance Manager today. 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Times New Roman"/>
              <a:buChar char="●"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Offer a free 14-day product trial. 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Times New Roman"/>
              <a:buChar char="●"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Highlight GST compliance and automated invoice generation. 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SzPts val="3100"/>
              <a:buFont typeface="Times New Roman"/>
              <a:buChar char="●"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Schedule a live demo within 24 hours.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2efc1eada_0_33"/>
          <p:cNvSpPr txBox="1"/>
          <p:nvPr>
            <p:ph idx="1" type="body"/>
          </p:nvPr>
        </p:nvSpPr>
        <p:spPr>
          <a:xfrm>
            <a:off x="457200" y="674075"/>
            <a:ext cx="8229600" cy="54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6635"/>
              <a:buFont typeface="Arial"/>
              <a:buNone/>
            </a:pPr>
            <a:r>
              <a:rPr b="1" lang="en-US" sz="2550">
                <a:latin typeface="Times New Roman"/>
                <a:ea typeface="Times New Roman"/>
                <a:cs typeface="Times New Roman"/>
                <a:sym typeface="Times New Roman"/>
              </a:rPr>
              <a:t>Step 5: Automated Personalized Email</a:t>
            </a:r>
            <a:endParaRPr b="1" sz="2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9550"/>
              <a:buFont typeface="Arial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Subject: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Simplify Your Accounting with AI-Powered Software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955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Dear Mr. Kumar,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955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 noticed that your company is expanding and may benefit from a modern accounting solution. Our AI-powered platform helps businesses automate GST filing, invoice generation, and financial reporting.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955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Would you be available for a 20-minute product demonstration this week?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9550"/>
              <a:buFont typeface="Arial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955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Best Regards,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955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Sales Team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60811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2efc1eada_0_38"/>
          <p:cNvSpPr txBox="1"/>
          <p:nvPr>
            <p:ph idx="1" type="body"/>
          </p:nvPr>
        </p:nvSpPr>
        <p:spPr>
          <a:xfrm>
            <a:off x="457200" y="611375"/>
            <a:ext cx="8229600" cy="55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2450">
                <a:latin typeface="Times New Roman"/>
                <a:ea typeface="Times New Roman"/>
                <a:cs typeface="Times New Roman"/>
                <a:sym typeface="Times New Roman"/>
              </a:rPr>
              <a:t>Step 6: Sales Outcome</a:t>
            </a:r>
            <a:endParaRPr b="1" sz="24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Before AI						After AI</a:t>
            </a:r>
            <a:endParaRPr b="1"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lead search		AI automatically identifies leads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Generic emails			Personalized emails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Equal attention to all leads	Priority given to high-value leads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conversion rate		Higher conversion rate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Time-consuming follow-ups	</a:t>
            </a: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reminders and follow-ups</a:t>
            </a:r>
            <a:endParaRPr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2efc1eada_0_43"/>
          <p:cNvSpPr txBox="1"/>
          <p:nvPr>
            <p:ph idx="1" type="body"/>
          </p:nvPr>
        </p:nvSpPr>
        <p:spPr>
          <a:xfrm>
            <a:off x="457200" y="630125"/>
            <a:ext cx="8229600" cy="54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800">
                <a:latin typeface="Times New Roman"/>
                <a:ea typeface="Times New Roman"/>
                <a:cs typeface="Times New Roman"/>
                <a:sym typeface="Times New Roman"/>
              </a:rPr>
              <a:t>Benefits</a:t>
            </a:r>
            <a:endParaRPr b="1" sz="3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Increases sales productivity.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Improves lead conversion rates.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Reduces manual work for sales teams.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Provides data-driven decision-making.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Enhances customer engagement through personalized communication.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Predicts customer buying intent more accurately.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Saves time by automating repetitive sales tasks.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2efc1eada_0_48"/>
          <p:cNvSpPr txBox="1"/>
          <p:nvPr>
            <p:ph idx="1" type="body"/>
          </p:nvPr>
        </p:nvSpPr>
        <p:spPr>
          <a:xfrm>
            <a:off x="457200" y="600800"/>
            <a:ext cx="8229600" cy="55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Real-World Examples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Many organizations use AI-powered sales and lead intelligence platforms, including: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Salesforce Einstein AI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HubSpot AI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Zoho Zia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SzPts val="2400"/>
              <a:buFont typeface="Times New Roman"/>
              <a:buChar char="●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Microsoft Dynamics 365 Sales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2efc1eada_0_68"/>
          <p:cNvSpPr txBox="1"/>
          <p:nvPr>
            <p:ph idx="1" type="body"/>
          </p:nvPr>
        </p:nvSpPr>
        <p:spPr>
          <a:xfrm>
            <a:off x="457200" y="205150"/>
            <a:ext cx="8229600" cy="59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4072"/>
              <a:buFont typeface="Arial"/>
              <a:buNone/>
            </a:pPr>
            <a:r>
              <a:rPr b="1" lang="en-US" sz="3229">
                <a:latin typeface="Times New Roman"/>
                <a:ea typeface="Times New Roman"/>
                <a:cs typeface="Times New Roman"/>
                <a:sym typeface="Times New Roman"/>
              </a:rPr>
              <a:t>Step 1: Lead Registration</a:t>
            </a:r>
            <a:endParaRPr b="1" sz="32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88345"/>
              <a:buNone/>
            </a:pPr>
            <a:r>
              <a:rPr lang="en-US" sz="2629">
                <a:latin typeface="Times New Roman"/>
                <a:ea typeface="Times New Roman"/>
                <a:cs typeface="Times New Roman"/>
                <a:sym typeface="Times New Roman"/>
              </a:rPr>
              <a:t>A new lead enters the system through various sources such as:</a:t>
            </a:r>
            <a:endParaRPr sz="26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7985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629">
                <a:latin typeface="Times New Roman"/>
                <a:ea typeface="Times New Roman"/>
                <a:cs typeface="Times New Roman"/>
                <a:sym typeface="Times New Roman"/>
              </a:rPr>
              <a:t>Company website contact form </a:t>
            </a:r>
            <a:endParaRPr sz="26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79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629">
                <a:latin typeface="Times New Roman"/>
                <a:ea typeface="Times New Roman"/>
                <a:cs typeface="Times New Roman"/>
                <a:sym typeface="Times New Roman"/>
              </a:rPr>
              <a:t>Social media advertisements </a:t>
            </a:r>
            <a:endParaRPr sz="26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79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629">
                <a:latin typeface="Times New Roman"/>
                <a:ea typeface="Times New Roman"/>
                <a:cs typeface="Times New Roman"/>
                <a:sym typeface="Times New Roman"/>
              </a:rPr>
              <a:t>Email campaigns </a:t>
            </a:r>
            <a:endParaRPr sz="26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79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629">
                <a:latin typeface="Times New Roman"/>
                <a:ea typeface="Times New Roman"/>
                <a:cs typeface="Times New Roman"/>
                <a:sym typeface="Times New Roman"/>
              </a:rPr>
              <a:t>LinkedIn </a:t>
            </a:r>
            <a:endParaRPr sz="26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79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629">
                <a:latin typeface="Times New Roman"/>
                <a:ea typeface="Times New Roman"/>
                <a:cs typeface="Times New Roman"/>
                <a:sym typeface="Times New Roman"/>
              </a:rPr>
              <a:t>Trade shows or exhibitions </a:t>
            </a:r>
            <a:endParaRPr sz="26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79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629">
                <a:latin typeface="Times New Roman"/>
                <a:ea typeface="Times New Roman"/>
                <a:cs typeface="Times New Roman"/>
                <a:sym typeface="Times New Roman"/>
              </a:rPr>
              <a:t>Sales representative manual entry </a:t>
            </a:r>
            <a:endParaRPr sz="262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83576"/>
              <a:buNone/>
            </a:pPr>
            <a:r>
              <a:rPr b="1" lang="en-US" sz="2779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1" sz="2779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88345"/>
              <a:buNone/>
            </a:pPr>
            <a:r>
              <a:rPr b="1" lang="en-US" sz="2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					Value</a:t>
            </a:r>
            <a:endParaRPr b="1" sz="262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8345"/>
              <a:buNone/>
            </a:pPr>
            <a:r>
              <a:rPr lang="en-US" sz="2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 ID					L001</a:t>
            </a:r>
            <a:endParaRPr sz="262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8345"/>
              <a:buNone/>
            </a:pPr>
            <a:r>
              <a:rPr lang="en-US" sz="2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 Name				ABC Traders</a:t>
            </a:r>
            <a:endParaRPr sz="262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8345"/>
              <a:buNone/>
            </a:pPr>
            <a:r>
              <a:rPr lang="en-US" sz="2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Contact Person				Rahul Kumar</a:t>
            </a:r>
            <a:endParaRPr sz="262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8345"/>
              <a:buNone/>
            </a:pPr>
            <a:r>
              <a:rPr lang="en-US" sz="2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					rahul@abctraders.com</a:t>
            </a:r>
            <a:endParaRPr sz="262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8345"/>
              <a:buNone/>
            </a:pPr>
            <a:r>
              <a:rPr lang="en-US" sz="2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Phone					+91-9876543210</a:t>
            </a:r>
            <a:endParaRPr sz="262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8345"/>
              <a:buNone/>
            </a:pPr>
            <a:r>
              <a:rPr lang="en-US" sz="2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					Retail</a:t>
            </a:r>
            <a:endParaRPr sz="262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8345"/>
              <a:buNone/>
            </a:pPr>
            <a:r>
              <a:rPr lang="en-US" sz="2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					Website</a:t>
            </a:r>
            <a:endParaRPr sz="262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SzPct val="83697"/>
              <a:buNone/>
            </a:pPr>
            <a:r>
              <a:rPr b="1" lang="en-US" sz="2775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lang="en-US" sz="2775">
                <a:latin typeface="Times New Roman"/>
                <a:ea typeface="Times New Roman"/>
                <a:cs typeface="Times New Roman"/>
                <a:sym typeface="Times New Roman"/>
              </a:rPr>
              <a:t> A new lead record is created in the prospect database.</a:t>
            </a:r>
            <a:endParaRPr sz="277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2efc1eada_0_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Lead Management &amp; Prospect Database  - Module 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g3f2efc1eada_0_6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Create and manage prospect and customer records.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Store company profiles, contact details, and engagement history.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Track lead lifecycle and sales stages.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2efc1eada_0_73"/>
          <p:cNvSpPr txBox="1"/>
          <p:nvPr>
            <p:ph idx="1" type="body"/>
          </p:nvPr>
        </p:nvSpPr>
        <p:spPr>
          <a:xfrm>
            <a:off x="457200" y="542200"/>
            <a:ext cx="8229600" cy="5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Step 2: Company Profile Creation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AI platform stores detailed company information.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Information Stored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Company name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Industry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Business size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Annual revenue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Location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Number of employees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Website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Products/Services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				ABC Traders</a:t>
            </a:r>
            <a:endParaRPr b="1"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				Retail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Employees				60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Revenue				15 Crore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City				Chennai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Website				www.abctraders.com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Complete company profile available for future analysis.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2efc1eada_0_88"/>
          <p:cNvSpPr txBox="1"/>
          <p:nvPr>
            <p:ph idx="1" type="body"/>
          </p:nvPr>
        </p:nvSpPr>
        <p:spPr>
          <a:xfrm>
            <a:off x="457200" y="600800"/>
            <a:ext cx="8229600" cy="55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Step 3: Contact Management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platform records all important contacts within the company.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1950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1" sz="19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				Position			Email			Phone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Rahul Kumar			Finance Manager	</a:t>
            </a: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rahul@abctraders.com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+91-9876543210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Priya Sharma			IT Manager		</a:t>
            </a: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priya@abctraders.com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+91-9876543200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Multiple contacts can be linked to one company.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2efc1eada_0_94"/>
          <p:cNvSpPr txBox="1"/>
          <p:nvPr>
            <p:ph idx="1" type="body"/>
          </p:nvPr>
        </p:nvSpPr>
        <p:spPr>
          <a:xfrm>
            <a:off x="457200" y="718050"/>
            <a:ext cx="8229600" cy="54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-US" sz="2030">
                <a:latin typeface="Times New Roman"/>
                <a:ea typeface="Times New Roman"/>
                <a:cs typeface="Times New Roman"/>
                <a:sym typeface="Times New Roman"/>
              </a:rPr>
              <a:t>Step 4: Engagement History</a:t>
            </a:r>
            <a:endParaRPr b="1" sz="203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Every customer interaction is automatically stored.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-US" sz="1648">
                <a:latin typeface="Times New Roman"/>
                <a:ea typeface="Times New Roman"/>
                <a:cs typeface="Times New Roman"/>
                <a:sym typeface="Times New Roman"/>
              </a:rPr>
              <a:t>Activities Recorded</a:t>
            </a:r>
            <a:endParaRPr b="1" sz="164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120" lvl="0" marL="45720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520"/>
              <a:buFont typeface="Times New Roman"/>
              <a:buChar char="●"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Phone calls 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1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20"/>
              <a:buFont typeface="Times New Roman"/>
              <a:buChar char="●"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Emails sent 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1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20"/>
              <a:buFont typeface="Times New Roman"/>
              <a:buChar char="●"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Emails opened 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1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20"/>
              <a:buFont typeface="Times New Roman"/>
              <a:buChar char="●"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Website visits 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1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20"/>
              <a:buFont typeface="Times New Roman"/>
              <a:buChar char="●"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Product demo requests 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1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20"/>
              <a:buFont typeface="Times New Roman"/>
              <a:buChar char="●"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Meetings 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51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20"/>
              <a:buFont typeface="Times New Roman"/>
              <a:buChar char="●"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Chatbot conversations 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935"/>
              <a:buNone/>
            </a:pPr>
            <a:r>
              <a:rPr b="1" lang="en-US" sz="1648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1" sz="164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935"/>
              <a:buNone/>
            </a:pPr>
            <a:r>
              <a:rPr b="1" lang="en-US" sz="15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	Activity		Status</a:t>
            </a:r>
            <a:endParaRPr b="1" sz="15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5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June	Website Visit	Completed</a:t>
            </a:r>
            <a:endParaRPr sz="15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5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 June	Email Sent		Delivered</a:t>
            </a:r>
            <a:endParaRPr sz="15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5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June	Email Opened	Yes</a:t>
            </a:r>
            <a:endParaRPr sz="15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5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 June	Product Demo	Completed</a:t>
            </a:r>
            <a:endParaRPr sz="15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5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 June	Follow-up Call	Pending</a:t>
            </a:r>
            <a:endParaRPr sz="15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9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Complete interaction history is maintained.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5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272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2efc1eada_0_100"/>
          <p:cNvSpPr txBox="1"/>
          <p:nvPr>
            <p:ph idx="1" type="body"/>
          </p:nvPr>
        </p:nvSpPr>
        <p:spPr>
          <a:xfrm>
            <a:off x="457200" y="337050"/>
            <a:ext cx="8229600" cy="57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1704"/>
              <a:buFont typeface="Arial"/>
              <a:buNone/>
            </a:pPr>
            <a: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  <a:t>Step 5: AI Lead Analysis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69952"/>
              <a:buFont typeface="Arial"/>
              <a:buNone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The AI engine analyzes customer behavior using collected data.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64280"/>
              <a:buFont typeface="Arial"/>
              <a:buNone/>
            </a:pPr>
            <a:r>
              <a:rPr b="1" lang="en-US" sz="1850">
                <a:latin typeface="Times New Roman"/>
                <a:ea typeface="Times New Roman"/>
                <a:cs typeface="Times New Roman"/>
                <a:sym typeface="Times New Roman"/>
              </a:rPr>
              <a:t>AI Checks</a:t>
            </a:r>
            <a:endParaRPr b="1"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8108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Number of website visits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Email open rate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Product pages viewed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Demo requests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Previous purchases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Industry match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Company size </a:t>
            </a:r>
            <a:endParaRPr sz="240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94555"/>
              <a:buNone/>
            </a:pPr>
            <a:r>
              <a:rPr b="1" lang="en-US" sz="2058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1" sz="205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1989"/>
              <a:buNone/>
            </a:pPr>
            <a:r>
              <a:rPr b="1" lang="en-US" sz="1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			Result</a:t>
            </a:r>
            <a:endParaRPr b="1" sz="1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1989"/>
              <a:buNone/>
            </a:pPr>
            <a:r>
              <a:rPr lang="en-US" sz="1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Website Visits			8</a:t>
            </a:r>
            <a:endParaRPr sz="1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1989"/>
              <a:buNone/>
            </a:pPr>
            <a:r>
              <a:rPr lang="en-US" sz="1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 Opens			6</a:t>
            </a:r>
            <a:endParaRPr sz="1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1989"/>
              <a:buNone/>
            </a:pPr>
            <a:r>
              <a:rPr lang="en-US" sz="1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 Request			Yes</a:t>
            </a:r>
            <a:endParaRPr sz="1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1989"/>
              <a:buNone/>
            </a:pPr>
            <a:r>
              <a:rPr lang="en-US" sz="1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Buying Intent			High</a:t>
            </a:r>
            <a:endParaRPr sz="190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SzPct val="84606"/>
              <a:buNone/>
            </a:pPr>
            <a: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 AI identifies highly interested prospects.</a:t>
            </a:r>
            <a:endParaRPr sz="4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2efc1eada_0_106"/>
          <p:cNvSpPr txBox="1"/>
          <p:nvPr>
            <p:ph idx="1" type="body"/>
          </p:nvPr>
        </p:nvSpPr>
        <p:spPr>
          <a:xfrm>
            <a:off x="457200" y="234450"/>
            <a:ext cx="8229600" cy="58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b="1" lang="en-US" sz="2500">
                <a:latin typeface="Times New Roman"/>
                <a:ea typeface="Times New Roman"/>
                <a:cs typeface="Times New Roman"/>
                <a:sym typeface="Times New Roman"/>
              </a:rPr>
              <a:t>Step 6: Lead Scoring</a:t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7895"/>
              <a:buFont typeface="Arial"/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The AI assigns a score based on the likelihood of conversion.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3659"/>
              <a:buFont typeface="Arial"/>
              <a:buNone/>
            </a:pPr>
            <a:r>
              <a:rPr b="1" lang="en-US" sz="2050">
                <a:latin typeface="Times New Roman"/>
                <a:ea typeface="Times New Roman"/>
                <a:cs typeface="Times New Roman"/>
                <a:sym typeface="Times New Roman"/>
              </a:rPr>
              <a:t>Example Formula</a:t>
            </a:r>
            <a:endParaRPr b="1"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7895"/>
              <a:buFont typeface="Arial"/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Lead Score =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0201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Company Fit = 30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0201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Customer Engagement = 30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0201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Budget = 20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0201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Decision Maker Activity = 10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0201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Buying Intent = 10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7895"/>
              <a:buFont typeface="Arial"/>
              <a:buNone/>
            </a:pP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Total Score = 100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14468"/>
              <a:buNone/>
            </a:pPr>
            <a:r>
              <a:rPr b="1" lang="en-US" sz="1850">
                <a:latin typeface="Times New Roman"/>
                <a:ea typeface="Times New Roman"/>
                <a:cs typeface="Times New Roman"/>
                <a:sym typeface="Times New Roman"/>
              </a:rPr>
              <a:t>Classification</a:t>
            </a:r>
            <a:endParaRPr b="1"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82592"/>
              <a:buNone/>
            </a:pPr>
            <a:r>
              <a:rPr b="1" lang="en-US" sz="25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Score			Category</a:t>
            </a:r>
            <a:endParaRPr b="1" sz="256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592"/>
              <a:buNone/>
            </a:pPr>
            <a:r>
              <a:rPr lang="en-US" sz="25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81–100			Hot Lead</a:t>
            </a:r>
            <a:endParaRPr sz="256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592"/>
              <a:buNone/>
            </a:pPr>
            <a:r>
              <a:rPr lang="en-US" sz="25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61–80			Warm Lead</a:t>
            </a:r>
            <a:endParaRPr sz="256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592"/>
              <a:buNone/>
            </a:pPr>
            <a:r>
              <a:rPr lang="en-US" sz="25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41–60			Cold Lead</a:t>
            </a:r>
            <a:endParaRPr sz="256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592"/>
              <a:buNone/>
            </a:pPr>
            <a:r>
              <a:rPr lang="en-US" sz="25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0–40			Low Priority</a:t>
            </a:r>
            <a:endParaRPr sz="256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ct val="53907"/>
              <a:buFont typeface="Arial"/>
              <a:buNone/>
            </a:pPr>
            <a:r>
              <a:rPr b="1" lang="en-US" sz="2041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lang="en-US" sz="2041">
                <a:latin typeface="Times New Roman"/>
                <a:ea typeface="Times New Roman"/>
                <a:cs typeface="Times New Roman"/>
                <a:sym typeface="Times New Roman"/>
              </a:rPr>
              <a:t> Sales team focuses first on Hot Leads.</a:t>
            </a:r>
            <a:endParaRPr b="1" sz="269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2efc1eada_0_112"/>
          <p:cNvSpPr txBox="1"/>
          <p:nvPr>
            <p:ph idx="1" type="body"/>
          </p:nvPr>
        </p:nvSpPr>
        <p:spPr>
          <a:xfrm>
            <a:off x="457200" y="615450"/>
            <a:ext cx="8229600" cy="55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Step 7: Sales Stage Tracking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Each lead moves through predefined sales stages.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50">
                <a:latin typeface="Times New Roman"/>
                <a:ea typeface="Times New Roman"/>
                <a:cs typeface="Times New Roman"/>
                <a:sym typeface="Times New Roman"/>
              </a:rPr>
              <a:t>Sales Lifecycle</a:t>
            </a:r>
            <a:endParaRPr b="1" sz="19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78" name="Google Shape;178;g3f2efc1eada_0_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2169600"/>
            <a:ext cx="4572001" cy="3956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2efc1eada_0_11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2150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b="1" sz="21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 ID		Current Stage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L001		Product Demo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89" name="Google Shape;189;p4"/>
          <p:cNvPicPr preferRelativeResize="0"/>
          <p:nvPr/>
        </p:nvPicPr>
        <p:blipFill rotWithShape="1">
          <a:blip r:embed="rId3">
            <a:alphaModFix/>
          </a:blip>
          <a:srcRect b="30181" l="12500" r="12500" t="21943"/>
          <a:stretch/>
        </p:blipFill>
        <p:spPr>
          <a:xfrm>
            <a:off x="221950" y="1"/>
            <a:ext cx="8708976" cy="6542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2026-07-01T06:21:38Z</dcterms:created>
  <dc:creator>EXAM</dc:creator>
</cp:coreProperties>
</file>