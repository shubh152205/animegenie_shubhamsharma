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notesSlides/notesSlide38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6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ustom.xml" ContentType="application/vnd.openxmlformats-officedocument.custom-properties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iqBU9dibcgofUDLDAZky0DiWHX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-84" y="-2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" name="Google Shape;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8" name="Google Shape;9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9" name="Google Shape;10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9" name="Google Shape;1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5" name="Google Shape;14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5" name="Google Shape;175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44a0c280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44a0c280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f44a0c280f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f44a0c280f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f44a0c280f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f44a0c280f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44a0c280f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f44a0c280f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f44a0c280f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f44a0c280f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f44a0c280f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f44a0c280f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f44a0c280f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f44a0c280f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f44a0c280f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f44a0c280f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f44a0c280f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f44a0c280f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3f44a0c280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3f44a0c280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f44a0c280f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f44a0c280f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f44a0c280f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f44a0c280f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f44a0c280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f44a0c280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44a0c280f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f44a0c280f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44a0c280f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44a0c280f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5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8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9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9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9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rahul@abctraders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priya@abctraders.com" TargetMode="Externa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SalesGenie AI – AI Sales Assistant &amp; Lead Intelligence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The platform gathers information from websites, CRM systems, emails, social media, and customer interactions to generate actionable insights.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just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It can automatically score leads, recommend the best prospects, personalize email responses, schedule follow-ups, predict customer buying behavior, and provide real-time sales recommendations.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b="1"/>
              <a:t>Key Features</a:t>
            </a:r>
            <a:endParaRPr/>
          </a:p>
        </p:txBody>
      </p:sp>
      <p:sp>
        <p:nvSpPr>
          <p:cNvPr id="95" name="Google Shape;95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Lead Identification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Lead Scoring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Customer Profiling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Email &amp; Chat Automation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Sales Forecasting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Meeting Scheduling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CRM Integration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b="1"/>
              <a:t>Real-Time Analytics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Real-Time Example</a:t>
            </a:r>
            <a:endParaRPr/>
          </a:p>
        </p:txBody>
      </p:sp>
      <p:sp>
        <p:nvSpPr>
          <p:cNvPr id="101" name="Google Shape;101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 b="1">
                <a:latin typeface="Times New Roman"/>
                <a:ea typeface="Times New Roman"/>
                <a:cs typeface="Times New Roman"/>
                <a:sym typeface="Times New Roman"/>
              </a:rPr>
              <a:t>Scenario</a:t>
            </a:r>
            <a:endParaRPr sz="20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 software company sells cloud-based accounting software to small businesses.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50" b="1">
                <a:latin typeface="Times New Roman"/>
                <a:ea typeface="Times New Roman"/>
                <a:cs typeface="Times New Roman"/>
                <a:sym typeface="Times New Roman"/>
              </a:rPr>
              <a:t>Step 1: Lead Discovery</a:t>
            </a:r>
            <a:endParaRPr sz="20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The AI platform scans business directories, LinkedIn, company websites, and online forms to identify businesses that may need accounting software.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Example Lead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Company: ABC Traders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Industry: Retail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Employees: 60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Location: Chennai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9250" algn="just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19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Annual Revenue: ₹15 Crore </a:t>
            </a:r>
            <a:endParaRPr sz="39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 txBox="1">
            <a:spLocks noGrp="1"/>
          </p:cNvSpPr>
          <p:nvPr>
            <p:ph type="body" idx="1"/>
          </p:nvPr>
        </p:nvSpPr>
        <p:spPr>
          <a:xfrm>
            <a:off x="457200" y="703375"/>
            <a:ext cx="8229600" cy="542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50" b="1">
                <a:latin typeface="Times New Roman"/>
                <a:ea typeface="Times New Roman"/>
                <a:cs typeface="Times New Roman"/>
                <a:sym typeface="Times New Roman"/>
              </a:rPr>
              <a:t>Step 2: Lead Intelligence</a:t>
            </a:r>
            <a:endParaRPr sz="28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latin typeface="Times New Roman"/>
                <a:ea typeface="Times New Roman"/>
                <a:cs typeface="Times New Roman"/>
                <a:sym typeface="Times New Roman"/>
              </a:rPr>
              <a:t>The AI analyzes available information and generates insights: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7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			Result</a:t>
            </a:r>
            <a:endParaRPr sz="27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Size		Medium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Used		Excel-based accounting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Hiring Activity		Hiring accountants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Visits		6 visits in last week</a:t>
            </a:r>
            <a:endParaRPr sz="27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7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Opens			5 out of 6 emails opened</a:t>
            </a:r>
            <a:endParaRPr sz="47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"/>
          <p:cNvSpPr txBox="1">
            <a:spLocks noGrp="1"/>
          </p:cNvSpPr>
          <p:nvPr>
            <p:ph type="body" idx="1"/>
          </p:nvPr>
        </p:nvSpPr>
        <p:spPr>
          <a:xfrm>
            <a:off x="457200" y="498225"/>
            <a:ext cx="8229600" cy="56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7752"/>
              <a:buFont typeface="Arial"/>
              <a:buNone/>
            </a:pPr>
            <a:r>
              <a:rPr lang="en-US" sz="3150" b="1">
                <a:latin typeface="Times New Roman"/>
                <a:ea typeface="Times New Roman"/>
                <a:cs typeface="Times New Roman"/>
                <a:sym typeface="Times New Roman"/>
              </a:rPr>
              <a:t>Step 3: AI Lead Score</a:t>
            </a:r>
            <a:endParaRPr sz="31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9640"/>
              <a:buFont typeface="Arial"/>
              <a:buNone/>
            </a:pPr>
            <a:r>
              <a:rPr lang="en-US" sz="3000">
                <a:latin typeface="Times New Roman"/>
                <a:ea typeface="Times New Roman"/>
                <a:cs typeface="Times New Roman"/>
                <a:sym typeface="Times New Roman"/>
              </a:rPr>
              <a:t>The platform calculates the probability of conversion.</a:t>
            </a:r>
            <a:endParaRPr sz="3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64865"/>
              <a:buNone/>
            </a:pPr>
            <a:r>
              <a:rPr lang="en-US" sz="3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Factor						Score</a:t>
            </a:r>
            <a:endParaRPr sz="30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Fit					25/25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Engagement						30/30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Budget						20/20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Decision Maker Interaction			20/20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64865"/>
              <a:buNone/>
            </a:pPr>
            <a:r>
              <a:rPr lang="en-US" sz="3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Buying Intent					5/5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9896"/>
              <a:buNone/>
            </a:pPr>
            <a:endParaRPr sz="3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92664"/>
              <a:buNone/>
            </a:pPr>
            <a:r>
              <a:rPr lang="en-US" sz="2100" b="1">
                <a:latin typeface="Times New Roman"/>
                <a:ea typeface="Times New Roman"/>
                <a:cs typeface="Times New Roman"/>
                <a:sym typeface="Times New Roman"/>
              </a:rPr>
              <a:t>Final Lead Score = 100/100 (Hot Lead)</a:t>
            </a:r>
            <a:endParaRPr sz="3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"/>
          <p:cNvSpPr txBox="1">
            <a:spLocks noGrp="1"/>
          </p:cNvSpPr>
          <p:nvPr>
            <p:ph type="body" idx="1"/>
          </p:nvPr>
        </p:nvSpPr>
        <p:spPr>
          <a:xfrm>
            <a:off x="457200" y="615450"/>
            <a:ext cx="8229600" cy="55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50" b="1">
                <a:latin typeface="Times New Roman"/>
                <a:ea typeface="Times New Roman"/>
                <a:cs typeface="Times New Roman"/>
                <a:sym typeface="Times New Roman"/>
              </a:rPr>
              <a:t>Step 4: AI Recommendation</a:t>
            </a:r>
            <a:endParaRPr sz="32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The AI assistant suggests: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2545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Contact the Finance Manager today.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25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Offer a free 14-day product trial.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254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Highlight GST compliance and automated invoice generation. </a:t>
            </a:r>
            <a:endParaRPr sz="3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425450" algn="just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3100"/>
              <a:buFont typeface="Times New Roman"/>
              <a:buChar char="●"/>
            </a:pPr>
            <a:r>
              <a:rPr lang="en-US" sz="3100">
                <a:latin typeface="Times New Roman"/>
                <a:ea typeface="Times New Roman"/>
                <a:cs typeface="Times New Roman"/>
                <a:sym typeface="Times New Roman"/>
              </a:rPr>
              <a:t>Schedule a live demo within 24 hours.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"/>
          <p:cNvSpPr txBox="1">
            <a:spLocks noGrp="1"/>
          </p:cNvSpPr>
          <p:nvPr>
            <p:ph type="body" idx="1"/>
          </p:nvPr>
        </p:nvSpPr>
        <p:spPr>
          <a:xfrm>
            <a:off x="457200" y="674075"/>
            <a:ext cx="8229600" cy="54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6635"/>
              <a:buFont typeface="Arial"/>
              <a:buNone/>
            </a:pPr>
            <a:r>
              <a:rPr lang="en-US" sz="2550" b="1">
                <a:latin typeface="Times New Roman"/>
                <a:ea typeface="Times New Roman"/>
                <a:cs typeface="Times New Roman"/>
                <a:sym typeface="Times New Roman"/>
              </a:rPr>
              <a:t>Step 5: Automated Personalized Email</a:t>
            </a:r>
            <a:endParaRPr sz="25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Subject: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Simplify Your Accounting with AI-Powered Software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Dear Mr. Kumar,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I noticed that your company is expanding and may benefit from a modern accounting solution. Our AI-powered platform helps businesses automate GST filing, invoice generation, and financial reporting.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Would you be available for a 20-minute product demonstration this week?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Best Regards,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955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Sales Team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60811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9"/>
          <p:cNvSpPr txBox="1">
            <a:spLocks noGrp="1"/>
          </p:cNvSpPr>
          <p:nvPr>
            <p:ph type="body" idx="1"/>
          </p:nvPr>
        </p:nvSpPr>
        <p:spPr>
          <a:xfrm>
            <a:off x="457200" y="611375"/>
            <a:ext cx="8229600" cy="551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450" b="1">
                <a:latin typeface="Times New Roman"/>
                <a:ea typeface="Times New Roman"/>
                <a:cs typeface="Times New Roman"/>
                <a:sym typeface="Times New Roman"/>
              </a:rPr>
              <a:t>Step 6: Sales Outcome</a:t>
            </a:r>
            <a:endParaRPr sz="24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24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3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Before AI						After AI</a:t>
            </a:r>
            <a:endParaRPr sz="23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lead search		AI automatically identifies leads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 emails			Personalized emails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Equal attention to all leads	Priority given to high-value leads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conversion rate		Higher conversion rate</a:t>
            </a:r>
            <a:endParaRPr sz="23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3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Time-consuming follow-ups	</a:t>
            </a:r>
            <a:r>
              <a:rPr lang="en-US" sz="19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Automated reminders and follow-ups</a:t>
            </a:r>
            <a:endParaRPr sz="1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0"/>
          <p:cNvSpPr txBox="1">
            <a:spLocks noGrp="1"/>
          </p:cNvSpPr>
          <p:nvPr>
            <p:ph type="body" idx="1"/>
          </p:nvPr>
        </p:nvSpPr>
        <p:spPr>
          <a:xfrm>
            <a:off x="457200" y="630125"/>
            <a:ext cx="8229600" cy="54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800" b="1">
                <a:latin typeface="Times New Roman"/>
                <a:ea typeface="Times New Roman"/>
                <a:cs typeface="Times New Roman"/>
                <a:sym typeface="Times New Roman"/>
              </a:rPr>
              <a:t>Benefits</a:t>
            </a:r>
            <a:endParaRPr sz="3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Increases sales productivity.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Improves lead conversion rates.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Reduces manual work for sales teams.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Provides data-driven decision-making.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Enhances customer engagement through personalized communication.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Predicts customer buying intent more accurately.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937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Char char="●"/>
            </a:pPr>
            <a:r>
              <a:rPr lang="en-US" sz="2600">
                <a:latin typeface="Times New Roman"/>
                <a:ea typeface="Times New Roman"/>
                <a:cs typeface="Times New Roman"/>
                <a:sym typeface="Times New Roman"/>
              </a:rPr>
              <a:t>Saves time by automating repetitive sales tasks. </a:t>
            </a:r>
            <a:endParaRPr sz="2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/>
          <p:cNvSpPr txBox="1">
            <a:spLocks noGrp="1"/>
          </p:cNvSpPr>
          <p:nvPr>
            <p:ph type="body" idx="1"/>
          </p:nvPr>
        </p:nvSpPr>
        <p:spPr>
          <a:xfrm>
            <a:off x="457200" y="600800"/>
            <a:ext cx="8229600" cy="55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000" b="1">
                <a:latin typeface="Times New Roman"/>
                <a:ea typeface="Times New Roman"/>
                <a:cs typeface="Times New Roman"/>
                <a:sym typeface="Times New Roman"/>
              </a:rPr>
              <a:t>Real-World Examples</a:t>
            </a:r>
            <a:endParaRPr sz="30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Many organizations use AI-powered sales and lead intelligence platforms, including: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Salesforce Einstein AI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HubSpot AI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Zoho Zia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81000" algn="just" rtl="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SzPts val="2400"/>
              <a:buFont typeface="Times New Roman"/>
              <a:buChar char="●"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Microsoft Dynamics 365 Sales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Lead Management &amp; Prospect Database  - Module 1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Create and manage prospect and customer records.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Store company profiles, contact details, and engagement history.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Char char="•"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Track lead lifecycle and sales stages.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3"/>
          <p:cNvSpPr txBox="1">
            <a:spLocks noGrp="1"/>
          </p:cNvSpPr>
          <p:nvPr>
            <p:ph type="body" idx="1"/>
          </p:nvPr>
        </p:nvSpPr>
        <p:spPr>
          <a:xfrm>
            <a:off x="457200" y="205150"/>
            <a:ext cx="8229600" cy="592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34000"/>
              <a:buFont typeface="Arial"/>
              <a:buNone/>
            </a:pPr>
            <a:r>
              <a:rPr lang="en-US" sz="3230" b="1">
                <a:latin typeface="Times New Roman"/>
                <a:ea typeface="Times New Roman"/>
                <a:cs typeface="Times New Roman"/>
                <a:sym typeface="Times New Roman"/>
              </a:rPr>
              <a:t>Step 1: Lead Registration</a:t>
            </a:r>
            <a:endParaRPr sz="323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8311"/>
              <a:buNone/>
            </a:pPr>
            <a:r>
              <a:rPr lang="en-US" sz="2630">
                <a:latin typeface="Times New Roman"/>
                <a:ea typeface="Times New Roman"/>
                <a:cs typeface="Times New Roman"/>
                <a:sym typeface="Times New Roman"/>
              </a:rPr>
              <a:t>A new lead enters the system through various sources such as:</a:t>
            </a:r>
            <a:endParaRPr sz="26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156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30">
                <a:latin typeface="Times New Roman"/>
                <a:ea typeface="Times New Roman"/>
                <a:cs typeface="Times New Roman"/>
                <a:sym typeface="Times New Roman"/>
              </a:rPr>
              <a:t>Company website contact form </a:t>
            </a:r>
            <a:endParaRPr sz="26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1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30">
                <a:latin typeface="Times New Roman"/>
                <a:ea typeface="Times New Roman"/>
                <a:cs typeface="Times New Roman"/>
                <a:sym typeface="Times New Roman"/>
              </a:rPr>
              <a:t>Social media advertisements </a:t>
            </a:r>
            <a:endParaRPr sz="26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1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30">
                <a:latin typeface="Times New Roman"/>
                <a:ea typeface="Times New Roman"/>
                <a:cs typeface="Times New Roman"/>
                <a:sym typeface="Times New Roman"/>
              </a:rPr>
              <a:t>Email campaigns </a:t>
            </a:r>
            <a:endParaRPr sz="26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1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30">
                <a:latin typeface="Times New Roman"/>
                <a:ea typeface="Times New Roman"/>
                <a:cs typeface="Times New Roman"/>
                <a:sym typeface="Times New Roman"/>
              </a:rPr>
              <a:t>LinkedIn </a:t>
            </a:r>
            <a:endParaRPr sz="26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1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30">
                <a:latin typeface="Times New Roman"/>
                <a:ea typeface="Times New Roman"/>
                <a:cs typeface="Times New Roman"/>
                <a:sym typeface="Times New Roman"/>
              </a:rPr>
              <a:t>Trade shows or exhibitions </a:t>
            </a:r>
            <a:endParaRPr sz="26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815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2630">
                <a:latin typeface="Times New Roman"/>
                <a:ea typeface="Times New Roman"/>
                <a:cs typeface="Times New Roman"/>
                <a:sym typeface="Times New Roman"/>
              </a:rPr>
              <a:t>Sales representative manual entry </a:t>
            </a:r>
            <a:endParaRPr sz="263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3546"/>
              <a:buNone/>
            </a:pPr>
            <a:r>
              <a:rPr lang="en-US" sz="278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78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8311"/>
              <a:buNone/>
            </a:pPr>
            <a:r>
              <a:rPr lang="en-US" sz="263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					Value</a:t>
            </a:r>
            <a:endParaRPr sz="263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11"/>
              <a:buNone/>
            </a:pPr>
            <a:r>
              <a:rPr lang="en-US" sz="2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ID					L001</a:t>
            </a:r>
            <a:endParaRPr sz="2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11"/>
              <a:buNone/>
            </a:pPr>
            <a:r>
              <a:rPr lang="en-US" sz="2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 Name				ABC Traders</a:t>
            </a:r>
            <a:endParaRPr sz="2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11"/>
              <a:buNone/>
            </a:pPr>
            <a:r>
              <a:rPr lang="en-US" sz="2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Contact Person				Rahul Kumar</a:t>
            </a:r>
            <a:endParaRPr sz="2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11"/>
              <a:buNone/>
            </a:pPr>
            <a:r>
              <a:rPr lang="en-US" sz="2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					rahul@abctraders.com</a:t>
            </a:r>
            <a:endParaRPr sz="2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11"/>
              <a:buNone/>
            </a:pPr>
            <a:r>
              <a:rPr lang="en-US" sz="2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Phone					+91-9876543210</a:t>
            </a:r>
            <a:endParaRPr sz="2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11"/>
              <a:buNone/>
            </a:pPr>
            <a:r>
              <a:rPr lang="en-US" sz="2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					Retail</a:t>
            </a:r>
            <a:endParaRPr sz="2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8311"/>
              <a:buNone/>
            </a:pPr>
            <a:r>
              <a:rPr lang="en-US" sz="26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					Website</a:t>
            </a:r>
            <a:endParaRPr sz="263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83697"/>
              <a:buNone/>
            </a:pPr>
            <a:r>
              <a:rPr lang="en-US" sz="2775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775">
                <a:latin typeface="Times New Roman"/>
                <a:ea typeface="Times New Roman"/>
                <a:cs typeface="Times New Roman"/>
                <a:sym typeface="Times New Roman"/>
              </a:rPr>
              <a:t> A new lead record is created in the prospect database.</a:t>
            </a:r>
            <a:endParaRPr sz="27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4"/>
          <p:cNvSpPr txBox="1">
            <a:spLocks noGrp="1"/>
          </p:cNvSpPr>
          <p:nvPr>
            <p:ph type="body" idx="1"/>
          </p:nvPr>
        </p:nvSpPr>
        <p:spPr>
          <a:xfrm>
            <a:off x="457200" y="542200"/>
            <a:ext cx="8229600" cy="558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b="1">
                <a:latin typeface="Times New Roman"/>
                <a:ea typeface="Times New Roman"/>
                <a:cs typeface="Times New Roman"/>
                <a:sym typeface="Times New Roman"/>
              </a:rPr>
              <a:t>Step 2: Company Profile Creation</a:t>
            </a:r>
            <a:endParaRPr sz="18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The AI platform stores detailed company information.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Information Stored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Company name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Industry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Business size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Annual revenue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Location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Number of employees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Website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Times New Roman"/>
              <a:buChar char="●"/>
            </a:pP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Products/Services 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16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16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Company				ABC Traders</a:t>
            </a:r>
            <a:endParaRPr sz="16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Industry				Retail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Employees				60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Revenue				15 Crore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City				Chennai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6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				www.abctraders.com</a:t>
            </a:r>
            <a:endParaRPr sz="16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Complete company profile available for future analysis.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 sz="13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"/>
          <p:cNvSpPr txBox="1">
            <a:spLocks noGrp="1"/>
          </p:cNvSpPr>
          <p:nvPr>
            <p:ph type="body" idx="1"/>
          </p:nvPr>
        </p:nvSpPr>
        <p:spPr>
          <a:xfrm>
            <a:off x="457200" y="600800"/>
            <a:ext cx="8229600" cy="55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Step 3: Contact Management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The platform records all important contacts within the company.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195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19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18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				Position			Email			Phone</a:t>
            </a:r>
            <a:endParaRPr sz="18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Rahul Kumar			Finance Manager	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rahul@abctraders.com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+91-9876543210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 Sharma			IT Manager		</a:t>
            </a: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priya@abctraders.com</a:t>
            </a:r>
            <a:r>
              <a:rPr lang="en-US" sz="18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+91-9876543200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2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 Multiple contacts can be linked to one company.</a:t>
            </a:r>
            <a:endParaRPr sz="1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body" idx="1"/>
          </p:nvPr>
        </p:nvSpPr>
        <p:spPr>
          <a:xfrm>
            <a:off x="457200" y="718050"/>
            <a:ext cx="8229600" cy="54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2030" b="1">
                <a:latin typeface="Times New Roman"/>
                <a:ea typeface="Times New Roman"/>
                <a:cs typeface="Times New Roman"/>
                <a:sym typeface="Times New Roman"/>
              </a:rPr>
              <a:t>Step 4: Engagement History</a:t>
            </a:r>
            <a:endParaRPr sz="203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Every customer interaction is automatically stored.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US" sz="1650" b="1">
                <a:latin typeface="Times New Roman"/>
                <a:ea typeface="Times New Roman"/>
                <a:cs typeface="Times New Roman"/>
                <a:sym typeface="Times New Roman"/>
              </a:rPr>
              <a:t>Activities Recorded</a:t>
            </a:r>
            <a:endParaRPr sz="16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12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Phone calls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1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Emails sent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1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Emails opened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1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Website visits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1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Product demo requests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1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Meetings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2512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520"/>
              <a:buFont typeface="Times New Roman"/>
              <a:buChar char="●"/>
            </a:pPr>
            <a:r>
              <a:rPr lang="en-US" sz="1520">
                <a:latin typeface="Times New Roman"/>
                <a:ea typeface="Times New Roman"/>
                <a:cs typeface="Times New Roman"/>
                <a:sym typeface="Times New Roman"/>
              </a:rPr>
              <a:t>Chatbot conversations </a:t>
            </a:r>
            <a:endParaRPr sz="15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lang="en-US" sz="165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16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lang="en-US" sz="152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	Activity		Status</a:t>
            </a:r>
            <a:endParaRPr sz="152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 June	Website Visit	Completed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June	Email Sent		Delivered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 June	Email Opened	Yes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 June	Product Demo	Completed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US" sz="15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June	Follow-up Call	Pending</a:t>
            </a: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endParaRPr sz="19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1600">
                <a:latin typeface="Times New Roman"/>
                <a:ea typeface="Times New Roman"/>
                <a:cs typeface="Times New Roman"/>
                <a:sym typeface="Times New Roman"/>
              </a:rPr>
              <a:t> Complete interaction history is maintained.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endParaRPr sz="152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SzPts val="935"/>
              <a:buNone/>
            </a:pPr>
            <a:endParaRPr sz="272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>
            <a:spLocks noGrp="1"/>
          </p:cNvSpPr>
          <p:nvPr>
            <p:ph type="body" idx="1"/>
          </p:nvPr>
        </p:nvSpPr>
        <p:spPr>
          <a:xfrm>
            <a:off x="457200" y="337050"/>
            <a:ext cx="8229600" cy="578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1704"/>
              <a:buFont typeface="Arial"/>
              <a:buNone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Step 5: AI Lead Analysis</a:t>
            </a:r>
            <a:endParaRPr sz="23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9952"/>
              <a:buFont typeface="Arial"/>
              <a:buNone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The AI engine analyzes customer behavior using collected data.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64280"/>
              <a:buFont typeface="Arial"/>
              <a:buNone/>
            </a:pPr>
            <a:r>
              <a:rPr lang="en-US" sz="1850" b="1">
                <a:latin typeface="Times New Roman"/>
                <a:ea typeface="Times New Roman"/>
                <a:cs typeface="Times New Roman"/>
                <a:sym typeface="Times New Roman"/>
              </a:rPr>
              <a:t>AI Checks</a:t>
            </a:r>
            <a:endParaRPr sz="18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Number of website visits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Email open rate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Product pages viewed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Demo requests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Previous purchases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Industry match </a:t>
            </a:r>
            <a:endParaRPr sz="1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8108"/>
              <a:buFont typeface="Times New Roman"/>
              <a:buChar char="●"/>
            </a:pPr>
            <a:r>
              <a:rPr lang="en-US" sz="1700">
                <a:latin typeface="Times New Roman"/>
                <a:ea typeface="Times New Roman"/>
                <a:cs typeface="Times New Roman"/>
                <a:sym typeface="Times New Roman"/>
              </a:rPr>
              <a:t>Company size </a:t>
            </a:r>
            <a:endParaRPr sz="241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94463"/>
              <a:buNone/>
            </a:pPr>
            <a:r>
              <a:rPr lang="en-US" sz="206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06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1882"/>
              <a:buNone/>
            </a:pPr>
            <a:r>
              <a:rPr lang="en-US" sz="191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Parameter			Result</a:t>
            </a:r>
            <a:endParaRPr sz="191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882"/>
              <a:buNone/>
            </a:pPr>
            <a:r>
              <a:rPr lang="en-US" sz="19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Visits			8</a:t>
            </a:r>
            <a:endParaRPr sz="191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882"/>
              <a:buNone/>
            </a:pPr>
            <a:r>
              <a:rPr lang="en-US" sz="19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 Opens			6</a:t>
            </a:r>
            <a:endParaRPr sz="191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882"/>
              <a:buNone/>
            </a:pPr>
            <a:r>
              <a:rPr lang="en-US" sz="19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 Request			Yes</a:t>
            </a:r>
            <a:endParaRPr sz="191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1882"/>
              <a:buNone/>
            </a:pPr>
            <a:r>
              <a:rPr lang="en-US" sz="191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Buying Intent			High</a:t>
            </a:r>
            <a:endParaRPr sz="191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SzPct val="84606"/>
              <a:buNone/>
            </a:pPr>
            <a:r>
              <a:rPr lang="en-US" sz="230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300">
                <a:latin typeface="Times New Roman"/>
                <a:ea typeface="Times New Roman"/>
                <a:cs typeface="Times New Roman"/>
                <a:sym typeface="Times New Roman"/>
              </a:rPr>
              <a:t> AI identifies highly interested prospects.</a:t>
            </a:r>
            <a:endParaRPr sz="43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>
            <a:spLocks noGrp="1"/>
          </p:cNvSpPr>
          <p:nvPr>
            <p:ph type="body" idx="1"/>
          </p:nvPr>
        </p:nvSpPr>
        <p:spPr>
          <a:xfrm>
            <a:off x="457200" y="234450"/>
            <a:ext cx="8229600" cy="589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lang="en-US" sz="2500" b="1">
                <a:latin typeface="Times New Roman"/>
                <a:ea typeface="Times New Roman"/>
                <a:cs typeface="Times New Roman"/>
                <a:sym typeface="Times New Roman"/>
              </a:rPr>
              <a:t>Step 6: Lead Scoring</a:t>
            </a:r>
            <a:endParaRPr sz="25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The AI assigns a score based on the likelihood of conversion.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4000"/>
              <a:buFont typeface="Arial"/>
              <a:buNone/>
            </a:pPr>
            <a:r>
              <a:rPr lang="en-US" sz="2050" b="1">
                <a:latin typeface="Times New Roman"/>
                <a:ea typeface="Times New Roman"/>
                <a:cs typeface="Times New Roman"/>
                <a:sym typeface="Times New Roman"/>
              </a:rPr>
              <a:t>Example Formula</a:t>
            </a:r>
            <a:endParaRPr sz="20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/>
              <a:buNone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Lead Score =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36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Company Fit = 30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Customer Engagement = 30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Budget = 20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Decision Maker Activity = 10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036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Char char="●"/>
            </a:pPr>
            <a:r>
              <a:rPr lang="en-US" sz="1900">
                <a:latin typeface="Times New Roman"/>
                <a:ea typeface="Times New Roman"/>
                <a:cs typeface="Times New Roman"/>
                <a:sym typeface="Times New Roman"/>
              </a:rPr>
              <a:t>Buying Intent = 10 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58000"/>
              <a:buFont typeface="Arial"/>
              <a:buNone/>
            </a:pPr>
            <a:r>
              <a:rPr lang="en-US" sz="1900" b="1">
                <a:latin typeface="Times New Roman"/>
                <a:ea typeface="Times New Roman"/>
                <a:cs typeface="Times New Roman"/>
                <a:sym typeface="Times New Roman"/>
              </a:rPr>
              <a:t>Total Score = 100</a:t>
            </a:r>
            <a:endParaRPr sz="1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114467"/>
              <a:buNone/>
            </a:pPr>
            <a:r>
              <a:rPr lang="en-US" sz="1850" b="1">
                <a:latin typeface="Times New Roman"/>
                <a:ea typeface="Times New Roman"/>
                <a:cs typeface="Times New Roman"/>
                <a:sym typeface="Times New Roman"/>
              </a:rPr>
              <a:t>Classification</a:t>
            </a:r>
            <a:endParaRPr sz="18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ct val="82559"/>
              <a:buNone/>
            </a:pPr>
            <a:r>
              <a:rPr lang="en-US" sz="2565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Score			Category</a:t>
            </a:r>
            <a:endParaRPr sz="2565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59"/>
              <a:buNone/>
            </a:pPr>
            <a:r>
              <a:rPr lang="en-US" sz="256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81–100			Hot Lead</a:t>
            </a:r>
            <a:endParaRPr sz="256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59"/>
              <a:buNone/>
            </a:pPr>
            <a:r>
              <a:rPr lang="en-US" sz="256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61–80			Warm Lead</a:t>
            </a:r>
            <a:endParaRPr sz="256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59"/>
              <a:buNone/>
            </a:pPr>
            <a:r>
              <a:rPr lang="en-US" sz="256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41–60			Cold Lead</a:t>
            </a:r>
            <a:endParaRPr sz="256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82559"/>
              <a:buNone/>
            </a:pPr>
            <a:r>
              <a:rPr lang="en-US" sz="256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0–40			Low Priority</a:t>
            </a:r>
            <a:endParaRPr sz="2565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1400"/>
              </a:spcAft>
              <a:buClr>
                <a:schemeClr val="dk1"/>
              </a:buClr>
              <a:buSzPct val="54000"/>
              <a:buFont typeface="Arial"/>
              <a:buNone/>
            </a:pPr>
            <a:r>
              <a:rPr lang="en-US" sz="2040" b="1">
                <a:latin typeface="Times New Roman"/>
                <a:ea typeface="Times New Roman"/>
                <a:cs typeface="Times New Roman"/>
                <a:sym typeface="Times New Roman"/>
              </a:rPr>
              <a:t>Output:</a:t>
            </a:r>
            <a:r>
              <a:rPr lang="en-US" sz="2040">
                <a:latin typeface="Times New Roman"/>
                <a:ea typeface="Times New Roman"/>
                <a:cs typeface="Times New Roman"/>
                <a:sym typeface="Times New Roman"/>
              </a:rPr>
              <a:t> Sales team focuses first on Hot Leads.</a:t>
            </a:r>
            <a:endParaRPr sz="2690"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"/>
          <p:cNvSpPr txBox="1">
            <a:spLocks noGrp="1"/>
          </p:cNvSpPr>
          <p:nvPr>
            <p:ph type="body" idx="1"/>
          </p:nvPr>
        </p:nvSpPr>
        <p:spPr>
          <a:xfrm>
            <a:off x="457200" y="615450"/>
            <a:ext cx="8229600" cy="551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Times New Roman"/>
                <a:ea typeface="Times New Roman"/>
                <a:cs typeface="Times New Roman"/>
                <a:sym typeface="Times New Roman"/>
              </a:rPr>
              <a:t>Step 7: Sales Stage Tracking</a:t>
            </a:r>
            <a:endParaRPr sz="24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latin typeface="Times New Roman"/>
                <a:ea typeface="Times New Roman"/>
                <a:cs typeface="Times New Roman"/>
                <a:sym typeface="Times New Roman"/>
              </a:rPr>
              <a:t>Each lead moves through predefined sales stages.</a:t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50" b="1">
                <a:latin typeface="Times New Roman"/>
                <a:ea typeface="Times New Roman"/>
                <a:cs typeface="Times New Roman"/>
                <a:sym typeface="Times New Roman"/>
              </a:rPr>
              <a:t>Sales Lifecycle</a:t>
            </a:r>
            <a:endParaRPr sz="19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pic>
        <p:nvPicPr>
          <p:cNvPr id="178" name="Google Shape;178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6000" y="2169600"/>
            <a:ext cx="4572001" cy="39565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150" b="1">
                <a:latin typeface="Times New Roman"/>
                <a:ea typeface="Times New Roman"/>
                <a:cs typeface="Times New Roman"/>
                <a:sym typeface="Times New Roman"/>
              </a:rPr>
              <a:t>Example</a:t>
            </a:r>
            <a:endParaRPr sz="21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lang="en-US" sz="2000" b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Lead ID		Current Stage</a:t>
            </a:r>
            <a:endParaRPr sz="2000" b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sz="20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L001		Product Demo</a:t>
            </a:r>
            <a:endParaRPr sz="20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5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l="12500" t="21943" r="12500" b="30181"/>
          <a:stretch/>
        </p:blipFill>
        <p:spPr>
          <a:xfrm>
            <a:off x="221942" y="550416"/>
            <a:ext cx="8708993" cy="59924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65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5455"/>
              <a:buNone/>
            </a:pPr>
            <a:r>
              <a:rPr lang="en-US" b="1"/>
              <a:t>Complete Workflow</a:t>
            </a:r>
            <a:endParaRPr b="1"/>
          </a:p>
        </p:txBody>
      </p:sp>
      <p:sp>
        <p:nvSpPr>
          <p:cNvPr id="195" name="Google Shape;195;p22"/>
          <p:cNvSpPr txBox="1">
            <a:spLocks noGrp="1"/>
          </p:cNvSpPr>
          <p:nvPr>
            <p:ph type="body" idx="1"/>
          </p:nvPr>
        </p:nvSpPr>
        <p:spPr>
          <a:xfrm>
            <a:off x="457200" y="925417"/>
            <a:ext cx="8229600" cy="5420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New Lead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│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▼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Lead Database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│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▼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Company Details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│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▼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AI Analysis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│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▼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Qualification Score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│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▼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Technology Matching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│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▼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Decision Maker Identification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│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▼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Outreach (Email/LinkedIn)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│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▼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Sales Follow-up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│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      ▼</a:t>
            </a:r>
            <a:endParaRPr/>
          </a:p>
          <a:p>
            <a:pPr marL="457200" lvl="0" indent="-342900" algn="ctr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ct val="162162"/>
              <a:buNone/>
            </a:pPr>
            <a:r>
              <a:rPr lang="en-US" sz="1200">
                <a:latin typeface="Times New Roman"/>
                <a:ea typeface="Times New Roman"/>
                <a:cs typeface="Times New Roman"/>
                <a:sym typeface="Times New Roman"/>
              </a:rPr>
              <a:t>Deal Won / Lost</a:t>
            </a:r>
            <a:endParaRPr sz="12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body" idx="1"/>
          </p:nvPr>
        </p:nvSpPr>
        <p:spPr>
          <a:xfrm>
            <a:off x="457200" y="483578"/>
            <a:ext cx="8229600" cy="564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300" b="1"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. Lead List Panel (Left Side)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Purpose:</a:t>
            </a:r>
            <a:br>
              <a:rPr lang="en-US" sz="2200" b="1">
                <a:latin typeface="Arial"/>
                <a:ea typeface="Arial"/>
                <a:cs typeface="Arial"/>
                <a:sym typeface="Arial"/>
              </a:rPr>
            </a:br>
            <a:r>
              <a:rPr lang="en-US" sz="2200">
                <a:latin typeface="Arial"/>
                <a:ea typeface="Arial"/>
                <a:cs typeface="Arial"/>
                <a:sym typeface="Arial"/>
              </a:rPr>
              <a:t> Displays all prospects/customers available in the database.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b="1">
                <a:latin typeface="Arial"/>
                <a:ea typeface="Arial"/>
                <a:cs typeface="Arial"/>
                <a:sym typeface="Arial"/>
              </a:rPr>
              <a:t>Features</a:t>
            </a:r>
            <a:endParaRPr sz="22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Search prospects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Company Name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Contact Person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Designation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Business Category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Last Activity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Select a lead to view complete information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44a0c280f_0_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 b="1">
                <a:latin typeface="Arial"/>
                <a:ea typeface="Arial"/>
                <a:cs typeface="Arial"/>
                <a:sym typeface="Arial"/>
              </a:rPr>
              <a:t>Example</a:t>
            </a:r>
            <a:endParaRPr sz="2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Company Name : TechCorp Solutions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Contact Person : Sarah Johnson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Designation : CTO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Category : Enterprise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>
                <a:latin typeface="Arial"/>
                <a:ea typeface="Arial"/>
                <a:cs typeface="Arial"/>
                <a:sym typeface="Arial"/>
              </a:rPr>
              <a:t>Last Contact : 2 hours ago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44a0c280f_0_6"/>
          <p:cNvSpPr txBox="1">
            <a:spLocks noGrp="1"/>
          </p:cNvSpPr>
          <p:nvPr>
            <p:ph type="body" idx="1"/>
          </p:nvPr>
        </p:nvSpPr>
        <p:spPr>
          <a:xfrm>
            <a:off x="457200" y="292400"/>
            <a:ext cx="8229600" cy="62139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b="1"/>
              <a:t>Python Code (Lead List) </a:t>
            </a:r>
            <a:endParaRPr b="1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class Lead: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def __init__(self, company, contact, designation, category):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self.company = company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self.contact = contact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self.designation = designation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    self.category = category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lead1 = Lead(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"TechCorp Solutions",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"Sarah Johnson",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"CTO",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    "Enterprise"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print("Company :", lead1.company)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print("Contact :", lead1.contact)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print("Designation :", lead1.designation)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print("Category :", lead1.category)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44a0c280f_0_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1">
                <a:latin typeface="Arial"/>
                <a:ea typeface="Arial"/>
                <a:cs typeface="Arial"/>
                <a:sym typeface="Arial"/>
              </a:rPr>
              <a:t>Output</a:t>
            </a: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Company : TechCorp Solutions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Contact : Sarah Johnson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Designation : CTO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Category : Enterprise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44a0c280f_0_20"/>
          <p:cNvSpPr txBox="1">
            <a:spLocks noGrp="1"/>
          </p:cNvSpPr>
          <p:nvPr>
            <p:ph type="body" idx="1"/>
          </p:nvPr>
        </p:nvSpPr>
        <p:spPr>
          <a:xfrm>
            <a:off x="457200" y="351700"/>
            <a:ext cx="8229600" cy="577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672" b="1">
                <a:latin typeface="Arial"/>
                <a:ea typeface="Arial"/>
                <a:cs typeface="Arial"/>
                <a:sym typeface="Arial"/>
              </a:rPr>
              <a:t>2. Company Details Panel (Center)</a:t>
            </a:r>
            <a:endParaRPr sz="3672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72">
                <a:latin typeface="Arial"/>
                <a:ea typeface="Arial"/>
                <a:cs typeface="Arial"/>
                <a:sym typeface="Arial"/>
              </a:rPr>
              <a:t>This section stores complete company information.</a:t>
            </a:r>
            <a:endParaRPr sz="2472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72" b="1">
                <a:latin typeface="Arial"/>
                <a:ea typeface="Arial"/>
                <a:cs typeface="Arial"/>
                <a:sym typeface="Arial"/>
              </a:rPr>
              <a:t>Information Stored</a:t>
            </a:r>
            <a:endParaRPr sz="2672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85599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472"/>
              <a:buChar char="●"/>
            </a:pPr>
            <a:r>
              <a:rPr lang="en-US" sz="2472">
                <a:latin typeface="Arial"/>
                <a:ea typeface="Arial"/>
                <a:cs typeface="Arial"/>
                <a:sym typeface="Arial"/>
              </a:rPr>
              <a:t>Company Name</a:t>
            </a:r>
            <a:endParaRPr sz="2472">
              <a:latin typeface="Arial"/>
              <a:ea typeface="Arial"/>
              <a:cs typeface="Arial"/>
              <a:sym typeface="Arial"/>
            </a:endParaRPr>
          </a:p>
          <a:p>
            <a:pPr marL="457200" lvl="0" indent="-385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2"/>
              <a:buChar char="●"/>
            </a:pPr>
            <a:r>
              <a:rPr lang="en-US" sz="2472">
                <a:latin typeface="Arial"/>
                <a:ea typeface="Arial"/>
                <a:cs typeface="Arial"/>
                <a:sym typeface="Arial"/>
              </a:rPr>
              <a:t>Industry</a:t>
            </a:r>
            <a:endParaRPr sz="2472">
              <a:latin typeface="Arial"/>
              <a:ea typeface="Arial"/>
              <a:cs typeface="Arial"/>
              <a:sym typeface="Arial"/>
            </a:endParaRPr>
          </a:p>
          <a:p>
            <a:pPr marL="457200" lvl="0" indent="-385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2"/>
              <a:buChar char="●"/>
            </a:pPr>
            <a:r>
              <a:rPr lang="en-US" sz="2472">
                <a:latin typeface="Arial"/>
                <a:ea typeface="Arial"/>
                <a:cs typeface="Arial"/>
                <a:sym typeface="Arial"/>
              </a:rPr>
              <a:t>Company Size</a:t>
            </a:r>
            <a:endParaRPr sz="2472">
              <a:latin typeface="Arial"/>
              <a:ea typeface="Arial"/>
              <a:cs typeface="Arial"/>
              <a:sym typeface="Arial"/>
            </a:endParaRPr>
          </a:p>
          <a:p>
            <a:pPr marL="457200" lvl="0" indent="-385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2"/>
              <a:buChar char="●"/>
            </a:pPr>
            <a:r>
              <a:rPr lang="en-US" sz="2472">
                <a:latin typeface="Arial"/>
                <a:ea typeface="Arial"/>
                <a:cs typeface="Arial"/>
                <a:sym typeface="Arial"/>
              </a:rPr>
              <a:t>Annual Revenue</a:t>
            </a:r>
            <a:endParaRPr sz="2472">
              <a:latin typeface="Arial"/>
              <a:ea typeface="Arial"/>
              <a:cs typeface="Arial"/>
              <a:sym typeface="Arial"/>
            </a:endParaRPr>
          </a:p>
          <a:p>
            <a:pPr marL="457200" lvl="0" indent="-385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2"/>
              <a:buChar char="●"/>
            </a:pPr>
            <a:r>
              <a:rPr lang="en-US" sz="2472">
                <a:latin typeface="Arial"/>
                <a:ea typeface="Arial"/>
                <a:cs typeface="Arial"/>
                <a:sym typeface="Arial"/>
              </a:rPr>
              <a:t>Location</a:t>
            </a:r>
            <a:endParaRPr sz="2472">
              <a:latin typeface="Arial"/>
              <a:ea typeface="Arial"/>
              <a:cs typeface="Arial"/>
              <a:sym typeface="Arial"/>
            </a:endParaRPr>
          </a:p>
          <a:p>
            <a:pPr marL="457200" lvl="0" indent="-385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2"/>
              <a:buChar char="●"/>
            </a:pPr>
            <a:r>
              <a:rPr lang="en-US" sz="2472">
                <a:latin typeface="Arial"/>
                <a:ea typeface="Arial"/>
                <a:cs typeface="Arial"/>
                <a:sym typeface="Arial"/>
              </a:rPr>
              <a:t>Funding Stage</a:t>
            </a:r>
            <a:endParaRPr sz="2472">
              <a:latin typeface="Arial"/>
              <a:ea typeface="Arial"/>
              <a:cs typeface="Arial"/>
              <a:sym typeface="Arial"/>
            </a:endParaRPr>
          </a:p>
          <a:p>
            <a:pPr marL="457200" lvl="0" indent="-38559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72"/>
              <a:buChar char="●"/>
            </a:pPr>
            <a:r>
              <a:rPr lang="en-US" sz="2472">
                <a:latin typeface="Arial"/>
                <a:ea typeface="Arial"/>
                <a:cs typeface="Arial"/>
                <a:sym typeface="Arial"/>
              </a:rPr>
              <a:t>Technology Stack</a:t>
            </a:r>
            <a:endParaRPr sz="2472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72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44a0c280f_0_26"/>
          <p:cNvSpPr txBox="1">
            <a:spLocks noGrp="1"/>
          </p:cNvSpPr>
          <p:nvPr>
            <p:ph type="body" idx="1"/>
          </p:nvPr>
        </p:nvSpPr>
        <p:spPr>
          <a:xfrm>
            <a:off x="545100" y="351700"/>
            <a:ext cx="8229600" cy="5774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 b="1"/>
              <a:t>Example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Company Name : TechCorp Solutions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Industry : Enterprise Software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Company Size : 250-500 Employees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Revenue : $45M-$60M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Location : San Francisco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Funding : Series C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Technology :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AWS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Python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React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Node.js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Kubernetes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4375"/>
              <a:buFont typeface="Arial"/>
              <a:buNone/>
            </a:pPr>
            <a:r>
              <a:rPr lang="en-US"/>
              <a:t>PostgreSQL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44a0c280f_0_31"/>
          <p:cNvSpPr txBox="1">
            <a:spLocks noGrp="1"/>
          </p:cNvSpPr>
          <p:nvPr>
            <p:ph type="body" idx="1"/>
          </p:nvPr>
        </p:nvSpPr>
        <p:spPr>
          <a:xfrm>
            <a:off x="457200" y="615450"/>
            <a:ext cx="8229600" cy="5510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35969"/>
              <a:buFont typeface="Arial"/>
              <a:buNone/>
            </a:pPr>
            <a:r>
              <a:rPr lang="en-US" sz="3058" b="1">
                <a:latin typeface="Arial"/>
                <a:ea typeface="Arial"/>
                <a:cs typeface="Arial"/>
                <a:sym typeface="Arial"/>
              </a:rPr>
              <a:t>Python Code</a:t>
            </a:r>
            <a:endParaRPr sz="3058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company = {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"Company":"TechCorp Solutions",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"Industry":"Enterprise Software",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"Size":"250-500 Employees",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"Revenue":"$45M-$60M",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"Location":"San Francisco",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"Funding":"Series C",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"Technology":[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    "AWS",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    "Python",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    "React",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    "Node.js",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    "Kubernetes",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    "PostgreSQL"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]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}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for key, value in company.items():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749"/>
              <a:buFont typeface="Arial"/>
              <a:buNone/>
            </a:pPr>
            <a:r>
              <a:rPr lang="en-US" sz="2458">
                <a:latin typeface="Arial"/>
                <a:ea typeface="Arial"/>
                <a:cs typeface="Arial"/>
                <a:sym typeface="Arial"/>
              </a:rPr>
              <a:t>    print(key,":",value)</a:t>
            </a:r>
            <a:endParaRPr sz="2458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44a0c280f_0_36"/>
          <p:cNvSpPr txBox="1">
            <a:spLocks noGrp="1"/>
          </p:cNvSpPr>
          <p:nvPr>
            <p:ph type="body" idx="1"/>
          </p:nvPr>
        </p:nvSpPr>
        <p:spPr>
          <a:xfrm>
            <a:off x="457200" y="293075"/>
            <a:ext cx="8229600" cy="621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100" b="1">
                <a:latin typeface="Arial"/>
                <a:ea typeface="Arial"/>
                <a:cs typeface="Arial"/>
                <a:sym typeface="Arial"/>
              </a:rPr>
              <a:t>4. Outreach Button</a:t>
            </a:r>
            <a:endParaRPr sz="31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Used to send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Email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LinkedIn Message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WhatsApp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SMS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to the selected lead.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Example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def send_email(name):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    print("Email Sent Successfully to", name)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send_email(company["Company"])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Output</a:t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latin typeface="Arial"/>
                <a:ea typeface="Arial"/>
                <a:cs typeface="Arial"/>
                <a:sym typeface="Arial"/>
              </a:rPr>
              <a:t>Email Sent Successfully to TechCorp Solutions</a:t>
            </a:r>
            <a:endParaRPr sz="1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44a0c280f_0_44"/>
          <p:cNvSpPr txBox="1">
            <a:spLocks noGrp="1"/>
          </p:cNvSpPr>
          <p:nvPr>
            <p:ph type="body" idx="1"/>
          </p:nvPr>
        </p:nvSpPr>
        <p:spPr>
          <a:xfrm>
            <a:off x="457200" y="512875"/>
            <a:ext cx="8229600" cy="5613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35670"/>
              <a:buFont typeface="Arial"/>
              <a:buNone/>
            </a:pPr>
            <a:r>
              <a:rPr lang="en-US" sz="3084" b="1">
                <a:latin typeface="Arial"/>
                <a:ea typeface="Arial"/>
                <a:cs typeface="Arial"/>
                <a:sym typeface="Arial"/>
              </a:rPr>
              <a:t>5. AI Lead Intelligence Panel</a:t>
            </a:r>
            <a:endParaRPr sz="3084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392"/>
              <a:buFont typeface="Arial"/>
              <a:buNone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This is the AI-powered recommendation engine.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392"/>
              <a:buFont typeface="Arial"/>
              <a:buNone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It analyzes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457200" lvl="0" indent="-339251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Company profile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457200" lvl="0" indent="-33925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Funding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457200" lvl="0" indent="-33925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Technology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457200" lvl="0" indent="-33925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Company growth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457200" lvl="0" indent="-33925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Buying probability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392"/>
              <a:buFont typeface="Arial"/>
              <a:buNone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Then generates a Lead Score.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392"/>
              <a:buFont typeface="Arial"/>
              <a:buNone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Example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Qualification Score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58392"/>
              <a:buFont typeface="Arial"/>
              <a:buNone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92/100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8392"/>
              <a:buFont typeface="Arial"/>
              <a:buNone/>
            </a:pPr>
            <a:r>
              <a:rPr lang="en-US" sz="1884">
                <a:latin typeface="Arial"/>
                <a:ea typeface="Arial"/>
                <a:cs typeface="Arial"/>
                <a:sym typeface="Arial"/>
              </a:rPr>
              <a:t>Higher score indicates higher probability of closing the deal.</a:t>
            </a:r>
            <a:endParaRPr sz="1884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44a0c280f_0_51"/>
          <p:cNvSpPr txBox="1">
            <a:spLocks noGrp="1"/>
          </p:cNvSpPr>
          <p:nvPr>
            <p:ph type="body" idx="1"/>
          </p:nvPr>
        </p:nvSpPr>
        <p:spPr>
          <a:xfrm>
            <a:off x="457200" y="205150"/>
            <a:ext cx="8229600" cy="5921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47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32263"/>
              <a:buFont typeface="Arial"/>
              <a:buNone/>
            </a:pPr>
            <a:r>
              <a:rPr lang="en-US" sz="3409" b="1">
                <a:latin typeface="Arial"/>
                <a:ea typeface="Arial"/>
                <a:cs typeface="Arial"/>
                <a:sym typeface="Arial"/>
              </a:rPr>
              <a:t>AI Scoring using Machine Learning</a:t>
            </a:r>
            <a:endParaRPr sz="3409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from sklearn.tree import DecisionTreeClassifier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X = [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    [250,60,28],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    [80,10,5],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    [400,90,50],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    [100,15,8]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]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y = [1,0,1,0]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model = DecisionTreeClassifier()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model.fit(X,y)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prediction = model.predict([[300,55,30]])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154"/>
              <a:buFont typeface="Arial"/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print(prediction)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154"/>
              <a:buFont typeface="Arial"/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Output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154"/>
              <a:buFont typeface="Arial"/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[1]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154"/>
              <a:buFont typeface="Arial"/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Meaning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1 = Qualified Lead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154"/>
              <a:buFont typeface="Arial"/>
              <a:buNone/>
            </a:pPr>
            <a:r>
              <a:rPr lang="en-US" sz="2809">
                <a:latin typeface="Arial"/>
                <a:ea typeface="Arial"/>
                <a:cs typeface="Arial"/>
                <a:sym typeface="Arial"/>
              </a:rPr>
              <a:t>0 = Not Qualified</a:t>
            </a:r>
            <a:endParaRPr sz="2809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44a0c280f_0_57"/>
          <p:cNvSpPr txBox="1">
            <a:spLocks noGrp="1"/>
          </p:cNvSpPr>
          <p:nvPr>
            <p:ph type="body" idx="1"/>
          </p:nvPr>
        </p:nvSpPr>
        <p:spPr>
          <a:xfrm>
            <a:off x="237400" y="395650"/>
            <a:ext cx="8229600" cy="5759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 b="1">
                <a:latin typeface="Arial"/>
                <a:ea typeface="Arial"/>
                <a:cs typeface="Arial"/>
                <a:sym typeface="Arial"/>
              </a:rPr>
              <a:t>6. AI Recommendations</a:t>
            </a:r>
            <a:endParaRPr sz="29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The system automatically generates intelligent recommendations.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Example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High Growth Potential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Series C Funding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Budget available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Expansion phase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latin typeface="Arial"/>
                <a:ea typeface="Arial"/>
                <a:cs typeface="Arial"/>
                <a:sym typeface="Arial"/>
              </a:rPr>
              <a:t>Good target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44a0c280f_0_63"/>
          <p:cNvSpPr txBox="1">
            <a:spLocks noGrp="1"/>
          </p:cNvSpPr>
          <p:nvPr>
            <p:ph type="body" idx="1"/>
          </p:nvPr>
        </p:nvSpPr>
        <p:spPr>
          <a:xfrm>
            <a:off x="457200" y="893875"/>
            <a:ext cx="8229600" cy="5232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/>
              <a:t>Python</a:t>
            </a:r>
            <a:endParaRPr b="1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/>
              <a:t>score = 92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/>
              <a:t>if score &gt; 90: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    print("High Growth Potential")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b="1"/>
              <a:t>Output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High Growth Potential</a:t>
            </a:r>
            <a:endParaRPr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f44a0c280f_0_69"/>
          <p:cNvSpPr txBox="1">
            <a:spLocks noGrp="1"/>
          </p:cNvSpPr>
          <p:nvPr>
            <p:ph type="body" idx="1"/>
          </p:nvPr>
        </p:nvSpPr>
        <p:spPr>
          <a:xfrm>
            <a:off x="457200" y="293075"/>
            <a:ext cx="8229600" cy="6403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ct val="47826"/>
              <a:buFont typeface="Arial"/>
              <a:buNone/>
            </a:pPr>
            <a:r>
              <a:rPr lang="en-US" sz="2300" b="1">
                <a:latin typeface="Arial"/>
                <a:ea typeface="Arial"/>
                <a:cs typeface="Arial"/>
                <a:sym typeface="Arial"/>
              </a:rPr>
              <a:t>7. Technology Alignment</a:t>
            </a:r>
            <a:endParaRPr sz="23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6474"/>
              <a:buFont typeface="Arial"/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AI checks whether the prospect's technology matches your product.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6474"/>
              <a:buFont typeface="Arial"/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Example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Python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AWS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React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PostgreSQL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474"/>
              <a:buFont typeface="Arial"/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Compatible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6474"/>
              <a:buFont typeface="Arial"/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Python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company_stack = ["AWS","Python","React"]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our_product = ["Python","AWS"]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match = set(company_stack).intersection(our_product)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6474"/>
              <a:buFont typeface="Arial"/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print(match)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6474"/>
              <a:buFont typeface="Arial"/>
              <a:buNone/>
            </a:pPr>
            <a:r>
              <a:rPr lang="en-US" sz="1655" b="1">
                <a:latin typeface="Arial"/>
                <a:ea typeface="Arial"/>
                <a:cs typeface="Arial"/>
                <a:sym typeface="Arial"/>
              </a:rPr>
              <a:t>Output</a:t>
            </a:r>
            <a:endParaRPr sz="1655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6474"/>
              <a:buFont typeface="Arial"/>
              <a:buNone/>
            </a:pPr>
            <a:r>
              <a:rPr lang="en-US" sz="1655">
                <a:latin typeface="Arial"/>
                <a:ea typeface="Arial"/>
                <a:cs typeface="Arial"/>
                <a:sym typeface="Arial"/>
              </a:rPr>
              <a:t>{'Python', 'AWS'}</a:t>
            </a:r>
            <a:endParaRPr sz="1655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3755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f44a0c280f_0_75"/>
          <p:cNvSpPr txBox="1">
            <a:spLocks noGrp="1"/>
          </p:cNvSpPr>
          <p:nvPr>
            <p:ph type="body" idx="1"/>
          </p:nvPr>
        </p:nvSpPr>
        <p:spPr>
          <a:xfrm>
            <a:off x="457200" y="322375"/>
            <a:ext cx="8229600" cy="5803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8. Decision Maker Identification</a:t>
            </a:r>
            <a:endParaRPr sz="2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The platform identifies the correct person to contact.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Example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Sarah Johnson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CTO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Technical Decision Maker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Python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designation = "CTO"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if designation == "CTO":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print("Technical Decision Maker")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Output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Technical Decision Maker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f44a0c280f_0_80"/>
          <p:cNvSpPr txBox="1">
            <a:spLocks noGrp="1"/>
          </p:cNvSpPr>
          <p:nvPr>
            <p:ph type="body" idx="1"/>
          </p:nvPr>
        </p:nvSpPr>
        <p:spPr>
          <a:xfrm>
            <a:off x="457200" y="468925"/>
            <a:ext cx="8229600" cy="565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>
                <a:latin typeface="Arial"/>
                <a:ea typeface="Arial"/>
                <a:cs typeface="Arial"/>
                <a:sym typeface="Arial"/>
              </a:rPr>
              <a:t>9. Search Prospect</a:t>
            </a:r>
            <a:endParaRPr sz="2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Users can search companies instantly.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Python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companies = [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"TechCorp Solutions",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"InnovateAI Labs",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"CloudScale Inc"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]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search = "CloudScale"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for company in companies: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if search.lower() in company.lower():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        print(company)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 b="1">
                <a:latin typeface="Arial"/>
                <a:ea typeface="Arial"/>
                <a:cs typeface="Arial"/>
                <a:sym typeface="Arial"/>
              </a:rPr>
              <a:t>Output</a:t>
            </a:r>
            <a:endParaRPr sz="16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CloudScale Inc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f44a0c280f_0_85"/>
          <p:cNvSpPr txBox="1">
            <a:spLocks noGrp="1"/>
          </p:cNvSpPr>
          <p:nvPr>
            <p:ph type="body" idx="1"/>
          </p:nvPr>
        </p:nvSpPr>
        <p:spPr>
          <a:xfrm>
            <a:off x="457200" y="744275"/>
            <a:ext cx="8229600" cy="538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r>
              <a:rPr lang="en-US" sz="4300" b="1"/>
              <a:t>Technologies Used </a:t>
            </a:r>
            <a:endParaRPr sz="43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Module						Python Technology</a:t>
            </a:r>
            <a:endParaRPr sz="2200" b="1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User Interface				Streamlit / Flask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Backend						Python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Database						SQLite / MySQL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Machine Learning			Scikit-learn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Processing			Pandas, NumPy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Visualization					Matplotlib / Plotly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Automation			SMTP / SendGrid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AI Lead Scoring				Decision Tree, Random 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Forest, Logistic Regression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REST APIs					Flask API / FastAPI</a:t>
            </a:r>
            <a:endParaRPr sz="2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1309</Words>
  <PresentationFormat>On-screen Show (4:3)</PresentationFormat>
  <Paragraphs>441</Paragraphs>
  <Slides>38</Slides>
  <Notes>38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Office Theme</vt:lpstr>
      <vt:lpstr>SalesGenie AI – AI Sales Assistant &amp; Lead Intelligence Platform</vt:lpstr>
      <vt:lpstr>Slide 2</vt:lpstr>
      <vt:lpstr>Key Features</vt:lpstr>
      <vt:lpstr>Real-Time Example</vt:lpstr>
      <vt:lpstr>Slide 5</vt:lpstr>
      <vt:lpstr>Slide 6</vt:lpstr>
      <vt:lpstr>Slide 7</vt:lpstr>
      <vt:lpstr>Slide 8</vt:lpstr>
      <vt:lpstr>Slide 9</vt:lpstr>
      <vt:lpstr>Slide 10</vt:lpstr>
      <vt:lpstr>Slide 11</vt:lpstr>
      <vt:lpstr>Lead Management &amp; Prospect Database  - Module 1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Complete Workflow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SalesGenie AI – AI Sales Assistant &amp; Lead Intelligence Platform</dc:title>
  <dc:creator>EXAM</dc:creator>
  <cp:lastModifiedBy>kanakaraj</cp:lastModifiedBy>
  <cp:revision>1</cp:revision>
  <dcterms:created xsi:type="dcterms:W3CDTF">2026-07-01T06:21:00Z</dcterms:created>
  <dcterms:modified xsi:type="dcterms:W3CDTF">2026-07-09T15:26:56Z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36E445B9DEDE414C904BD27CF797A20F_12</vt:lpwstr>
  </property>
  <property fmtid="{D5CDD505-2E9C-101B-9397-08002B2CF9AE}" pid="3" name="KSOProductBuildVer">
    <vt:lpwstr>1033-12.1.0.26880</vt:lpwstr>
  </property>
</Properties>
</file>